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handoutMasterIdLst>
    <p:handoutMasterId r:id="rId29"/>
  </p:handoutMasterIdLst>
  <p:sldIdLst>
    <p:sldId id="256" r:id="rId2"/>
    <p:sldId id="257" r:id="rId3"/>
    <p:sldId id="261" r:id="rId4"/>
    <p:sldId id="264" r:id="rId5"/>
    <p:sldId id="266" r:id="rId6"/>
    <p:sldId id="285" r:id="rId7"/>
    <p:sldId id="267" r:id="rId8"/>
    <p:sldId id="268" r:id="rId9"/>
    <p:sldId id="286" r:id="rId10"/>
    <p:sldId id="311" r:id="rId11"/>
    <p:sldId id="310" r:id="rId12"/>
    <p:sldId id="312" r:id="rId13"/>
    <p:sldId id="290" r:id="rId14"/>
    <p:sldId id="291" r:id="rId15"/>
    <p:sldId id="274" r:id="rId16"/>
    <p:sldId id="298" r:id="rId17"/>
    <p:sldId id="299" r:id="rId18"/>
    <p:sldId id="307" r:id="rId19"/>
    <p:sldId id="275" r:id="rId20"/>
    <p:sldId id="294" r:id="rId21"/>
    <p:sldId id="272" r:id="rId22"/>
    <p:sldId id="302" r:id="rId23"/>
    <p:sldId id="273" r:id="rId24"/>
    <p:sldId id="271" r:id="rId25"/>
    <p:sldId id="308" r:id="rId26"/>
    <p:sldId id="313" r:id="rId27"/>
  </p:sldIdLst>
  <p:sldSz cx="12192000" cy="6858000"/>
  <p:notesSz cx="6858000" cy="9144000"/>
  <p:embeddedFontLst>
    <p:embeddedFont>
      <p:font typeface="Cambria Math" panose="02040503050406030204" pitchFamily="18" charset="0"/>
      <p:regular r:id="rId30"/>
    </p:embeddedFont>
    <p:embeddedFont>
      <p:font typeface="Geist" panose="020B0604020202020204" charset="0"/>
      <p:regular r:id="rId31"/>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91D3"/>
    <a:srgbClr val="9E82C4"/>
    <a:srgbClr val="5952E8"/>
    <a:srgbClr val="509ADE"/>
    <a:srgbClr val="2DC9D1"/>
    <a:srgbClr val="1D5F9B"/>
    <a:srgbClr val="1D16A2"/>
    <a:srgbClr val="4E11A7"/>
    <a:srgbClr val="850DAB"/>
    <a:srgbClr val="B206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98099C-D78A-4B0B-99AA-86DA522802CC}" v="251" dt="2025-05-25T19:54:53.88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75561" autoAdjust="0"/>
  </p:normalViewPr>
  <p:slideViewPr>
    <p:cSldViewPr snapToGrid="0">
      <p:cViewPr>
        <p:scale>
          <a:sx n="60" d="100"/>
          <a:sy n="60" d="100"/>
        </p:scale>
        <p:origin x="1692" y="1028"/>
      </p:cViewPr>
      <p:guideLst/>
    </p:cSldViewPr>
  </p:slideViewPr>
  <p:outlineViewPr>
    <p:cViewPr>
      <p:scale>
        <a:sx n="33" d="100"/>
        <a:sy n="33" d="100"/>
      </p:scale>
      <p:origin x="0" y="0"/>
    </p:cViewPr>
  </p:outlin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CDF222-49CA-4E63-9156-44E6A55BB687}" type="doc">
      <dgm:prSet loTypeId="urn:microsoft.com/office/officeart/2005/8/layout/process4" loCatId="process" qsTypeId="urn:microsoft.com/office/officeart/2005/8/quickstyle/simple2" qsCatId="simple" csTypeId="urn:microsoft.com/office/officeart/2005/8/colors/accent0_1" csCatId="mainScheme" phldr="1"/>
      <dgm:spPr/>
      <dgm:t>
        <a:bodyPr/>
        <a:lstStyle/>
        <a:p>
          <a:endParaRPr lang="de-DE"/>
        </a:p>
      </dgm:t>
    </dgm:pt>
    <dgm:pt modelId="{15AF344B-CDD2-45FB-8694-B3FBDD2D93FE}">
      <dgm:prSet phldrT="[Text]" custT="1"/>
      <dgm:spPr>
        <a:ln w="19050">
          <a:solidFill>
            <a:srgbClr val="B20691"/>
          </a:solidFill>
        </a:ln>
      </dgm:spPr>
      <dgm:t>
        <a:bodyPr/>
        <a:lstStyle/>
        <a:p>
          <a:r>
            <a:rPr lang="de-DE" sz="1800" dirty="0"/>
            <a:t>Grundlagen</a:t>
          </a:r>
        </a:p>
      </dgm:t>
    </dgm:pt>
    <dgm:pt modelId="{097ABA1B-611E-4132-B1C3-7D8360A30011}" type="parTrans" cxnId="{B148676D-9490-4408-B243-1AA0036A7EB7}">
      <dgm:prSet/>
      <dgm:spPr/>
      <dgm:t>
        <a:bodyPr/>
        <a:lstStyle/>
        <a:p>
          <a:endParaRPr lang="de-DE" sz="1800"/>
        </a:p>
      </dgm:t>
    </dgm:pt>
    <dgm:pt modelId="{1C4E9786-48FF-4EC0-87A0-08206E00B4DC}" type="sibTrans" cxnId="{B148676D-9490-4408-B243-1AA0036A7EB7}">
      <dgm:prSet/>
      <dgm:spPr/>
      <dgm:t>
        <a:bodyPr/>
        <a:lstStyle/>
        <a:p>
          <a:endParaRPr lang="de-DE" sz="1800"/>
        </a:p>
      </dgm:t>
    </dgm:pt>
    <dgm:pt modelId="{189CF2A4-A047-43BB-966D-7371ED417EE3}">
      <dgm:prSet phldrT="[Text]" custT="1"/>
      <dgm:spPr>
        <a:ln w="19050">
          <a:solidFill>
            <a:srgbClr val="850DAB"/>
          </a:solidFill>
        </a:ln>
      </dgm:spPr>
      <dgm:t>
        <a:bodyPr/>
        <a:lstStyle/>
        <a:p>
          <a:r>
            <a:rPr lang="de-DE" sz="1800" dirty="0"/>
            <a:t>Chaos</a:t>
          </a:r>
        </a:p>
      </dgm:t>
    </dgm:pt>
    <dgm:pt modelId="{9A3FF607-530E-4EE8-8068-790D0A917C8E}" type="parTrans" cxnId="{BE723968-5A49-47CF-86D0-81E0488DA429}">
      <dgm:prSet/>
      <dgm:spPr/>
      <dgm:t>
        <a:bodyPr/>
        <a:lstStyle/>
        <a:p>
          <a:endParaRPr lang="de-DE" sz="1800"/>
        </a:p>
      </dgm:t>
    </dgm:pt>
    <dgm:pt modelId="{1EFE5F90-1008-4E2A-A121-97AEE36334E2}" type="sibTrans" cxnId="{BE723968-5A49-47CF-86D0-81E0488DA429}">
      <dgm:prSet/>
      <dgm:spPr/>
      <dgm:t>
        <a:bodyPr/>
        <a:lstStyle/>
        <a:p>
          <a:endParaRPr lang="de-DE" sz="1800"/>
        </a:p>
      </dgm:t>
    </dgm:pt>
    <dgm:pt modelId="{9BFEDF8B-659F-4724-8291-79EE0B6714B4}">
      <dgm:prSet phldrT="[Text]" custT="1"/>
      <dgm:spPr>
        <a:ln w="19050">
          <a:solidFill>
            <a:srgbClr val="4E11A7"/>
          </a:solidFill>
        </a:ln>
      </dgm:spPr>
      <dgm:t>
        <a:bodyPr/>
        <a:lstStyle/>
        <a:p>
          <a:r>
            <a:rPr lang="de-DE" sz="1800" dirty="0"/>
            <a:t>Simulation</a:t>
          </a:r>
        </a:p>
      </dgm:t>
    </dgm:pt>
    <dgm:pt modelId="{3C435BB0-5CB3-43E5-8708-D3E048697D23}" type="parTrans" cxnId="{F7533240-DFFB-4DFE-8B17-89DABCB7C134}">
      <dgm:prSet/>
      <dgm:spPr/>
      <dgm:t>
        <a:bodyPr/>
        <a:lstStyle/>
        <a:p>
          <a:endParaRPr lang="de-DE" sz="1800"/>
        </a:p>
      </dgm:t>
    </dgm:pt>
    <dgm:pt modelId="{B2F6E0F1-7334-42DB-9F9D-ECDA9EDA5969}" type="sibTrans" cxnId="{F7533240-DFFB-4DFE-8B17-89DABCB7C134}">
      <dgm:prSet/>
      <dgm:spPr/>
      <dgm:t>
        <a:bodyPr/>
        <a:lstStyle/>
        <a:p>
          <a:endParaRPr lang="de-DE" sz="1800"/>
        </a:p>
      </dgm:t>
    </dgm:pt>
    <dgm:pt modelId="{78801BB8-1111-4490-8232-77B6942C2114}">
      <dgm:prSet phldrT="[Text]" custT="1"/>
      <dgm:spPr>
        <a:ln w="19050">
          <a:solidFill>
            <a:srgbClr val="5952E8"/>
          </a:solidFill>
        </a:ln>
      </dgm:spPr>
      <dgm:t>
        <a:bodyPr/>
        <a:lstStyle/>
        <a:p>
          <a:r>
            <a:rPr lang="de-DE" sz="1800" dirty="0"/>
            <a:t>Vorhersagen</a:t>
          </a:r>
        </a:p>
      </dgm:t>
    </dgm:pt>
    <dgm:pt modelId="{73A18064-0FF3-4632-BA67-1F71EBD60412}" type="parTrans" cxnId="{8688FAC5-61D7-40FB-8A02-50D31BB75ED4}">
      <dgm:prSet/>
      <dgm:spPr/>
      <dgm:t>
        <a:bodyPr/>
        <a:lstStyle/>
        <a:p>
          <a:endParaRPr lang="de-DE" sz="1800"/>
        </a:p>
      </dgm:t>
    </dgm:pt>
    <dgm:pt modelId="{7BDD106D-6B42-49E7-B754-467755A7FBA6}" type="sibTrans" cxnId="{8688FAC5-61D7-40FB-8A02-50D31BB75ED4}">
      <dgm:prSet/>
      <dgm:spPr/>
      <dgm:t>
        <a:bodyPr/>
        <a:lstStyle/>
        <a:p>
          <a:endParaRPr lang="de-DE" sz="1800"/>
        </a:p>
      </dgm:t>
    </dgm:pt>
    <dgm:pt modelId="{3D081341-19E2-4DFC-B069-620B7245B06F}">
      <dgm:prSet phldrT="[Text]" custT="1"/>
      <dgm:spPr>
        <a:ln w="19050">
          <a:solidFill>
            <a:srgbClr val="9991D3"/>
          </a:solidFill>
        </a:ln>
      </dgm:spPr>
      <dgm:t>
        <a:bodyPr/>
        <a:lstStyle/>
        <a:p>
          <a:r>
            <a:rPr lang="de-DE" sz="1800" dirty="0"/>
            <a:t>Weitere Zukunftsaussichten</a:t>
          </a:r>
        </a:p>
      </dgm:t>
    </dgm:pt>
    <dgm:pt modelId="{3CA56542-1588-4DCE-8424-F704D07B2FF2}" type="parTrans" cxnId="{9F33C72F-E50C-42CB-8544-DEABC8BCA18C}">
      <dgm:prSet/>
      <dgm:spPr/>
      <dgm:t>
        <a:bodyPr/>
        <a:lstStyle/>
        <a:p>
          <a:endParaRPr lang="de-DE" sz="1800"/>
        </a:p>
      </dgm:t>
    </dgm:pt>
    <dgm:pt modelId="{D908F938-A503-4E3E-861B-F1BB17759935}" type="sibTrans" cxnId="{9F33C72F-E50C-42CB-8544-DEABC8BCA18C}">
      <dgm:prSet/>
      <dgm:spPr/>
      <dgm:t>
        <a:bodyPr/>
        <a:lstStyle/>
        <a:p>
          <a:endParaRPr lang="de-DE" sz="1800"/>
        </a:p>
      </dgm:t>
    </dgm:pt>
    <dgm:pt modelId="{B51EB2C3-798E-4041-9A99-A62F51523005}">
      <dgm:prSet custT="1"/>
      <dgm:spPr>
        <a:ln w="19050">
          <a:solidFill>
            <a:srgbClr val="9E82C4"/>
          </a:solidFill>
        </a:ln>
      </dgm:spPr>
      <dgm:t>
        <a:bodyPr/>
        <a:lstStyle/>
        <a:p>
          <a:r>
            <a:rPr lang="de-DE" sz="1800" dirty="0"/>
            <a:t>Fazit</a:t>
          </a:r>
        </a:p>
      </dgm:t>
    </dgm:pt>
    <dgm:pt modelId="{82610FB3-24D2-41FC-B185-21550DD9832E}" type="parTrans" cxnId="{3D428D15-13AA-416C-830D-AE28E02F7354}">
      <dgm:prSet/>
      <dgm:spPr/>
      <dgm:t>
        <a:bodyPr/>
        <a:lstStyle/>
        <a:p>
          <a:endParaRPr lang="de-DE" sz="1800"/>
        </a:p>
      </dgm:t>
    </dgm:pt>
    <dgm:pt modelId="{A619A823-7579-4767-A75C-D46BBB0B2985}" type="sibTrans" cxnId="{3D428D15-13AA-416C-830D-AE28E02F7354}">
      <dgm:prSet/>
      <dgm:spPr/>
      <dgm:t>
        <a:bodyPr/>
        <a:lstStyle/>
        <a:p>
          <a:endParaRPr lang="de-DE" sz="1800"/>
        </a:p>
      </dgm:t>
    </dgm:pt>
    <dgm:pt modelId="{445EEB91-A55B-4303-B74F-275263CC86F5}" type="pres">
      <dgm:prSet presAssocID="{F1CDF222-49CA-4E63-9156-44E6A55BB687}" presName="Name0" presStyleCnt="0">
        <dgm:presLayoutVars>
          <dgm:dir/>
          <dgm:animLvl val="lvl"/>
          <dgm:resizeHandles val="exact"/>
        </dgm:presLayoutVars>
      </dgm:prSet>
      <dgm:spPr/>
    </dgm:pt>
    <dgm:pt modelId="{626663D5-EF4D-4A03-BF50-CCDD3633E77E}" type="pres">
      <dgm:prSet presAssocID="{B51EB2C3-798E-4041-9A99-A62F51523005}" presName="boxAndChildren" presStyleCnt="0"/>
      <dgm:spPr/>
    </dgm:pt>
    <dgm:pt modelId="{F5F0BD93-4234-4E94-BA84-CEBDB0F0D1A0}" type="pres">
      <dgm:prSet presAssocID="{B51EB2C3-798E-4041-9A99-A62F51523005}" presName="parentTextBox" presStyleLbl="node1" presStyleIdx="0" presStyleCnt="6"/>
      <dgm:spPr/>
    </dgm:pt>
    <dgm:pt modelId="{44010BC3-9563-418D-94B8-67A7F06882CF}" type="pres">
      <dgm:prSet presAssocID="{D908F938-A503-4E3E-861B-F1BB17759935}" presName="sp" presStyleCnt="0"/>
      <dgm:spPr/>
    </dgm:pt>
    <dgm:pt modelId="{8992FCED-B477-4000-9529-1BC40F4166CC}" type="pres">
      <dgm:prSet presAssocID="{3D081341-19E2-4DFC-B069-620B7245B06F}" presName="arrowAndChildren" presStyleCnt="0"/>
      <dgm:spPr/>
    </dgm:pt>
    <dgm:pt modelId="{2BB10D3A-0C93-4880-BF2D-7FE76B8CEA57}" type="pres">
      <dgm:prSet presAssocID="{3D081341-19E2-4DFC-B069-620B7245B06F}" presName="parentTextArrow" presStyleLbl="node1" presStyleIdx="1" presStyleCnt="6"/>
      <dgm:spPr/>
    </dgm:pt>
    <dgm:pt modelId="{419CCD7F-1DD5-4C1B-9F19-AB5D34B2FABC}" type="pres">
      <dgm:prSet presAssocID="{7BDD106D-6B42-49E7-B754-467755A7FBA6}" presName="sp" presStyleCnt="0"/>
      <dgm:spPr/>
    </dgm:pt>
    <dgm:pt modelId="{BCBD1229-BF19-42F0-815F-ACFB52B28C05}" type="pres">
      <dgm:prSet presAssocID="{78801BB8-1111-4490-8232-77B6942C2114}" presName="arrowAndChildren" presStyleCnt="0"/>
      <dgm:spPr/>
    </dgm:pt>
    <dgm:pt modelId="{08BAD426-BD3B-447E-823C-56B8022AA4B7}" type="pres">
      <dgm:prSet presAssocID="{78801BB8-1111-4490-8232-77B6942C2114}" presName="parentTextArrow" presStyleLbl="node1" presStyleIdx="2" presStyleCnt="6"/>
      <dgm:spPr/>
    </dgm:pt>
    <dgm:pt modelId="{AEC87ABB-A382-4FE1-9912-420A9D46D951}" type="pres">
      <dgm:prSet presAssocID="{B2F6E0F1-7334-42DB-9F9D-ECDA9EDA5969}" presName="sp" presStyleCnt="0"/>
      <dgm:spPr/>
    </dgm:pt>
    <dgm:pt modelId="{9383DEE9-5982-4D1D-B0FD-18EE7681350A}" type="pres">
      <dgm:prSet presAssocID="{9BFEDF8B-659F-4724-8291-79EE0B6714B4}" presName="arrowAndChildren" presStyleCnt="0"/>
      <dgm:spPr/>
    </dgm:pt>
    <dgm:pt modelId="{588A6A5D-80EE-40F1-9455-04BCEB1051D5}" type="pres">
      <dgm:prSet presAssocID="{9BFEDF8B-659F-4724-8291-79EE0B6714B4}" presName="parentTextArrow" presStyleLbl="node1" presStyleIdx="3" presStyleCnt="6"/>
      <dgm:spPr/>
    </dgm:pt>
    <dgm:pt modelId="{3A06B62F-4326-4DD9-849F-B5FFE411446D}" type="pres">
      <dgm:prSet presAssocID="{1EFE5F90-1008-4E2A-A121-97AEE36334E2}" presName="sp" presStyleCnt="0"/>
      <dgm:spPr/>
    </dgm:pt>
    <dgm:pt modelId="{F0AC34D9-8F9F-4481-9E91-6356B88E7729}" type="pres">
      <dgm:prSet presAssocID="{189CF2A4-A047-43BB-966D-7371ED417EE3}" presName="arrowAndChildren" presStyleCnt="0"/>
      <dgm:spPr/>
    </dgm:pt>
    <dgm:pt modelId="{42BB06FB-3D34-4E65-9405-C50DAE910881}" type="pres">
      <dgm:prSet presAssocID="{189CF2A4-A047-43BB-966D-7371ED417EE3}" presName="parentTextArrow" presStyleLbl="node1" presStyleIdx="4" presStyleCnt="6"/>
      <dgm:spPr/>
    </dgm:pt>
    <dgm:pt modelId="{F4D24A68-6A9A-4AC2-ABCF-9EF837EE62FA}" type="pres">
      <dgm:prSet presAssocID="{1C4E9786-48FF-4EC0-87A0-08206E00B4DC}" presName="sp" presStyleCnt="0"/>
      <dgm:spPr/>
    </dgm:pt>
    <dgm:pt modelId="{F38BE21C-D5FE-4347-81A1-8B25B76064DF}" type="pres">
      <dgm:prSet presAssocID="{15AF344B-CDD2-45FB-8694-B3FBDD2D93FE}" presName="arrowAndChildren" presStyleCnt="0"/>
      <dgm:spPr/>
    </dgm:pt>
    <dgm:pt modelId="{9A739BF3-F3D4-482B-8A7D-6EFA17289BA8}" type="pres">
      <dgm:prSet presAssocID="{15AF344B-CDD2-45FB-8694-B3FBDD2D93FE}" presName="parentTextArrow" presStyleLbl="node1" presStyleIdx="5" presStyleCnt="6"/>
      <dgm:spPr/>
    </dgm:pt>
  </dgm:ptLst>
  <dgm:cxnLst>
    <dgm:cxn modelId="{3D428D15-13AA-416C-830D-AE28E02F7354}" srcId="{F1CDF222-49CA-4E63-9156-44E6A55BB687}" destId="{B51EB2C3-798E-4041-9A99-A62F51523005}" srcOrd="5" destOrd="0" parTransId="{82610FB3-24D2-41FC-B185-21550DD9832E}" sibTransId="{A619A823-7579-4767-A75C-D46BBB0B2985}"/>
    <dgm:cxn modelId="{B2A5A32B-D664-4C35-A0A8-7AA6D5501225}" type="presOf" srcId="{189CF2A4-A047-43BB-966D-7371ED417EE3}" destId="{42BB06FB-3D34-4E65-9405-C50DAE910881}" srcOrd="0" destOrd="0" presId="urn:microsoft.com/office/officeart/2005/8/layout/process4"/>
    <dgm:cxn modelId="{A5BFB92C-FC44-4F13-AE3D-B568B2A2C74E}" type="presOf" srcId="{15AF344B-CDD2-45FB-8694-B3FBDD2D93FE}" destId="{9A739BF3-F3D4-482B-8A7D-6EFA17289BA8}" srcOrd="0" destOrd="0" presId="urn:microsoft.com/office/officeart/2005/8/layout/process4"/>
    <dgm:cxn modelId="{9F33C72F-E50C-42CB-8544-DEABC8BCA18C}" srcId="{F1CDF222-49CA-4E63-9156-44E6A55BB687}" destId="{3D081341-19E2-4DFC-B069-620B7245B06F}" srcOrd="4" destOrd="0" parTransId="{3CA56542-1588-4DCE-8424-F704D07B2FF2}" sibTransId="{D908F938-A503-4E3E-861B-F1BB17759935}"/>
    <dgm:cxn modelId="{F7533240-DFFB-4DFE-8B17-89DABCB7C134}" srcId="{F1CDF222-49CA-4E63-9156-44E6A55BB687}" destId="{9BFEDF8B-659F-4724-8291-79EE0B6714B4}" srcOrd="2" destOrd="0" parTransId="{3C435BB0-5CB3-43E5-8708-D3E048697D23}" sibTransId="{B2F6E0F1-7334-42DB-9F9D-ECDA9EDA5969}"/>
    <dgm:cxn modelId="{BE723968-5A49-47CF-86D0-81E0488DA429}" srcId="{F1CDF222-49CA-4E63-9156-44E6A55BB687}" destId="{189CF2A4-A047-43BB-966D-7371ED417EE3}" srcOrd="1" destOrd="0" parTransId="{9A3FF607-530E-4EE8-8068-790D0A917C8E}" sibTransId="{1EFE5F90-1008-4E2A-A121-97AEE36334E2}"/>
    <dgm:cxn modelId="{B148676D-9490-4408-B243-1AA0036A7EB7}" srcId="{F1CDF222-49CA-4E63-9156-44E6A55BB687}" destId="{15AF344B-CDD2-45FB-8694-B3FBDD2D93FE}" srcOrd="0" destOrd="0" parTransId="{097ABA1B-611E-4132-B1C3-7D8360A30011}" sibTransId="{1C4E9786-48FF-4EC0-87A0-08206E00B4DC}"/>
    <dgm:cxn modelId="{43DBF389-05B0-42FA-A467-0F7D1A53E509}" type="presOf" srcId="{F1CDF222-49CA-4E63-9156-44E6A55BB687}" destId="{445EEB91-A55B-4303-B74F-275263CC86F5}" srcOrd="0" destOrd="0" presId="urn:microsoft.com/office/officeart/2005/8/layout/process4"/>
    <dgm:cxn modelId="{2561B9AA-D163-4F55-98AF-CAF608450226}" type="presOf" srcId="{9BFEDF8B-659F-4724-8291-79EE0B6714B4}" destId="{588A6A5D-80EE-40F1-9455-04BCEB1051D5}" srcOrd="0" destOrd="0" presId="urn:microsoft.com/office/officeart/2005/8/layout/process4"/>
    <dgm:cxn modelId="{8688FAC5-61D7-40FB-8A02-50D31BB75ED4}" srcId="{F1CDF222-49CA-4E63-9156-44E6A55BB687}" destId="{78801BB8-1111-4490-8232-77B6942C2114}" srcOrd="3" destOrd="0" parTransId="{73A18064-0FF3-4632-BA67-1F71EBD60412}" sibTransId="{7BDD106D-6B42-49E7-B754-467755A7FBA6}"/>
    <dgm:cxn modelId="{2DA510D1-99F5-4E90-B574-A5ACA317A8A9}" type="presOf" srcId="{B51EB2C3-798E-4041-9A99-A62F51523005}" destId="{F5F0BD93-4234-4E94-BA84-CEBDB0F0D1A0}" srcOrd="0" destOrd="0" presId="urn:microsoft.com/office/officeart/2005/8/layout/process4"/>
    <dgm:cxn modelId="{BD6D32DF-873D-4D61-9F53-52DDA10A941D}" type="presOf" srcId="{3D081341-19E2-4DFC-B069-620B7245B06F}" destId="{2BB10D3A-0C93-4880-BF2D-7FE76B8CEA57}" srcOrd="0" destOrd="0" presId="urn:microsoft.com/office/officeart/2005/8/layout/process4"/>
    <dgm:cxn modelId="{B24955DF-C3D3-40F3-AA77-DC131001BBBD}" type="presOf" srcId="{78801BB8-1111-4490-8232-77B6942C2114}" destId="{08BAD426-BD3B-447E-823C-56B8022AA4B7}" srcOrd="0" destOrd="0" presId="urn:microsoft.com/office/officeart/2005/8/layout/process4"/>
    <dgm:cxn modelId="{EC17D923-F764-4E14-8DD0-FE53070325EA}" type="presParOf" srcId="{445EEB91-A55B-4303-B74F-275263CC86F5}" destId="{626663D5-EF4D-4A03-BF50-CCDD3633E77E}" srcOrd="0" destOrd="0" presId="urn:microsoft.com/office/officeart/2005/8/layout/process4"/>
    <dgm:cxn modelId="{A838E1CD-199E-4E47-81A6-304A427F7164}" type="presParOf" srcId="{626663D5-EF4D-4A03-BF50-CCDD3633E77E}" destId="{F5F0BD93-4234-4E94-BA84-CEBDB0F0D1A0}" srcOrd="0" destOrd="0" presId="urn:microsoft.com/office/officeart/2005/8/layout/process4"/>
    <dgm:cxn modelId="{575553E1-EBF6-4723-919E-34490C8C59D0}" type="presParOf" srcId="{445EEB91-A55B-4303-B74F-275263CC86F5}" destId="{44010BC3-9563-418D-94B8-67A7F06882CF}" srcOrd="1" destOrd="0" presId="urn:microsoft.com/office/officeart/2005/8/layout/process4"/>
    <dgm:cxn modelId="{43A121DA-1F82-4849-834D-C351B7BBE35D}" type="presParOf" srcId="{445EEB91-A55B-4303-B74F-275263CC86F5}" destId="{8992FCED-B477-4000-9529-1BC40F4166CC}" srcOrd="2" destOrd="0" presId="urn:microsoft.com/office/officeart/2005/8/layout/process4"/>
    <dgm:cxn modelId="{2BECED8E-190E-4C85-833D-C22BAA4D7955}" type="presParOf" srcId="{8992FCED-B477-4000-9529-1BC40F4166CC}" destId="{2BB10D3A-0C93-4880-BF2D-7FE76B8CEA57}" srcOrd="0" destOrd="0" presId="urn:microsoft.com/office/officeart/2005/8/layout/process4"/>
    <dgm:cxn modelId="{FA901DDB-8741-4482-8D7F-9150A9DD0ADF}" type="presParOf" srcId="{445EEB91-A55B-4303-B74F-275263CC86F5}" destId="{419CCD7F-1DD5-4C1B-9F19-AB5D34B2FABC}" srcOrd="3" destOrd="0" presId="urn:microsoft.com/office/officeart/2005/8/layout/process4"/>
    <dgm:cxn modelId="{1E6EE1CB-1ED9-4CAA-8A2D-F94E19153E93}" type="presParOf" srcId="{445EEB91-A55B-4303-B74F-275263CC86F5}" destId="{BCBD1229-BF19-42F0-815F-ACFB52B28C05}" srcOrd="4" destOrd="0" presId="urn:microsoft.com/office/officeart/2005/8/layout/process4"/>
    <dgm:cxn modelId="{4F24FEB3-7667-4167-A6FB-00721E1D01C5}" type="presParOf" srcId="{BCBD1229-BF19-42F0-815F-ACFB52B28C05}" destId="{08BAD426-BD3B-447E-823C-56B8022AA4B7}" srcOrd="0" destOrd="0" presId="urn:microsoft.com/office/officeart/2005/8/layout/process4"/>
    <dgm:cxn modelId="{A7D947CA-87CB-481D-A22B-3F5520FFF1FB}" type="presParOf" srcId="{445EEB91-A55B-4303-B74F-275263CC86F5}" destId="{AEC87ABB-A382-4FE1-9912-420A9D46D951}" srcOrd="5" destOrd="0" presId="urn:microsoft.com/office/officeart/2005/8/layout/process4"/>
    <dgm:cxn modelId="{75DDCA2F-0E97-4F4C-A9C7-C58725DFCDB1}" type="presParOf" srcId="{445EEB91-A55B-4303-B74F-275263CC86F5}" destId="{9383DEE9-5982-4D1D-B0FD-18EE7681350A}" srcOrd="6" destOrd="0" presId="urn:microsoft.com/office/officeart/2005/8/layout/process4"/>
    <dgm:cxn modelId="{5B422C54-9FCA-4A64-B15C-C7A0962DBCA2}" type="presParOf" srcId="{9383DEE9-5982-4D1D-B0FD-18EE7681350A}" destId="{588A6A5D-80EE-40F1-9455-04BCEB1051D5}" srcOrd="0" destOrd="0" presId="urn:microsoft.com/office/officeart/2005/8/layout/process4"/>
    <dgm:cxn modelId="{BF4C3ADF-3352-4C77-B2F9-08E20995E10F}" type="presParOf" srcId="{445EEB91-A55B-4303-B74F-275263CC86F5}" destId="{3A06B62F-4326-4DD9-849F-B5FFE411446D}" srcOrd="7" destOrd="0" presId="urn:microsoft.com/office/officeart/2005/8/layout/process4"/>
    <dgm:cxn modelId="{DB76D852-5E5E-4756-B15E-FCA716BD528B}" type="presParOf" srcId="{445EEB91-A55B-4303-B74F-275263CC86F5}" destId="{F0AC34D9-8F9F-4481-9E91-6356B88E7729}" srcOrd="8" destOrd="0" presId="urn:microsoft.com/office/officeart/2005/8/layout/process4"/>
    <dgm:cxn modelId="{403C1EBD-C274-4D99-9B82-E7243F32F9FD}" type="presParOf" srcId="{F0AC34D9-8F9F-4481-9E91-6356B88E7729}" destId="{42BB06FB-3D34-4E65-9405-C50DAE910881}" srcOrd="0" destOrd="0" presId="urn:microsoft.com/office/officeart/2005/8/layout/process4"/>
    <dgm:cxn modelId="{E2BC0649-DDBE-49BE-90ED-4234D2FCFE33}" type="presParOf" srcId="{445EEB91-A55B-4303-B74F-275263CC86F5}" destId="{F4D24A68-6A9A-4AC2-ABCF-9EF837EE62FA}" srcOrd="9" destOrd="0" presId="urn:microsoft.com/office/officeart/2005/8/layout/process4"/>
    <dgm:cxn modelId="{B4D0F130-1A7B-4EC1-8887-BD88D2DB21AD}" type="presParOf" srcId="{445EEB91-A55B-4303-B74F-275263CC86F5}" destId="{F38BE21C-D5FE-4347-81A1-8B25B76064DF}" srcOrd="10" destOrd="0" presId="urn:microsoft.com/office/officeart/2005/8/layout/process4"/>
    <dgm:cxn modelId="{0F12B1B9-5D9E-4A78-BABA-367CB9E42666}" type="presParOf" srcId="{F38BE21C-D5FE-4347-81A1-8B25B76064DF}" destId="{9A739BF3-F3D4-482B-8A7D-6EFA17289BA8}"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0BD93-4234-4E94-BA84-CEBDB0F0D1A0}">
      <dsp:nvSpPr>
        <dsp:cNvPr id="0" name=""/>
        <dsp:cNvSpPr/>
      </dsp:nvSpPr>
      <dsp:spPr>
        <a:xfrm>
          <a:off x="0" y="4109466"/>
          <a:ext cx="11078173" cy="539365"/>
        </a:xfrm>
        <a:prstGeom prst="rect">
          <a:avLst/>
        </a:prstGeom>
        <a:solidFill>
          <a:schemeClr val="lt1">
            <a:hueOff val="0"/>
            <a:satOff val="0"/>
            <a:lumOff val="0"/>
            <a:alphaOff val="0"/>
          </a:schemeClr>
        </a:solidFill>
        <a:ln w="19050" cap="flat" cmpd="sng" algn="ctr">
          <a:solidFill>
            <a:srgbClr val="9E82C4"/>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Fazit</a:t>
          </a:r>
        </a:p>
      </dsp:txBody>
      <dsp:txXfrm>
        <a:off x="0" y="4109466"/>
        <a:ext cx="11078173" cy="539365"/>
      </dsp:txXfrm>
    </dsp:sp>
    <dsp:sp modelId="{2BB10D3A-0C93-4880-BF2D-7FE76B8CEA57}">
      <dsp:nvSpPr>
        <dsp:cNvPr id="0" name=""/>
        <dsp:cNvSpPr/>
      </dsp:nvSpPr>
      <dsp:spPr>
        <a:xfrm rot="10800000">
          <a:off x="0" y="3288013"/>
          <a:ext cx="11078173" cy="829543"/>
        </a:xfrm>
        <a:prstGeom prst="upArrowCallout">
          <a:avLst/>
        </a:prstGeom>
        <a:solidFill>
          <a:schemeClr val="lt1">
            <a:hueOff val="0"/>
            <a:satOff val="0"/>
            <a:lumOff val="0"/>
            <a:alphaOff val="0"/>
          </a:schemeClr>
        </a:solidFill>
        <a:ln w="19050" cap="flat" cmpd="sng" algn="ctr">
          <a:solidFill>
            <a:srgbClr val="9991D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Weitere Zukunftsaussichten</a:t>
          </a:r>
        </a:p>
      </dsp:txBody>
      <dsp:txXfrm rot="10800000">
        <a:off x="0" y="3288013"/>
        <a:ext cx="11078173" cy="539012"/>
      </dsp:txXfrm>
    </dsp:sp>
    <dsp:sp modelId="{08BAD426-BD3B-447E-823C-56B8022AA4B7}">
      <dsp:nvSpPr>
        <dsp:cNvPr id="0" name=""/>
        <dsp:cNvSpPr/>
      </dsp:nvSpPr>
      <dsp:spPr>
        <a:xfrm rot="10800000">
          <a:off x="0" y="2466560"/>
          <a:ext cx="11078173" cy="829543"/>
        </a:xfrm>
        <a:prstGeom prst="upArrowCallout">
          <a:avLst/>
        </a:prstGeom>
        <a:solidFill>
          <a:schemeClr val="lt1">
            <a:hueOff val="0"/>
            <a:satOff val="0"/>
            <a:lumOff val="0"/>
            <a:alphaOff val="0"/>
          </a:schemeClr>
        </a:solidFill>
        <a:ln w="19050" cap="flat" cmpd="sng" algn="ctr">
          <a:solidFill>
            <a:srgbClr val="5952E8"/>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Vorhersagen</a:t>
          </a:r>
        </a:p>
      </dsp:txBody>
      <dsp:txXfrm rot="10800000">
        <a:off x="0" y="2466560"/>
        <a:ext cx="11078173" cy="539012"/>
      </dsp:txXfrm>
    </dsp:sp>
    <dsp:sp modelId="{588A6A5D-80EE-40F1-9455-04BCEB1051D5}">
      <dsp:nvSpPr>
        <dsp:cNvPr id="0" name=""/>
        <dsp:cNvSpPr/>
      </dsp:nvSpPr>
      <dsp:spPr>
        <a:xfrm rot="10800000">
          <a:off x="0" y="1645106"/>
          <a:ext cx="11078173" cy="829543"/>
        </a:xfrm>
        <a:prstGeom prst="upArrowCallout">
          <a:avLst/>
        </a:prstGeom>
        <a:solidFill>
          <a:schemeClr val="lt1">
            <a:hueOff val="0"/>
            <a:satOff val="0"/>
            <a:lumOff val="0"/>
            <a:alphaOff val="0"/>
          </a:schemeClr>
        </a:solidFill>
        <a:ln w="19050" cap="flat" cmpd="sng" algn="ctr">
          <a:solidFill>
            <a:srgbClr val="4E11A7"/>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Simulation</a:t>
          </a:r>
        </a:p>
      </dsp:txBody>
      <dsp:txXfrm rot="10800000">
        <a:off x="0" y="1645106"/>
        <a:ext cx="11078173" cy="539012"/>
      </dsp:txXfrm>
    </dsp:sp>
    <dsp:sp modelId="{42BB06FB-3D34-4E65-9405-C50DAE910881}">
      <dsp:nvSpPr>
        <dsp:cNvPr id="0" name=""/>
        <dsp:cNvSpPr/>
      </dsp:nvSpPr>
      <dsp:spPr>
        <a:xfrm rot="10800000">
          <a:off x="0" y="823653"/>
          <a:ext cx="11078173" cy="829543"/>
        </a:xfrm>
        <a:prstGeom prst="upArrowCallout">
          <a:avLst/>
        </a:prstGeom>
        <a:solidFill>
          <a:schemeClr val="lt1">
            <a:hueOff val="0"/>
            <a:satOff val="0"/>
            <a:lumOff val="0"/>
            <a:alphaOff val="0"/>
          </a:schemeClr>
        </a:solidFill>
        <a:ln w="19050" cap="flat" cmpd="sng" algn="ctr">
          <a:solidFill>
            <a:srgbClr val="850DAB"/>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Chaos</a:t>
          </a:r>
        </a:p>
      </dsp:txBody>
      <dsp:txXfrm rot="10800000">
        <a:off x="0" y="823653"/>
        <a:ext cx="11078173" cy="539012"/>
      </dsp:txXfrm>
    </dsp:sp>
    <dsp:sp modelId="{9A739BF3-F3D4-482B-8A7D-6EFA17289BA8}">
      <dsp:nvSpPr>
        <dsp:cNvPr id="0" name=""/>
        <dsp:cNvSpPr/>
      </dsp:nvSpPr>
      <dsp:spPr>
        <a:xfrm rot="10800000">
          <a:off x="0" y="2200"/>
          <a:ext cx="11078173" cy="829543"/>
        </a:xfrm>
        <a:prstGeom prst="upArrowCallout">
          <a:avLst/>
        </a:prstGeom>
        <a:solidFill>
          <a:schemeClr val="lt1">
            <a:hueOff val="0"/>
            <a:satOff val="0"/>
            <a:lumOff val="0"/>
            <a:alphaOff val="0"/>
          </a:schemeClr>
        </a:solidFill>
        <a:ln w="19050" cap="flat" cmpd="sng" algn="ctr">
          <a:solidFill>
            <a:srgbClr val="B2069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de-DE" sz="1800" kern="1200" dirty="0"/>
            <a:t>Grundlagen</a:t>
          </a:r>
        </a:p>
      </dsp:txBody>
      <dsp:txXfrm rot="10800000">
        <a:off x="0" y="2200"/>
        <a:ext cx="11078173" cy="53901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1CAE849-933A-C6B1-0CB7-D694B6086F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24B2D67-5827-0133-EA60-ACE8DAEFF7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6350D7-82E9-41A5-8156-49B6E840193F}" type="datetimeFigureOut">
              <a:rPr lang="de-DE" smtClean="0"/>
              <a:t>26.05.2025</a:t>
            </a:fld>
            <a:endParaRPr lang="de-DE"/>
          </a:p>
        </p:txBody>
      </p:sp>
      <p:sp>
        <p:nvSpPr>
          <p:cNvPr id="4" name="Fußzeilenplatzhalter 3">
            <a:extLst>
              <a:ext uri="{FF2B5EF4-FFF2-40B4-BE49-F238E27FC236}">
                <a16:creationId xmlns:a16="http://schemas.microsoft.com/office/drawing/2014/main" id="{10139872-7B4F-86A1-FABB-CD54D2E53D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B6C741D9-FE68-2A5A-70BF-0E563557A0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85600F-15AE-407C-888C-4BBA65420900}" type="slidenum">
              <a:rPr lang="de-DE" smtClean="0"/>
              <a:t>‹Nr.›</a:t>
            </a:fld>
            <a:endParaRPr lang="de-DE"/>
          </a:p>
        </p:txBody>
      </p:sp>
    </p:spTree>
    <p:extLst>
      <p:ext uri="{BB962C8B-B14F-4D97-AF65-F5344CB8AC3E}">
        <p14:creationId xmlns:p14="http://schemas.microsoft.com/office/powerpoint/2010/main" val="20131434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700515-C5B3-4229-A623-E8472CFD1E3B}" type="datetimeFigureOut">
              <a:rPr lang="de-DE" smtClean="0"/>
              <a:t>26.05.2025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8BB3E-486B-465A-90B0-3B1E7CF0F547}" type="slidenum">
              <a:rPr lang="de-DE" smtClean="0"/>
              <a:t>‹Nr.›</a:t>
            </a:fld>
            <a:endParaRPr lang="de-DE"/>
          </a:p>
        </p:txBody>
      </p:sp>
    </p:spTree>
    <p:extLst>
      <p:ext uri="{BB962C8B-B14F-4D97-AF65-F5344CB8AC3E}">
        <p14:creationId xmlns:p14="http://schemas.microsoft.com/office/powerpoint/2010/main" val="192546209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 ca. 4,6 Milliarden Jahren entstand unser Sonnensystem aus einer großen Gas- und Staubwolke und hat sich seither zum dem Sonnensystem entwickelt, welches wir heute kennen.</a:t>
            </a:r>
          </a:p>
          <a:p>
            <a:r>
              <a:rPr lang="de-DE" dirty="0"/>
              <a:t>Heute soll es aber nicht um die Vergangenheit unseres Sonnensystems gehen sondern um seine Zukunft.</a:t>
            </a:r>
          </a:p>
          <a:p>
            <a:r>
              <a:rPr lang="de-DE" dirty="0"/>
              <a:t>Hierbei wollen wir uns die Frage stellen wie viel wir über die Zukunft unseres Sonnensystems wissen und wo die Grenzen unserer Aussagen liegen.</a:t>
            </a:r>
          </a:p>
          <a:p>
            <a:r>
              <a:rPr lang="de-DE" dirty="0"/>
              <a:t>Ich werde mich in dieser Präsentation vor allem auf die Entwicklung der Planetenbahnen auf Basis der Newtonschen Mechaniken konzentrieren, wobei ich später auch noch kurz auf die Relativitätstheorie eingehen werde.</a:t>
            </a:r>
          </a:p>
        </p:txBody>
      </p:sp>
    </p:spTree>
    <p:extLst>
      <p:ext uri="{BB962C8B-B14F-4D97-AF65-F5344CB8AC3E}">
        <p14:creationId xmlns:p14="http://schemas.microsoft.com/office/powerpoint/2010/main" val="2648314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Hierbei besprechen wir zuerst die Grundlegenden physikalischen Konzepte, auf welchen der Rest unserer Präsentation aufbaut.</a:t>
            </a:r>
          </a:p>
          <a:p>
            <a:r>
              <a:rPr lang="de-DE" dirty="0"/>
              <a:t>Außerdem werde ich das Gebiet der Chaostheorie erklären und wie sie mit unserem Sonnensystem zusammenhängt.</a:t>
            </a:r>
          </a:p>
          <a:p>
            <a:r>
              <a:rPr lang="de-DE" dirty="0"/>
              <a:t>Außerdem habe ich auf Grundlage meines Nebenfaches der Informatik eine kleine Simulation programmiert und werde dieses Vorstellen, sowie als auch Simulationen von momentan führenden Studien vorstellen und was diese Aussagen.</a:t>
            </a:r>
          </a:p>
          <a:p>
            <a:r>
              <a:rPr lang="de-DE" dirty="0"/>
              <a:t>Außerdem gucken wir uns noch kurz weitere Zukunftsaussichten wie beispielsweise die Zukunft der Sonne, sowie die Zukunft von Kometen und Asteroidengürtel an und inwiefern diese mit den Planetenbahnen zusammenhängen.</a:t>
            </a:r>
          </a:p>
          <a:p>
            <a:r>
              <a:rPr lang="de-DE" dirty="0"/>
              <a:t>Zuletzt werden wir alle Erkenntnisse, die wir bis dahin gewonnen haben zusammenfassen und auf unsere Problemfrage, wo die Grenzen der Vorhersagbarkeit liegen, anwenden und versuchen diese zu beantworten.</a:t>
            </a:r>
          </a:p>
        </p:txBody>
      </p:sp>
    </p:spTree>
    <p:extLst>
      <p:ext uri="{BB962C8B-B14F-4D97-AF65-F5344CB8AC3E}">
        <p14:creationId xmlns:p14="http://schemas.microsoft.com/office/powerpoint/2010/main" val="1911157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Grundsätzlich befindet sich unser Sonnensystem in der Milchstraße und enthält 8 Hauptplaneten sowie 5 eingestufte Zwergplaneten.</a:t>
            </a:r>
          </a:p>
          <a:p>
            <a:r>
              <a:rPr lang="de-DE" dirty="0"/>
              <a:t>310 Monde wurden bis heute gefunden, wobei stetig noch neue Entdeckt werden.</a:t>
            </a:r>
          </a:p>
          <a:p>
            <a:r>
              <a:rPr lang="de-DE" dirty="0"/>
              <a:t>Zudem wurden mehr als 4000 Kometen und ungefähr 1,4 Millionen Asteroiden mit einem Durchmesser von mehr als 10 Metern katalogisiert, wobei man von noch vielen mehr ausgeht.</a:t>
            </a:r>
          </a:p>
        </p:txBody>
      </p:sp>
    </p:spTree>
    <p:extLst>
      <p:ext uri="{BB962C8B-B14F-4D97-AF65-F5344CB8AC3E}">
        <p14:creationId xmlns:p14="http://schemas.microsoft.com/office/powerpoint/2010/main" val="1904658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Grundlegende Problem, auf welchem die Planetenbahnen aufbauen, ist das sogenannte „n-Körper-Problem“, wobei verschiedene Spezialisierungen wie das „2-Körper“ oder „3-Körper-Problem“ wahrscheinlich bereits bekannt sind.</a:t>
            </a:r>
          </a:p>
          <a:p>
            <a:r>
              <a:rPr lang="de-DE" dirty="0"/>
              <a:t>Die Grundidee ist hierbei, dass man eine beliebige Anzahl and Körpern mit jeweiligen Massen in einem Gebiet hat, welche sich gegenseitig gravitativ beeinflussen und man hierbei zu einem bestimmten Zeitpunkt oder auch über einen Zeitraum die resultierenden Bahnen dieser Körper wissen möchte.</a:t>
            </a:r>
          </a:p>
          <a:p>
            <a:endParaRPr lang="de-DE" dirty="0"/>
          </a:p>
          <a:p>
            <a:r>
              <a:rPr lang="de-DE" dirty="0"/>
              <a:t>Eine analytische Lösung wurde bis jetzt nur für 2 Körper von Johannes Kepler gefunden und später von Newton hergeleitet, weswegen das „2-Körper-Problem“ auch als Kepler-Problem bekannt ist.</a:t>
            </a:r>
          </a:p>
          <a:p>
            <a:r>
              <a:rPr lang="de-DE" dirty="0"/>
              <a:t>Das heißt, für 2 Körper hat man genaue Formeln, wobei man Zeitpunkte einsetzen kann, und Positionen und Formen der resultierenden Bahnen rausbekommt. Ich werde auf diese Formeln jetzt nicht weiter eingehen, weil sie nicht wirklich relevant für unsere Frage sind.</a:t>
            </a:r>
          </a:p>
          <a:p>
            <a:endParaRPr lang="de-DE" dirty="0"/>
          </a:p>
          <a:p>
            <a:r>
              <a:rPr lang="de-DE" dirty="0"/>
              <a:t>Interessanter ist hierbei vor allem der Fall von mehr als 2 Körpern, also beispielsweise die gegenseitigen Einflüsse von Sonne-Erde-Mond oder die gegenseitigen Einflüsse von allen Planeten, welche um die Sonne kreisen.</a:t>
            </a:r>
          </a:p>
          <a:p>
            <a:r>
              <a:rPr lang="de-DE" dirty="0"/>
              <a:t>Hierbei wurde von dem Astronom Poincaré 1889 bewiesen, dass keine einfache Formel existiert. Hierbei muss man dann stattdessen mit Hochleistungssimulationen welche auf Computern laufen arbeiten später dazu mehr.</a:t>
            </a:r>
          </a:p>
          <a:p>
            <a:endParaRPr lang="de-DE" dirty="0"/>
          </a:p>
          <a:p>
            <a:r>
              <a:rPr lang="de-DE" dirty="0"/>
              <a:t>Hierbei stützt man sich vor allem auf die Formel, welche man hier oben Rechts sieht, welche das Newtonsche Gravitationsgesetz und Newtons zweites Gesetz enthält.</a:t>
            </a:r>
          </a:p>
          <a:p>
            <a:r>
              <a:rPr lang="de-DE" dirty="0"/>
              <a:t>Möchte man nur also alle Einflüsse auf einen einzelnen Körper haben muss man alle Kräfte, welche alle Körper auf diesen Körper auswirken, summieren und arbeitet vor allem mit der resultierenden Beschleunigung, sodass man auf beiden Seiten eine Masse wegkürzen kann. Raus kommt dann diese Formel hier unten Rechts, welche wir dann später auch in unsere Simulation nutzen werden.</a:t>
            </a:r>
          </a:p>
          <a:p>
            <a:endParaRPr lang="de-DE" dirty="0"/>
          </a:p>
          <a:p>
            <a:r>
              <a:rPr lang="de-DE" dirty="0"/>
              <a:t>Allgemein sind die Bahnen in einem n-Körper-System außerdem nicht periodisch, heißt es gibt nie zwei Zeitpunkte, wobei alle Zustände aller Körper exakt gleich sind.</a:t>
            </a:r>
          </a:p>
          <a:p>
            <a:r>
              <a:rPr lang="de-DE" dirty="0"/>
              <a:t>Außerdem weisen Systeme mit mehr als 2 Körpern meistens chaotische Effekte auf.</a:t>
            </a:r>
          </a:p>
        </p:txBody>
      </p:sp>
    </p:spTree>
    <p:extLst>
      <p:ext uri="{BB962C8B-B14F-4D97-AF65-F5344CB8AC3E}">
        <p14:creationId xmlns:p14="http://schemas.microsoft.com/office/powerpoint/2010/main" val="464903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Chaotische Effekte hängen mit der Chaostheorie zusammen.</a:t>
            </a:r>
          </a:p>
          <a:p>
            <a:r>
              <a:rPr lang="de-DE" dirty="0"/>
              <a:t>Die Chaostheorie ist in der Allgemeinheit wahrscheinlich auch sehr bekannt als der „Schmetterlingseffekt“.</a:t>
            </a:r>
          </a:p>
        </p:txBody>
      </p:sp>
    </p:spTree>
    <p:extLst>
      <p:ext uri="{BB962C8B-B14F-4D97-AF65-F5344CB8AC3E}">
        <p14:creationId xmlns:p14="http://schemas.microsoft.com/office/powerpoint/2010/main" val="3118050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Allgemein ist der Grundsatz der Chaostheorie aber die sensitive Abhängigkeit von den Anfangsbedingungen eines Systems.</a:t>
            </a:r>
          </a:p>
          <a:p>
            <a:r>
              <a:rPr lang="de-DE" dirty="0"/>
              <a:t>Die Chaostheorie beschreibt so das Verhalten eines Systems, wobei eben Veränderungen oder Fehler in den Startbedingungen zu komplett anderen Ergebnissen nach nur kurzer Zeit kommen können.</a:t>
            </a:r>
          </a:p>
          <a:p>
            <a:r>
              <a:rPr lang="de-DE" dirty="0"/>
              <a:t>Wie schon gesagt sind verhalten sich chaotische System im allgemeinen nicht periodisch.</a:t>
            </a:r>
          </a:p>
          <a:p>
            <a:r>
              <a:rPr lang="de-DE" dirty="0"/>
              <a:t>Aus all diesem ergibt sich, dass solche Systeme eben sehr Unvorhersagbar sind. Trotz alldem, auch wenn es vielleicht widersprüchlich klingt, sind sie trotzdem Deterministisch.</a:t>
            </a:r>
          </a:p>
          <a:p>
            <a:r>
              <a:rPr lang="de-DE" dirty="0"/>
              <a:t>Wir haben hierbei also einen unvorhersagbaren Determinismus.</a:t>
            </a:r>
          </a:p>
          <a:p>
            <a:endParaRPr lang="de-DE" dirty="0"/>
          </a:p>
          <a:p>
            <a:r>
              <a:rPr lang="de-DE" dirty="0"/>
              <a:t>Der Mathematiker und Astronom Laplace hat hierzu ein Gedankenexperiment aufgestellt, welcher besagt das ein Wesen, welches über jeden Zustand jedes Atoms im Universum bescheid weiß, so unendlich in die Zukunft und Vergangenheit gucken könnte und immer die gleichen Ergebnisse rausbekommt. Wie aber schon gesagt ist dies eben nur ein Gedankenexperiment und greift sich heutzutage auch mit vielen physikalischen Konzepten, wie beispielsweise das des n-Körper-Problems, welches ja besagt, dass selbst wenn wir Anfangszustände haben, wir diese nicht mit 100iger Richtigkeit in die Zukunft tragen können.</a:t>
            </a:r>
          </a:p>
        </p:txBody>
      </p:sp>
    </p:spTree>
    <p:extLst>
      <p:ext uri="{BB962C8B-B14F-4D97-AF65-F5344CB8AC3E}">
        <p14:creationId xmlns:p14="http://schemas.microsoft.com/office/powerpoint/2010/main" val="3800799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Okay, das ist ja jetzt alles schön und gut, aber was hat das mit den Planetenbahnen in unserem Sonnensystem zu tun.</a:t>
            </a:r>
            <a:br>
              <a:rPr lang="de-DE" dirty="0"/>
            </a:br>
            <a:r>
              <a:rPr lang="de-DE" dirty="0"/>
              <a:t>Nun, unser Sonnensystem ist schlicht ein n-Körper-System wie jedes andere, nur mit der Besonderheit, dass </a:t>
            </a:r>
            <a:r>
              <a:rPr lang="de-DE" b="0" dirty="0"/>
              <a:t>die Sonne rund 99,8 % der Gesamtmasse hält. </a:t>
            </a:r>
            <a:r>
              <a:rPr lang="de-DE" dirty="0"/>
              <a:t>Diese gewaltige Asymmetrie sorgt zwar für relativ stabile, fast-elliptische Bahnen, verhindert aber kein </a:t>
            </a:r>
            <a:r>
              <a:rPr lang="de-DE" b="0" dirty="0"/>
              <a:t>chaotisches Verhalten und man darf die gravitierenden Störungen der anderen Planeten nicht vernachlässigen. Als Beispiel hierfür wurde </a:t>
            </a:r>
            <a:r>
              <a:rPr lang="de-DE" dirty="0"/>
              <a:t>Neptun durch Bahnabweichungen des Uranus entdeckt, welche auf einen weiteren Planeten hingewiesen haben.</a:t>
            </a:r>
          </a:p>
          <a:p>
            <a:endParaRPr lang="de-DE" dirty="0"/>
          </a:p>
          <a:p>
            <a:r>
              <a:rPr lang="de-DE" dirty="0"/>
              <a:t>Dieses chaotische Verhalten lässt sich dann mit der sogenannten </a:t>
            </a:r>
            <a:r>
              <a:rPr lang="de-DE" b="0" dirty="0"/>
              <a:t>Lyapunov-Zeit genauer beschreiben</a:t>
            </a:r>
            <a:r>
              <a:rPr lang="de-DE" dirty="0"/>
              <a:t>. Numerische Analysen ergeben für die inneren Planeten etwa</a:t>
            </a:r>
            <a:r>
              <a:rPr lang="de-DE" b="1" dirty="0"/>
              <a:t> </a:t>
            </a:r>
            <a:r>
              <a:rPr lang="de-DE" b="0" dirty="0"/>
              <a:t>hierbei eine Zeit von ca. 5 Millionen Jahren</a:t>
            </a:r>
            <a:r>
              <a:rPr lang="de-DE" dirty="0"/>
              <a:t>. Das bedeutet: Wenn wir heute zwei fast identische Sonnensystem-Modelle starten – die Anfangspositionen unterscheiden sich nur um einen Millimeter – dann weicht ihre Bahnvorhersage nach fünf Millionen Jahren bereits um eine Planetendistanz ab.</a:t>
            </a:r>
          </a:p>
          <a:p>
            <a:r>
              <a:rPr lang="de-DE" dirty="0"/>
              <a:t>Die genaue Definition des Lyapunov-Exponenten seht ihr hier unten Rechts, wobei die Lyapunov-Zeit dann einfach der Kehrwert des Exponenten ist.</a:t>
            </a:r>
            <a:br>
              <a:rPr lang="de-DE" dirty="0"/>
            </a:br>
            <a:r>
              <a:rPr lang="de-DE" dirty="0"/>
              <a:t>Nach ein paar dieser Lyapunov-Zeiten sind präzise Simulationen oder Modell praktisch wertlos und wir können nur noch Wahrscheinlichkeiten angeben.</a:t>
            </a:r>
          </a:p>
        </p:txBody>
      </p:sp>
    </p:spTree>
    <p:extLst>
      <p:ext uri="{BB962C8B-B14F-4D97-AF65-F5344CB8AC3E}">
        <p14:creationId xmlns:p14="http://schemas.microsoft.com/office/powerpoint/2010/main" val="3567688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567053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540612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770273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Sonne ist </a:t>
            </a:r>
            <a:r>
              <a:rPr lang="de-DE" b="1" dirty="0"/>
              <a:t>4,57 Gyr</a:t>
            </a:r>
            <a:r>
              <a:rPr lang="de-DE" dirty="0"/>
              <a:t> alt; ihre berechnete Hauptreihen-Lebensdauer beträgt </a:t>
            </a:r>
            <a:r>
              <a:rPr lang="de-DE" b="1" dirty="0"/>
              <a:t>≈ </a:t>
            </a:r>
            <a:r>
              <a:rPr lang="de-DE" b="0" dirty="0"/>
              <a:t>10,1–10,7 Gyr.</a:t>
            </a:r>
          </a:p>
          <a:p>
            <a:endParaRPr lang="de-DE" dirty="0"/>
          </a:p>
          <a:p>
            <a:r>
              <a:rPr lang="de-DE" dirty="0"/>
              <a:t>alle wichtigen Einflussgrößen (Masse, chemische Zusammensetzung, heutige Leuchtkraft &amp; Radius) gut vermessen</a:t>
            </a:r>
          </a:p>
        </p:txBody>
      </p:sp>
    </p:spTree>
    <p:extLst>
      <p:ext uri="{BB962C8B-B14F-4D97-AF65-F5344CB8AC3E}">
        <p14:creationId xmlns:p14="http://schemas.microsoft.com/office/powerpoint/2010/main" val="1328069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Alle Asteroiden nur ca. 5% unser Mondmasse </a:t>
            </a:r>
          </a:p>
          <a:p>
            <a:r>
              <a:rPr lang="de-DE" dirty="0"/>
              <a:t>-&gt; 96 % aller NEAs &gt; 1 km sind katalogisiert</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Untersucht durch Simulationen, Beobachtungsstatistiken von aktuellen Bahnen, Beobachtung von Mond-Kratern, Vergangenheit der Erde o.ä.</a:t>
            </a:r>
          </a:p>
          <a:p>
            <a:endParaRPr lang="de-DE" dirty="0"/>
          </a:p>
          <a:p>
            <a:r>
              <a:rPr lang="de-DE" i="1" dirty="0"/>
              <a:t>Konstante</a:t>
            </a:r>
            <a:r>
              <a:rPr lang="de-DE" dirty="0"/>
              <a:t> Raten würden ~250 Einschläge der 5-km-Klasse bedeuten. -&gt; Praktisch sinkt das aber, weil der Hauptgürtel mit der Zeit ausdünnt und Jupiter weiter “aufräumt”.</a:t>
            </a:r>
          </a:p>
          <a:p>
            <a:r>
              <a:rPr lang="de-DE" dirty="0"/>
              <a:t>-&gt; Rausgefunden einerseits durch numerische Integrationen von NEAs oder auch </a:t>
            </a:r>
          </a:p>
        </p:txBody>
      </p:sp>
    </p:spTree>
    <p:extLst>
      <p:ext uri="{BB962C8B-B14F-4D97-AF65-F5344CB8AC3E}">
        <p14:creationId xmlns:p14="http://schemas.microsoft.com/office/powerpoint/2010/main" val="1087437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0684DC-8C4A-BBFE-1016-A50830D35BBF}"/>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2B70D39F-5A03-94C7-6D43-E9CD52E71D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C4860B8-C074-2A8D-6F8E-B7BFAAEE617E}"/>
              </a:ext>
            </a:extLst>
          </p:cNvPr>
          <p:cNvSpPr>
            <a:spLocks noGrp="1"/>
          </p:cNvSpPr>
          <p:nvPr>
            <p:ph type="dt" sz="half" idx="10"/>
          </p:nvPr>
        </p:nvSpPr>
        <p:spPr/>
        <p:txBody>
          <a:bodyPr/>
          <a:lstStyle/>
          <a:p>
            <a:fld id="{6053B2E8-3433-493A-A571-42C4FA46A94E}" type="datetime1">
              <a:rPr lang="de-DE" smtClean="0"/>
              <a:t>26.05.2025</a:t>
            </a:fld>
            <a:endParaRPr lang="de-DE"/>
          </a:p>
        </p:txBody>
      </p:sp>
      <p:sp>
        <p:nvSpPr>
          <p:cNvPr id="5" name="Fußzeilenplatzhalter 4">
            <a:extLst>
              <a:ext uri="{FF2B5EF4-FFF2-40B4-BE49-F238E27FC236}">
                <a16:creationId xmlns:a16="http://schemas.microsoft.com/office/drawing/2014/main" id="{81977F3C-B32B-81A9-5134-D692F82D6AA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3CBEA31-92F8-04FB-6118-9D47A77C925B}"/>
              </a:ext>
            </a:extLst>
          </p:cNvPr>
          <p:cNvSpPr>
            <a:spLocks noGrp="1"/>
          </p:cNvSpPr>
          <p:nvPr>
            <p:ph type="sldNum" sz="quarter" idx="12"/>
          </p:nvPr>
        </p:nvSpPr>
        <p:spPr>
          <a:xfrm>
            <a:off x="9236018" y="197088"/>
            <a:ext cx="2743200" cy="365125"/>
          </a:xfrm>
        </p:spPr>
        <p:txBody>
          <a:bodyPr/>
          <a:lstStyle/>
          <a:p>
            <a:fld id="{37F59D07-C377-43AF-8215-75E8E4DF2383}" type="slidenum">
              <a:rPr lang="de-DE" smtClean="0"/>
              <a:pPr/>
              <a:t>‹Nr.›</a:t>
            </a:fld>
            <a:endParaRPr lang="de-DE" dirty="0"/>
          </a:p>
        </p:txBody>
      </p:sp>
    </p:spTree>
    <p:extLst>
      <p:ext uri="{BB962C8B-B14F-4D97-AF65-F5344CB8AC3E}">
        <p14:creationId xmlns:p14="http://schemas.microsoft.com/office/powerpoint/2010/main" val="15193912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86FEF175-0314-F4CD-59EB-04B20A4F71F1}"/>
              </a:ext>
            </a:extLst>
          </p:cNvPr>
          <p:cNvSpPr>
            <a:spLocks noGrp="1"/>
          </p:cNvSpPr>
          <p:nvPr>
            <p:ph idx="1"/>
          </p:nvPr>
        </p:nvSpPr>
        <p:spPr/>
        <p:txBody>
          <a:bodyPr anchor="ctr"/>
          <a:lstStyle>
            <a:lvl1pPr>
              <a:defRPr sz="2000"/>
            </a:lvl1pPr>
            <a:lvl2pPr>
              <a:defRPr sz="1800"/>
            </a:lvl2pPr>
            <a:lvl3pPr>
              <a:defRPr sz="1600"/>
            </a:lvl3pPr>
            <a:lvl4pPr>
              <a:defRPr sz="1400"/>
            </a:lvl4pPr>
            <a:lvl5pPr>
              <a:defRPr sz="1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A1CB7C15-7E1B-E6D2-592A-822DD9A070C4}"/>
              </a:ext>
            </a:extLst>
          </p:cNvPr>
          <p:cNvSpPr>
            <a:spLocks noGrp="1"/>
          </p:cNvSpPr>
          <p:nvPr>
            <p:ph type="dt" sz="half" idx="10"/>
          </p:nvPr>
        </p:nvSpPr>
        <p:spPr/>
        <p:txBody>
          <a:bodyPr/>
          <a:lstStyle/>
          <a:p>
            <a:fld id="{B5114C24-746B-494A-84A0-D467C3C80395}" type="datetime1">
              <a:rPr lang="de-DE" smtClean="0"/>
              <a:t>26.05.2025</a:t>
            </a:fld>
            <a:endParaRPr lang="de-DE"/>
          </a:p>
        </p:txBody>
      </p:sp>
      <p:sp>
        <p:nvSpPr>
          <p:cNvPr id="5" name="Fußzeilenplatzhalter 4">
            <a:extLst>
              <a:ext uri="{FF2B5EF4-FFF2-40B4-BE49-F238E27FC236}">
                <a16:creationId xmlns:a16="http://schemas.microsoft.com/office/drawing/2014/main" id="{CC55091F-1AC2-AA9B-AD39-B4AB40F42EA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7E2AB6C-EA8F-8B8D-D02D-13A74F4663F7}"/>
              </a:ext>
            </a:extLst>
          </p:cNvPr>
          <p:cNvSpPr>
            <a:spLocks noGrp="1"/>
          </p:cNvSpPr>
          <p:nvPr>
            <p:ph type="sldNum" sz="quarter" idx="12"/>
          </p:nvPr>
        </p:nvSpPr>
        <p:spPr>
          <a:xfrm>
            <a:off x="9240328" y="202547"/>
            <a:ext cx="2743200" cy="365125"/>
          </a:xfrm>
        </p:spPr>
        <p:txBody>
          <a:bodyPr/>
          <a:lstStyle/>
          <a:p>
            <a:fld id="{37F59D07-C377-43AF-8215-75E8E4DF2383}" type="slidenum">
              <a:rPr lang="de-DE" smtClean="0"/>
              <a:pPr/>
              <a:t>‹Nr.›</a:t>
            </a:fld>
            <a:endParaRPr lang="de-DE" dirty="0"/>
          </a:p>
        </p:txBody>
      </p:sp>
      <p:sp>
        <p:nvSpPr>
          <p:cNvPr id="8" name="Titel 1">
            <a:extLst>
              <a:ext uri="{FF2B5EF4-FFF2-40B4-BE49-F238E27FC236}">
                <a16:creationId xmlns:a16="http://schemas.microsoft.com/office/drawing/2014/main" id="{5D558354-1C65-0ADB-C1B6-FD23996604A3}"/>
              </a:ext>
            </a:extLst>
          </p:cNvPr>
          <p:cNvSpPr>
            <a:spLocks noGrp="1"/>
          </p:cNvSpPr>
          <p:nvPr>
            <p:ph type="title" hasCustomPrompt="1"/>
          </p:nvPr>
        </p:nvSpPr>
        <p:spPr>
          <a:xfrm>
            <a:off x="5150434" y="385110"/>
            <a:ext cx="1839808" cy="1009563"/>
          </a:xfrm>
          <a:prstGeom prst="roundRect">
            <a:avLst>
              <a:gd name="adj" fmla="val 35030"/>
            </a:avLst>
          </a:prstGeom>
          <a:solidFill>
            <a:schemeClr val="bg1">
              <a:alpha val="30000"/>
            </a:schemeClr>
          </a:solidFill>
          <a:ln>
            <a:noFill/>
          </a:ln>
          <a:effectLst>
            <a:outerShdw blurRad="635000" sx="125000" sy="125000" algn="ctr" rotWithShape="0">
              <a:prstClr val="black">
                <a:alpha val="35000"/>
              </a:prstClr>
            </a:outerShdw>
          </a:effectLst>
        </p:spPr>
        <p:txBody>
          <a:bodyPr wrap="none" lIns="360000" tIns="180000" rIns="360000" bIns="180000">
            <a:spAutoFit/>
          </a:bodyPr>
          <a:lstStyle>
            <a:lvl1pPr algn="ctr">
              <a:defRPr sz="3200" b="1"/>
            </a:lvl1pPr>
          </a:lstStyle>
          <a:p>
            <a:pPr algn="ctr"/>
            <a:r>
              <a:rPr lang="de-DE" dirty="0"/>
              <a:t>Titel</a:t>
            </a:r>
          </a:p>
        </p:txBody>
      </p:sp>
    </p:spTree>
    <p:extLst>
      <p:ext uri="{BB962C8B-B14F-4D97-AF65-F5344CB8AC3E}">
        <p14:creationId xmlns:p14="http://schemas.microsoft.com/office/powerpoint/2010/main" val="5261334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3CABC7-C873-B246-CD14-D7B388D3ECD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7AC39BC-A99E-E47C-5D97-A3699A9C6A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D92BDC31-3D1E-5507-DEF3-334C83120CB7}"/>
              </a:ext>
            </a:extLst>
          </p:cNvPr>
          <p:cNvSpPr>
            <a:spLocks noGrp="1"/>
          </p:cNvSpPr>
          <p:nvPr>
            <p:ph type="dt" sz="half" idx="10"/>
          </p:nvPr>
        </p:nvSpPr>
        <p:spPr/>
        <p:txBody>
          <a:bodyPr/>
          <a:lstStyle/>
          <a:p>
            <a:fld id="{A711B48A-09CE-425F-8D0A-18C065216C4C}" type="datetime1">
              <a:rPr lang="de-DE" smtClean="0"/>
              <a:t>26.05.2025</a:t>
            </a:fld>
            <a:endParaRPr lang="de-DE"/>
          </a:p>
        </p:txBody>
      </p:sp>
      <p:sp>
        <p:nvSpPr>
          <p:cNvPr id="5" name="Fußzeilenplatzhalter 4">
            <a:extLst>
              <a:ext uri="{FF2B5EF4-FFF2-40B4-BE49-F238E27FC236}">
                <a16:creationId xmlns:a16="http://schemas.microsoft.com/office/drawing/2014/main" id="{6C8245B2-DAEE-E78F-B0A5-9767A4D3E88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E177423-2A96-778D-DA29-5FB1C73E5FE7}"/>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14060823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8BC13A-1CB0-0DE2-DAF6-1BA2C5CEE01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CC279F4-4247-B577-DB3B-089E4BB392E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DB613063-C781-2637-D6D9-305D3FB002C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B8A6B166-DE8A-1462-DEC5-075B784BCBA0}"/>
              </a:ext>
            </a:extLst>
          </p:cNvPr>
          <p:cNvSpPr>
            <a:spLocks noGrp="1"/>
          </p:cNvSpPr>
          <p:nvPr>
            <p:ph type="dt" sz="half" idx="10"/>
          </p:nvPr>
        </p:nvSpPr>
        <p:spPr/>
        <p:txBody>
          <a:bodyPr/>
          <a:lstStyle/>
          <a:p>
            <a:fld id="{80282075-09B9-42E7-8BBC-078ED581B50B}" type="datetime1">
              <a:rPr lang="de-DE" smtClean="0"/>
              <a:t>26.05.2025</a:t>
            </a:fld>
            <a:endParaRPr lang="de-DE"/>
          </a:p>
        </p:txBody>
      </p:sp>
      <p:sp>
        <p:nvSpPr>
          <p:cNvPr id="6" name="Fußzeilenplatzhalter 5">
            <a:extLst>
              <a:ext uri="{FF2B5EF4-FFF2-40B4-BE49-F238E27FC236}">
                <a16:creationId xmlns:a16="http://schemas.microsoft.com/office/drawing/2014/main" id="{C22C8508-E4EE-44FA-5EE5-64DE793FB1F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9D33618-D1EA-32CD-E42D-2A507C40BFA6}"/>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26548406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FF1B25-48CE-2AEB-E12A-E6A59C46EB7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F7292F5-9101-C84D-63B5-9DCB0A382C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A78ED25-2F29-9932-0394-E4CE0D48C8E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CBBE7F1B-D1D2-AB89-A27A-EF0D3356D7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E8DD4ED-1C16-04AB-F845-B13149FF5482}"/>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12C2D813-A26F-2FDE-114A-9CE68C5B76AE}"/>
              </a:ext>
            </a:extLst>
          </p:cNvPr>
          <p:cNvSpPr>
            <a:spLocks noGrp="1"/>
          </p:cNvSpPr>
          <p:nvPr>
            <p:ph type="dt" sz="half" idx="10"/>
          </p:nvPr>
        </p:nvSpPr>
        <p:spPr/>
        <p:txBody>
          <a:bodyPr/>
          <a:lstStyle/>
          <a:p>
            <a:fld id="{3FB1E74B-EF8F-4200-98AC-01715ACDA7C6}" type="datetime1">
              <a:rPr lang="de-DE" smtClean="0"/>
              <a:t>26.05.2025</a:t>
            </a:fld>
            <a:endParaRPr lang="de-DE"/>
          </a:p>
        </p:txBody>
      </p:sp>
      <p:sp>
        <p:nvSpPr>
          <p:cNvPr id="8" name="Fußzeilenplatzhalter 7">
            <a:extLst>
              <a:ext uri="{FF2B5EF4-FFF2-40B4-BE49-F238E27FC236}">
                <a16:creationId xmlns:a16="http://schemas.microsoft.com/office/drawing/2014/main" id="{89F1AAD9-6E02-36AB-4A0E-2CCFC500520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B92AE946-814E-3D1C-E593-98DBEFE819A1}"/>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5239107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F6E9D4-B2C7-BF50-8291-4BA24B5014D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8FEEAA7D-2B05-40BD-3896-50708BECBAB1}"/>
              </a:ext>
            </a:extLst>
          </p:cNvPr>
          <p:cNvSpPr>
            <a:spLocks noGrp="1"/>
          </p:cNvSpPr>
          <p:nvPr>
            <p:ph type="dt" sz="half" idx="10"/>
          </p:nvPr>
        </p:nvSpPr>
        <p:spPr/>
        <p:txBody>
          <a:bodyPr/>
          <a:lstStyle/>
          <a:p>
            <a:fld id="{766D8DB3-A416-49AB-ACFA-B789379EE129}" type="datetime1">
              <a:rPr lang="de-DE" smtClean="0"/>
              <a:t>26.05.2025</a:t>
            </a:fld>
            <a:endParaRPr lang="de-DE"/>
          </a:p>
        </p:txBody>
      </p:sp>
      <p:sp>
        <p:nvSpPr>
          <p:cNvPr id="4" name="Fußzeilenplatzhalter 3">
            <a:extLst>
              <a:ext uri="{FF2B5EF4-FFF2-40B4-BE49-F238E27FC236}">
                <a16:creationId xmlns:a16="http://schemas.microsoft.com/office/drawing/2014/main" id="{395A9D69-D933-5FC7-4D65-67822FA7175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DBFB16BF-DE14-92A5-5C4F-F86D5A560679}"/>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31334626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95612C3-1DB9-9D4E-8425-FCDBB512E486}"/>
              </a:ext>
            </a:extLst>
          </p:cNvPr>
          <p:cNvSpPr>
            <a:spLocks noGrp="1"/>
          </p:cNvSpPr>
          <p:nvPr>
            <p:ph type="dt" sz="half" idx="10"/>
          </p:nvPr>
        </p:nvSpPr>
        <p:spPr/>
        <p:txBody>
          <a:bodyPr/>
          <a:lstStyle/>
          <a:p>
            <a:fld id="{D2BB1B21-A2A1-4C7F-8951-181D8E2C0139}" type="datetime1">
              <a:rPr lang="de-DE" smtClean="0"/>
              <a:t>26.05.2025</a:t>
            </a:fld>
            <a:endParaRPr lang="de-DE"/>
          </a:p>
        </p:txBody>
      </p:sp>
      <p:sp>
        <p:nvSpPr>
          <p:cNvPr id="3" name="Fußzeilenplatzhalter 2">
            <a:extLst>
              <a:ext uri="{FF2B5EF4-FFF2-40B4-BE49-F238E27FC236}">
                <a16:creationId xmlns:a16="http://schemas.microsoft.com/office/drawing/2014/main" id="{23CE13EC-8C34-2F5B-7009-8ADC55318A63}"/>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192413A-5DE7-D64A-527F-27687B883F9C}"/>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26470475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4F241E-01C0-2882-3224-C3808BFE7E7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32EB9C9-552B-3CFA-B9BA-4135F199B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625E5FED-0E6D-D7C9-4753-76EBAE3F7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37B5C06-1E71-D645-35C9-186A45E9A952}"/>
              </a:ext>
            </a:extLst>
          </p:cNvPr>
          <p:cNvSpPr>
            <a:spLocks noGrp="1"/>
          </p:cNvSpPr>
          <p:nvPr>
            <p:ph type="dt" sz="half" idx="10"/>
          </p:nvPr>
        </p:nvSpPr>
        <p:spPr/>
        <p:txBody>
          <a:bodyPr/>
          <a:lstStyle/>
          <a:p>
            <a:fld id="{2312093E-2164-40DA-885B-FDDCE1E2429C}" type="datetime1">
              <a:rPr lang="de-DE" smtClean="0"/>
              <a:t>26.05.2025</a:t>
            </a:fld>
            <a:endParaRPr lang="de-DE"/>
          </a:p>
        </p:txBody>
      </p:sp>
      <p:sp>
        <p:nvSpPr>
          <p:cNvPr id="6" name="Fußzeilenplatzhalter 5">
            <a:extLst>
              <a:ext uri="{FF2B5EF4-FFF2-40B4-BE49-F238E27FC236}">
                <a16:creationId xmlns:a16="http://schemas.microsoft.com/office/drawing/2014/main" id="{1D3708C3-CCCC-D0D8-DDE5-376EA1BDF83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1B37AEF-18B1-E3E7-A85B-B11C74C7D665}"/>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19749483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0DFA1F-F3C9-70CB-A911-02C0594A951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C0C6E54-684E-0784-3DBB-AC6738C8A3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EEC9AAE-47C3-CAA0-204D-22B9E70FB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B555C11-90A8-5586-3D9F-A2D2D5DE1D1A}"/>
              </a:ext>
            </a:extLst>
          </p:cNvPr>
          <p:cNvSpPr>
            <a:spLocks noGrp="1"/>
          </p:cNvSpPr>
          <p:nvPr>
            <p:ph type="dt" sz="half" idx="10"/>
          </p:nvPr>
        </p:nvSpPr>
        <p:spPr/>
        <p:txBody>
          <a:bodyPr/>
          <a:lstStyle/>
          <a:p>
            <a:fld id="{723DB0C3-F6D8-450D-B6B0-0C6CBC22E2CD}" type="datetime1">
              <a:rPr lang="de-DE" smtClean="0"/>
              <a:t>26.05.2025</a:t>
            </a:fld>
            <a:endParaRPr lang="de-DE"/>
          </a:p>
        </p:txBody>
      </p:sp>
      <p:sp>
        <p:nvSpPr>
          <p:cNvPr id="6" name="Fußzeilenplatzhalter 5">
            <a:extLst>
              <a:ext uri="{FF2B5EF4-FFF2-40B4-BE49-F238E27FC236}">
                <a16:creationId xmlns:a16="http://schemas.microsoft.com/office/drawing/2014/main" id="{485D0F6B-F371-126B-15B8-D4E23ACB548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891DA1A-3CD3-474B-A82A-C60E746C5D86}"/>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37547772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EE0957-3F75-37DB-FE4B-948F84D0915E}"/>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DA5D3EE-13AE-D8BE-70FC-75D077BF1CFA}"/>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6F747A6-2EBE-8BBC-4CE6-54CE42882ED8}"/>
              </a:ext>
            </a:extLst>
          </p:cNvPr>
          <p:cNvSpPr>
            <a:spLocks noGrp="1"/>
          </p:cNvSpPr>
          <p:nvPr>
            <p:ph type="dt" sz="half" idx="10"/>
          </p:nvPr>
        </p:nvSpPr>
        <p:spPr/>
        <p:txBody>
          <a:bodyPr/>
          <a:lstStyle/>
          <a:p>
            <a:fld id="{70D4E223-CB02-4F2D-9F39-0F41D7AE7A62}" type="datetime1">
              <a:rPr lang="de-DE" smtClean="0"/>
              <a:t>26.05.2025</a:t>
            </a:fld>
            <a:endParaRPr lang="de-DE"/>
          </a:p>
        </p:txBody>
      </p:sp>
      <p:sp>
        <p:nvSpPr>
          <p:cNvPr id="5" name="Fußzeilenplatzhalter 4">
            <a:extLst>
              <a:ext uri="{FF2B5EF4-FFF2-40B4-BE49-F238E27FC236}">
                <a16:creationId xmlns:a16="http://schemas.microsoft.com/office/drawing/2014/main" id="{23A11435-2380-909A-08A5-38FBA84790A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A5E403B-2FA0-C4EC-6E41-DAE1685FD6AC}"/>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35759280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237E423-57DA-0563-7636-53F0FE3DC3EE}"/>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D690C5C9-5ECB-2C35-B583-B81CB4E7F15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AD2E9D2-A004-6D00-3894-CD24AEB9807E}"/>
              </a:ext>
            </a:extLst>
          </p:cNvPr>
          <p:cNvSpPr>
            <a:spLocks noGrp="1"/>
          </p:cNvSpPr>
          <p:nvPr>
            <p:ph type="dt" sz="half" idx="10"/>
          </p:nvPr>
        </p:nvSpPr>
        <p:spPr/>
        <p:txBody>
          <a:bodyPr/>
          <a:lstStyle/>
          <a:p>
            <a:fld id="{E0E62858-D9A6-49CB-9D51-0C43960574F3}" type="datetime1">
              <a:rPr lang="de-DE" smtClean="0"/>
              <a:t>26.05.2025</a:t>
            </a:fld>
            <a:endParaRPr lang="de-DE"/>
          </a:p>
        </p:txBody>
      </p:sp>
      <p:sp>
        <p:nvSpPr>
          <p:cNvPr id="5" name="Fußzeilenplatzhalter 4">
            <a:extLst>
              <a:ext uri="{FF2B5EF4-FFF2-40B4-BE49-F238E27FC236}">
                <a16:creationId xmlns:a16="http://schemas.microsoft.com/office/drawing/2014/main" id="{C041179C-B44B-0301-1CB8-88076C05C0F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58C57AD-498A-7458-A465-D8B85F3E67B5}"/>
              </a:ext>
            </a:extLst>
          </p:cNvPr>
          <p:cNvSpPr>
            <a:spLocks noGrp="1"/>
          </p:cNvSpPr>
          <p:nvPr>
            <p:ph type="sldNum" sz="quarter" idx="12"/>
          </p:nvPr>
        </p:nvSpPr>
        <p:spPr/>
        <p:txBody>
          <a:bodyPr/>
          <a:lstStyle/>
          <a:p>
            <a:fld id="{37F59D07-C377-43AF-8215-75E8E4DF2383}" type="slidenum">
              <a:rPr lang="de-DE" smtClean="0"/>
              <a:t>‹Nr.›</a:t>
            </a:fld>
            <a:endParaRPr lang="de-DE"/>
          </a:p>
        </p:txBody>
      </p:sp>
    </p:spTree>
    <p:extLst>
      <p:ext uri="{BB962C8B-B14F-4D97-AF65-F5344CB8AC3E}">
        <p14:creationId xmlns:p14="http://schemas.microsoft.com/office/powerpoint/2010/main" val="15703431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95762931-AAED-CEB8-4CF3-97B8989A671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p:blipFill>
        <p:spPr>
          <a:xfrm>
            <a:off x="3264" y="-2504"/>
            <a:ext cx="12185472" cy="3300232"/>
          </a:xfrm>
          <a:prstGeom prst="rect">
            <a:avLst/>
          </a:prstGeom>
        </p:spPr>
      </p:pic>
      <p:sp>
        <p:nvSpPr>
          <p:cNvPr id="2" name="Titelplatzhalter 1">
            <a:extLst>
              <a:ext uri="{FF2B5EF4-FFF2-40B4-BE49-F238E27FC236}">
                <a16:creationId xmlns:a16="http://schemas.microsoft.com/office/drawing/2014/main" id="{31D98915-9663-BA80-464C-26912F1FAD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62AA8FB3-F816-1C66-5AA2-782ABC50C0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034BE93-BADC-42BC-BC7E-BA567B4519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1EB538-394C-402B-89CE-C9696F10E11E}" type="datetime1">
              <a:rPr lang="de-DE" smtClean="0"/>
              <a:t>26.05.2025</a:t>
            </a:fld>
            <a:endParaRPr lang="de-DE"/>
          </a:p>
        </p:txBody>
      </p:sp>
      <p:sp>
        <p:nvSpPr>
          <p:cNvPr id="5" name="Fußzeilenplatzhalter 4">
            <a:extLst>
              <a:ext uri="{FF2B5EF4-FFF2-40B4-BE49-F238E27FC236}">
                <a16:creationId xmlns:a16="http://schemas.microsoft.com/office/drawing/2014/main" id="{B869A12D-5040-6157-8565-18A96815A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4467092F-3326-ACD3-C60F-288C77AEAD16}"/>
              </a:ext>
            </a:extLst>
          </p:cNvPr>
          <p:cNvSpPr>
            <a:spLocks noGrp="1"/>
          </p:cNvSpPr>
          <p:nvPr>
            <p:ph type="sldNum" sz="quarter" idx="4"/>
          </p:nvPr>
        </p:nvSpPr>
        <p:spPr>
          <a:xfrm>
            <a:off x="9240329" y="194364"/>
            <a:ext cx="2743200" cy="365125"/>
          </a:xfrm>
          <a:prstGeom prst="rect">
            <a:avLst/>
          </a:prstGeom>
        </p:spPr>
        <p:txBody>
          <a:bodyPr vert="horz" lIns="91440" tIns="45720" rIns="91440" bIns="45720" rtlCol="0" anchor="ctr"/>
          <a:lstStyle>
            <a:lvl1pPr algn="r">
              <a:defRPr sz="1200">
                <a:solidFill>
                  <a:schemeClr val="tx1"/>
                </a:solidFill>
              </a:defRPr>
            </a:lvl1pPr>
          </a:lstStyle>
          <a:p>
            <a:fld id="{37F59D07-C377-43AF-8215-75E8E4DF2383}" type="slidenum">
              <a:rPr lang="de-DE" smtClean="0"/>
              <a:pPr/>
              <a:t>‹Nr.›</a:t>
            </a:fld>
            <a:endParaRPr lang="de-DE" dirty="0"/>
          </a:p>
        </p:txBody>
      </p:sp>
    </p:spTree>
    <p:extLst>
      <p:ext uri="{BB962C8B-B14F-4D97-AF65-F5344CB8AC3E}">
        <p14:creationId xmlns:p14="http://schemas.microsoft.com/office/powerpoint/2010/main" val="915388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6.png"/><Relationship Id="rId5" Type="http://schemas.openxmlformats.org/officeDocument/2006/relationships/diagramQuickStyle" Target="../diagrams/quickStyle1.xml"/><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13" Type="http://schemas.openxmlformats.org/officeDocument/2006/relationships/image" Target="../media/image181.png"/><Relationship Id="rId3" Type="http://schemas.openxmlformats.org/officeDocument/2006/relationships/image" Target="../media/image18.png"/><Relationship Id="rId12"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11" Type="http://schemas.openxmlformats.org/officeDocument/2006/relationships/image" Target="../media/image19.png"/><Relationship Id="rId10" Type="http://schemas.openxmlformats.org/officeDocument/2006/relationships/image" Target="../media/image190.png"/><Relationship Id="rId4" Type="http://schemas.openxmlformats.org/officeDocument/2006/relationships/image" Target="../media/image11.png"/><Relationship Id="rId9" Type="http://schemas.openxmlformats.org/officeDocument/2006/relationships/image" Target="../media/image180.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1.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051/0004-6361/202140989" TargetMode="External"/><Relationship Id="rId13" Type="http://schemas.openxmlformats.org/officeDocument/2006/relationships/hyperlink" Target="https://www.nasa.gov/missions/neowise/caught-in-the-act-astronomers-detect-a-star-devouring-a-planet/" TargetMode="External"/><Relationship Id="rId3" Type="http://schemas.openxmlformats.org/officeDocument/2006/relationships/hyperlink" Target="https://arxiv.org/abs/0802.3371" TargetMode="External"/><Relationship Id="rId7" Type="http://schemas.openxmlformats.org/officeDocument/2006/relationships/hyperlink" Target="https://zenodo.org/records/4299102" TargetMode="External"/><Relationship Id="rId12" Type="http://schemas.openxmlformats.org/officeDocument/2006/relationships/hyperlink" Target="https://ssd.jpl.nasa.gov/horizons/app.html" TargetMode="External"/><Relationship Id="rId2" Type="http://schemas.openxmlformats.org/officeDocument/2006/relationships/hyperlink" Target="https://arxiv.org/abs/2012.05177" TargetMode="External"/><Relationship Id="rId1" Type="http://schemas.openxmlformats.org/officeDocument/2006/relationships/slideLayout" Target="../slideLayouts/slideLayout2.xml"/><Relationship Id="rId6" Type="http://schemas.openxmlformats.org/officeDocument/2006/relationships/hyperlink" Target="https://arxiv.org/abs/0804.1946" TargetMode="External"/><Relationship Id="rId11" Type="http://schemas.openxmlformats.org/officeDocument/2006/relationships/hyperlink" Target="https://science.nasa.gov/solar-system/" TargetMode="External"/><Relationship Id="rId5" Type="http://schemas.openxmlformats.org/officeDocument/2006/relationships/hyperlink" Target="https://arxiv.org/abs/1506.01084" TargetMode="External"/><Relationship Id="rId10" Type="http://schemas.openxmlformats.org/officeDocument/2006/relationships/hyperlink" Target="https://eyes.nasa.gov/apps/solar-system/" TargetMode="External"/><Relationship Id="rId4" Type="http://schemas.openxmlformats.org/officeDocument/2006/relationships/hyperlink" Target="https://arxiv.org/abs/1209.5996" TargetMode="External"/><Relationship Id="rId9" Type="http://schemas.openxmlformats.org/officeDocument/2006/relationships/hyperlink" Target="https://orbital-mechanics.space/"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en.wikipedia.org/wiki/Lyapunov_time" TargetMode="External"/><Relationship Id="rId13" Type="http://schemas.openxmlformats.org/officeDocument/2006/relationships/hyperlink" Target="https://en.wikipedia.org/wiki/Numerical_integration" TargetMode="External"/><Relationship Id="rId18" Type="http://schemas.openxmlformats.org/officeDocument/2006/relationships/hyperlink" Target="https://en.wikipedia.org/wiki/Orbital_resonance" TargetMode="External"/><Relationship Id="rId3" Type="http://schemas.openxmlformats.org/officeDocument/2006/relationships/hyperlink" Target="https://astrodicticum-simplex.at/2008/04/chaos-im-sonnensystem" TargetMode="External"/><Relationship Id="rId7" Type="http://schemas.openxmlformats.org/officeDocument/2006/relationships/hyperlink" Target="https://en.wikipedia.org/wiki/Two-body_problemhttps:/en.wikipedia.org/wiki/Newton%27s_law_of_universal_gravitation" TargetMode="External"/><Relationship Id="rId12" Type="http://schemas.openxmlformats.org/officeDocument/2006/relationships/hyperlink" Target="https://en.wikipedia.org/wiki/Newton%27s_method" TargetMode="External"/><Relationship Id="rId17" Type="http://schemas.openxmlformats.org/officeDocument/2006/relationships/hyperlink" Target="https://en.wikipedia.org/wiki/Liouville%E2%80%93Arnold_theorem" TargetMode="External"/><Relationship Id="rId2" Type="http://schemas.openxmlformats.org/officeDocument/2006/relationships/hyperlink" Target="https://www.youtube.com/watch?v=WuuPoNZvThQ" TargetMode="External"/><Relationship Id="rId16" Type="http://schemas.openxmlformats.org/officeDocument/2006/relationships/hyperlink" Target="https://en.wikipedia.org/wiki/Three-body_problemhttps:/en.wikipedia.org/wiki/Liouville%E2%80%93Arnold_theorem" TargetMode="External"/><Relationship Id="rId20" Type="http://schemas.openxmlformats.org/officeDocument/2006/relationships/hyperlink" Target="https://en.wikipedia.org/wiki/Lagrange_point" TargetMode="External"/><Relationship Id="rId1" Type="http://schemas.openxmlformats.org/officeDocument/2006/relationships/slideLayout" Target="../slideLayouts/slideLayout2.xml"/><Relationship Id="rId6" Type="http://schemas.openxmlformats.org/officeDocument/2006/relationships/hyperlink" Target="https://rebound.readthedocs.io/en/latest/integrators/#whfast" TargetMode="External"/><Relationship Id="rId11" Type="http://schemas.openxmlformats.org/officeDocument/2006/relationships/hyperlink" Target="https://en.wikipedia.org/wiki/Orbit_equation" TargetMode="External"/><Relationship Id="rId5" Type="http://schemas.openxmlformats.org/officeDocument/2006/relationships/hyperlink" Target="https://www.weltderphysik.de/gebiet/universum/nachrichten/2020/planeten-auf-abwegen" TargetMode="External"/><Relationship Id="rId15" Type="http://schemas.openxmlformats.org/officeDocument/2006/relationships/hyperlink" Target="https://en.wikipedia.org/wiki/Three-body_problem" TargetMode="External"/><Relationship Id="rId10" Type="http://schemas.openxmlformats.org/officeDocument/2006/relationships/hyperlink" Target="https://en.wikipedia.org/wiki/Kepler%27s_equation" TargetMode="External"/><Relationship Id="rId19" Type="http://schemas.openxmlformats.org/officeDocument/2006/relationships/hyperlink" Target="https://en.wikipedia.org/wiki/Stability_of_the_Solar_System" TargetMode="External"/><Relationship Id="rId4" Type="http://schemas.openxmlformats.org/officeDocument/2006/relationships/hyperlink" Target="https://www.spektrum.de/kolumne/die-unberechenbaren-planeten/1682624" TargetMode="External"/><Relationship Id="rId9" Type="http://schemas.openxmlformats.org/officeDocument/2006/relationships/hyperlink" Target="https://en.wikipedia.org/wiki/Dormand%E2%80%93Prince_method" TargetMode="External"/><Relationship Id="rId14" Type="http://schemas.openxmlformats.org/officeDocument/2006/relationships/hyperlink" Target="https://en.wikipedia.org/wiki/Periodic_function"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zenodo.org/records/4299102" TargetMode="External"/><Relationship Id="rId3" Type="http://schemas.openxmlformats.org/officeDocument/2006/relationships/hyperlink" Target="https://commons.wikimedia.org/wiki/File:Jupiter_%28transparent%29.png" TargetMode="External"/><Relationship Id="rId7" Type="http://schemas.openxmlformats.org/officeDocument/2006/relationships/hyperlink" Target="https://arxiv.org/pdf/1209.5996" TargetMode="External"/><Relationship Id="rId2" Type="http://schemas.openxmlformats.org/officeDocument/2006/relationships/hyperlink" Target="https://skfb.ly/o6rP8" TargetMode="External"/><Relationship Id="rId1" Type="http://schemas.openxmlformats.org/officeDocument/2006/relationships/slideLayout" Target="../slideLayouts/slideLayout2.xml"/><Relationship Id="rId6" Type="http://schemas.openxmlformats.org/officeDocument/2006/relationships/hyperlink" Target="https://static.vecteezy.com/system/resources/previews/023/575/361/non_2x/the-image-features-a-highly-realistic-depiction-of-an-asteroid-floating-against-a-transparent-background-allowing-for-a-clear-view-of-its-rugged-cratered-surface-generative-ai-png.png" TargetMode="External"/><Relationship Id="rId11" Type="http://schemas.openxmlformats.org/officeDocument/2006/relationships/hyperlink" Target="https://www.spektrum.de/news/asteroidenguertel-um-sonne-gesteinsbrocken-zwischen-jupiter-und-mars/982787" TargetMode="External"/><Relationship Id="rId5" Type="http://schemas.openxmlformats.org/officeDocument/2006/relationships/hyperlink" Target="https://thesolarsystem.fandom.com/wiki/Ceres?file=CeresFrontReal.png" TargetMode="External"/><Relationship Id="rId10" Type="http://schemas.openxmlformats.org/officeDocument/2006/relationships/hyperlink" Target="https://www.studysmarter.de/schule/physik/astronomie/sonne/" TargetMode="External"/><Relationship Id="rId4" Type="http://schemas.openxmlformats.org/officeDocument/2006/relationships/hyperlink" Target="https://static.vecteezy.com/system/resources/thumbnails/017/785/725/small_2x/full-moon-isolated-on-transparent-background-png.png" TargetMode="External"/><Relationship Id="rId9" Type="http://schemas.openxmlformats.org/officeDocument/2006/relationships/hyperlink" Target="https://arxiv.org/pdf/0802.3371"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arxiv.org/pdf/1209.5996" TargetMode="External"/><Relationship Id="rId13" Type="http://schemas.openxmlformats.org/officeDocument/2006/relationships/hyperlink" Target="https://www.studysmarter.de/schule/physik/astronomie/sonne/" TargetMode="External"/><Relationship Id="rId3" Type="http://schemas.openxmlformats.org/officeDocument/2006/relationships/hyperlink" Target="https://skfb.ly/o6rP8" TargetMode="External"/><Relationship Id="rId7" Type="http://schemas.openxmlformats.org/officeDocument/2006/relationships/hyperlink" Target="https://static.vecteezy.com/system/resources/previews/023/575/361/non_2x/the-image-features-a-highly-realistic-depiction-of-an-asteroid-floating-against-a-transparent-background-allowing-for-a-clear-view-of-its-rugged-cratered-surface-generative-ai-png.png" TargetMode="External"/><Relationship Id="rId12" Type="http://schemas.openxmlformats.org/officeDocument/2006/relationships/hyperlink" Target="https://www.nationalgeographic.de/photography/2024/12/hoellische-zwillinge-und-eisige-welten-farbenfrohe-aufnahmen-unserer-planeten"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thesolarsystem.fandom.com/wiki/Ceres?file=CeresFrontReal.png" TargetMode="External"/><Relationship Id="rId11" Type="http://schemas.openxmlformats.org/officeDocument/2006/relationships/hyperlink" Target="https://de.wikipedia.org/wiki/Jupiter_%28Planet%29#/media/Datei:Jupiter_OPAL_2024_(cropped).png" TargetMode="External"/><Relationship Id="rId5" Type="http://schemas.openxmlformats.org/officeDocument/2006/relationships/hyperlink" Target="https://static.vecteezy.com/system/resources/thumbnails/017/785/725/small_2x/full-moon-isolated-on-transparent-background-png.png" TargetMode="External"/><Relationship Id="rId10" Type="http://schemas.openxmlformats.org/officeDocument/2006/relationships/hyperlink" Target="https://arxiv.org/pdf/0802.3371" TargetMode="External"/><Relationship Id="rId4" Type="http://schemas.openxmlformats.org/officeDocument/2006/relationships/hyperlink" Target="https://commons.wikimedia.org/wiki/File:Jupiter_%28transparent%29.png" TargetMode="External"/><Relationship Id="rId9" Type="http://schemas.openxmlformats.org/officeDocument/2006/relationships/hyperlink" Target="https://zenodo.org/records/4299102" TargetMode="External"/><Relationship Id="rId14" Type="http://schemas.openxmlformats.org/officeDocument/2006/relationships/hyperlink" Target="https://www.spektrum.de/news/asteroidenguertel-um-sonne-gesteinsbrocken-zwischen-jupiter-und-mars/98278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erader Verbinder 5">
            <a:extLst>
              <a:ext uri="{FF2B5EF4-FFF2-40B4-BE49-F238E27FC236}">
                <a16:creationId xmlns:a16="http://schemas.microsoft.com/office/drawing/2014/main" id="{CC591561-2F09-A3B3-40C8-E7E7D49B74F3}"/>
              </a:ext>
            </a:extLst>
          </p:cNvPr>
          <p:cNvCxnSpPr>
            <a:cxnSpLocks/>
          </p:cNvCxnSpPr>
          <p:nvPr/>
        </p:nvCxnSpPr>
        <p:spPr>
          <a:xfrm>
            <a:off x="1505533" y="0"/>
            <a:ext cx="0" cy="6860504"/>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8" name="Gerader Verbinder 7">
            <a:extLst>
              <a:ext uri="{FF2B5EF4-FFF2-40B4-BE49-F238E27FC236}">
                <a16:creationId xmlns:a16="http://schemas.microsoft.com/office/drawing/2014/main" id="{37D108CE-B5E7-4C16-41D1-9E617F3CCCEC}"/>
              </a:ext>
            </a:extLst>
          </p:cNvPr>
          <p:cNvCxnSpPr>
            <a:cxnSpLocks/>
          </p:cNvCxnSpPr>
          <p:nvPr/>
        </p:nvCxnSpPr>
        <p:spPr>
          <a:xfrm>
            <a:off x="10667997" y="-2504"/>
            <a:ext cx="0" cy="6860504"/>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9" name="Gerader Verbinder 8">
            <a:extLst>
              <a:ext uri="{FF2B5EF4-FFF2-40B4-BE49-F238E27FC236}">
                <a16:creationId xmlns:a16="http://schemas.microsoft.com/office/drawing/2014/main" id="{61055467-C4A9-4472-A017-6C99B55FF8FA}"/>
              </a:ext>
            </a:extLst>
          </p:cNvPr>
          <p:cNvCxnSpPr>
            <a:cxnSpLocks/>
          </p:cNvCxnSpPr>
          <p:nvPr/>
        </p:nvCxnSpPr>
        <p:spPr>
          <a:xfrm>
            <a:off x="0" y="1425936"/>
            <a:ext cx="12185472" cy="0"/>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12" name="Gerader Verbinder 11">
            <a:extLst>
              <a:ext uri="{FF2B5EF4-FFF2-40B4-BE49-F238E27FC236}">
                <a16:creationId xmlns:a16="http://schemas.microsoft.com/office/drawing/2014/main" id="{8E885635-AECF-1F88-854B-3A4D1A75730B}"/>
              </a:ext>
            </a:extLst>
          </p:cNvPr>
          <p:cNvCxnSpPr>
            <a:cxnSpLocks/>
          </p:cNvCxnSpPr>
          <p:nvPr/>
        </p:nvCxnSpPr>
        <p:spPr>
          <a:xfrm>
            <a:off x="6528" y="5432064"/>
            <a:ext cx="12185472" cy="0"/>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sp>
        <p:nvSpPr>
          <p:cNvPr id="4" name="Textfeld 3">
            <a:extLst>
              <a:ext uri="{FF2B5EF4-FFF2-40B4-BE49-F238E27FC236}">
                <a16:creationId xmlns:a16="http://schemas.microsoft.com/office/drawing/2014/main" id="{6630A8C8-F74D-4F4F-EDC5-3CE1273B8417}"/>
              </a:ext>
            </a:extLst>
          </p:cNvPr>
          <p:cNvSpPr txBox="1"/>
          <p:nvPr/>
        </p:nvSpPr>
        <p:spPr>
          <a:xfrm>
            <a:off x="2033888" y="6042887"/>
            <a:ext cx="8130752" cy="276999"/>
          </a:xfrm>
          <a:prstGeom prst="rect">
            <a:avLst/>
          </a:prstGeom>
          <a:noFill/>
        </p:spPr>
        <p:txBody>
          <a:bodyPr wrap="none" rtlCol="0">
            <a:spAutoFit/>
          </a:bodyPr>
          <a:lstStyle/>
          <a:p>
            <a:pPr algn="ctr"/>
            <a:r>
              <a:rPr lang="de-DE" sz="1200" dirty="0"/>
              <a:t>Referent: Leander Riefel / Betreuende Lehrkraft: Herr Weber / Referenzfach: Physik / Begleitfach: Informatik</a:t>
            </a:r>
          </a:p>
        </p:txBody>
      </p:sp>
      <p:pic>
        <p:nvPicPr>
          <p:cNvPr id="7" name="Grafik 6">
            <a:extLst>
              <a:ext uri="{FF2B5EF4-FFF2-40B4-BE49-F238E27FC236}">
                <a16:creationId xmlns:a16="http://schemas.microsoft.com/office/drawing/2014/main" id="{B8257AD3-EF61-D13A-FF4F-3E6CC3676824}"/>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a:stretch/>
        </p:blipFill>
        <p:spPr>
          <a:xfrm>
            <a:off x="0" y="-5428393"/>
            <a:ext cx="12185471" cy="13708654"/>
          </a:xfrm>
          <a:prstGeom prst="rect">
            <a:avLst/>
          </a:prstGeom>
        </p:spPr>
      </p:pic>
      <p:sp>
        <p:nvSpPr>
          <p:cNvPr id="2" name="Titel 1">
            <a:extLst>
              <a:ext uri="{FF2B5EF4-FFF2-40B4-BE49-F238E27FC236}">
                <a16:creationId xmlns:a16="http://schemas.microsoft.com/office/drawing/2014/main" id="{CB330773-8E01-17A3-160E-2A52C29DBBC6}"/>
              </a:ext>
            </a:extLst>
          </p:cNvPr>
          <p:cNvSpPr>
            <a:spLocks noGrp="1"/>
          </p:cNvSpPr>
          <p:nvPr>
            <p:ph type="ctrTitle"/>
          </p:nvPr>
        </p:nvSpPr>
        <p:spPr>
          <a:xfrm>
            <a:off x="1524000" y="2115129"/>
            <a:ext cx="9144000" cy="1645836"/>
          </a:xfrm>
        </p:spPr>
        <p:txBody>
          <a:bodyPr>
            <a:normAutofit/>
          </a:bodyPr>
          <a:lstStyle/>
          <a:p>
            <a:r>
              <a:rPr lang="de-DE" sz="5400" spc="300" dirty="0"/>
              <a:t>Die Zukunft unseres Sonnensystems</a:t>
            </a:r>
          </a:p>
        </p:txBody>
      </p:sp>
      <p:sp>
        <p:nvSpPr>
          <p:cNvPr id="3" name="Untertitel 2">
            <a:extLst>
              <a:ext uri="{FF2B5EF4-FFF2-40B4-BE49-F238E27FC236}">
                <a16:creationId xmlns:a16="http://schemas.microsoft.com/office/drawing/2014/main" id="{D30B995D-74C9-6C31-8B43-2A317F7F4B5B}"/>
              </a:ext>
            </a:extLst>
          </p:cNvPr>
          <p:cNvSpPr>
            <a:spLocks noGrp="1"/>
          </p:cNvSpPr>
          <p:nvPr>
            <p:ph type="subTitle" idx="1"/>
          </p:nvPr>
        </p:nvSpPr>
        <p:spPr>
          <a:xfrm>
            <a:off x="1524000" y="4196157"/>
            <a:ext cx="9144000" cy="477441"/>
          </a:xfrm>
        </p:spPr>
        <p:txBody>
          <a:bodyPr>
            <a:normAutofit/>
          </a:bodyPr>
          <a:lstStyle/>
          <a:p>
            <a:r>
              <a:rPr lang="de-DE" sz="2800" dirty="0"/>
              <a:t>Wo liegen die Grenzen der Vorhersagbarkeit? </a:t>
            </a:r>
          </a:p>
        </p:txBody>
      </p:sp>
      <p:sp>
        <p:nvSpPr>
          <p:cNvPr id="5" name="Textfeld 4">
            <a:extLst>
              <a:ext uri="{FF2B5EF4-FFF2-40B4-BE49-F238E27FC236}">
                <a16:creationId xmlns:a16="http://schemas.microsoft.com/office/drawing/2014/main" id="{671EBCC0-7B06-CCE2-B0E0-A3C4EA3186A0}"/>
              </a:ext>
            </a:extLst>
          </p:cNvPr>
          <p:cNvSpPr txBox="1"/>
          <p:nvPr/>
        </p:nvSpPr>
        <p:spPr>
          <a:xfrm>
            <a:off x="141061" y="605939"/>
            <a:ext cx="1223412" cy="261610"/>
          </a:xfrm>
          <a:prstGeom prst="rect">
            <a:avLst/>
          </a:prstGeom>
          <a:noFill/>
        </p:spPr>
        <p:txBody>
          <a:bodyPr wrap="none" rtlCol="0">
            <a:spAutoFit/>
          </a:bodyPr>
          <a:lstStyle/>
          <a:p>
            <a:r>
              <a:rPr lang="de-DE" sz="1100" dirty="0">
                <a:solidFill>
                  <a:schemeClr val="bg1">
                    <a:lumMod val="50000"/>
                  </a:schemeClr>
                </a:solidFill>
              </a:rPr>
              <a:t>Abb. 0: Titelbild</a:t>
            </a:r>
          </a:p>
        </p:txBody>
      </p:sp>
    </p:spTree>
    <p:extLst>
      <p:ext uri="{BB962C8B-B14F-4D97-AF65-F5344CB8AC3E}">
        <p14:creationId xmlns:p14="http://schemas.microsoft.com/office/powerpoint/2010/main" val="4282994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BEF2E551-A063-921B-E239-F8800C738316}"/>
              </a:ext>
            </a:extLst>
          </p:cNvPr>
          <p:cNvSpPr/>
          <p:nvPr/>
        </p:nvSpPr>
        <p:spPr>
          <a:xfrm>
            <a:off x="-2" y="690376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E225D698-B600-68E3-E1BE-9705BBE9010F}"/>
              </a:ext>
            </a:extLst>
          </p:cNvPr>
          <p:cNvSpPr/>
          <p:nvPr/>
        </p:nvSpPr>
        <p:spPr>
          <a:xfrm>
            <a:off x="2033999" y="6907750"/>
            <a:ext cx="1014494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07213B77-360E-BF42-658B-376F5F0F063A}"/>
              </a:ext>
            </a:extLst>
          </p:cNvPr>
          <p:cNvCxnSpPr>
            <a:cxnSpLocks/>
          </p:cNvCxnSpPr>
          <p:nvPr/>
        </p:nvCxnSpPr>
        <p:spPr>
          <a:xfrm>
            <a:off x="-47620" y="0"/>
            <a:ext cx="0" cy="6860504"/>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6" name="Gerader Verbinder 5">
            <a:extLst>
              <a:ext uri="{FF2B5EF4-FFF2-40B4-BE49-F238E27FC236}">
                <a16:creationId xmlns:a16="http://schemas.microsoft.com/office/drawing/2014/main" id="{909E7601-A836-A4FA-760B-FC2A6CDE0B00}"/>
              </a:ext>
            </a:extLst>
          </p:cNvPr>
          <p:cNvCxnSpPr>
            <a:cxnSpLocks/>
          </p:cNvCxnSpPr>
          <p:nvPr/>
        </p:nvCxnSpPr>
        <p:spPr>
          <a:xfrm>
            <a:off x="12230675" y="-2504"/>
            <a:ext cx="0" cy="6860504"/>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7" name="Gerader Verbinder 6">
            <a:extLst>
              <a:ext uri="{FF2B5EF4-FFF2-40B4-BE49-F238E27FC236}">
                <a16:creationId xmlns:a16="http://schemas.microsoft.com/office/drawing/2014/main" id="{1F60E04A-33A2-F7C9-6D76-46CA63A66C10}"/>
              </a:ext>
            </a:extLst>
          </p:cNvPr>
          <p:cNvCxnSpPr>
            <a:cxnSpLocks/>
          </p:cNvCxnSpPr>
          <p:nvPr/>
        </p:nvCxnSpPr>
        <p:spPr>
          <a:xfrm>
            <a:off x="0" y="-42070"/>
            <a:ext cx="12185472" cy="0"/>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8" name="Gerader Verbinder 7">
            <a:extLst>
              <a:ext uri="{FF2B5EF4-FFF2-40B4-BE49-F238E27FC236}">
                <a16:creationId xmlns:a16="http://schemas.microsoft.com/office/drawing/2014/main" id="{0F254ABA-AF3F-C350-8A35-C9BB3B4C80CA}"/>
              </a:ext>
            </a:extLst>
          </p:cNvPr>
          <p:cNvCxnSpPr>
            <a:cxnSpLocks/>
          </p:cNvCxnSpPr>
          <p:nvPr/>
        </p:nvCxnSpPr>
        <p:spPr>
          <a:xfrm>
            <a:off x="6528" y="6899492"/>
            <a:ext cx="12185472" cy="0"/>
          </a:xfrm>
          <a:prstGeom prst="line">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cxnSp>
      <p:sp>
        <p:nvSpPr>
          <p:cNvPr id="9" name="Rechteck 8">
            <a:extLst>
              <a:ext uri="{FF2B5EF4-FFF2-40B4-BE49-F238E27FC236}">
                <a16:creationId xmlns:a16="http://schemas.microsoft.com/office/drawing/2014/main" id="{50F93B65-37C3-13B6-C723-15D5CDA7D906}"/>
              </a:ext>
            </a:extLst>
          </p:cNvPr>
          <p:cNvSpPr/>
          <p:nvPr/>
        </p:nvSpPr>
        <p:spPr>
          <a:xfrm>
            <a:off x="-1"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10" name="Rechteck 9">
            <a:extLst>
              <a:ext uri="{FF2B5EF4-FFF2-40B4-BE49-F238E27FC236}">
                <a16:creationId xmlns:a16="http://schemas.microsoft.com/office/drawing/2014/main" id="{08F65D6C-7A4A-F1C9-41C9-071422203A33}"/>
              </a:ext>
            </a:extLst>
          </p:cNvPr>
          <p:cNvSpPr/>
          <p:nvPr/>
        </p:nvSpPr>
        <p:spPr>
          <a:xfrm>
            <a:off x="2033999"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11" name="Rechteck 10">
            <a:extLst>
              <a:ext uri="{FF2B5EF4-FFF2-40B4-BE49-F238E27FC236}">
                <a16:creationId xmlns:a16="http://schemas.microsoft.com/office/drawing/2014/main" id="{51F09E79-F841-2793-D445-39939B17716D}"/>
              </a:ext>
            </a:extLst>
          </p:cNvPr>
          <p:cNvSpPr/>
          <p:nvPr/>
        </p:nvSpPr>
        <p:spPr>
          <a:xfrm>
            <a:off x="4061999"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12" name="Rechteck 11">
            <a:extLst>
              <a:ext uri="{FF2B5EF4-FFF2-40B4-BE49-F238E27FC236}">
                <a16:creationId xmlns:a16="http://schemas.microsoft.com/office/drawing/2014/main" id="{0A9FF895-FA49-4E14-4611-B3AF87D47498}"/>
              </a:ext>
            </a:extLst>
          </p:cNvPr>
          <p:cNvSpPr/>
          <p:nvPr/>
        </p:nvSpPr>
        <p:spPr>
          <a:xfrm>
            <a:off x="6095999"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13" name="Rechteck 12">
            <a:extLst>
              <a:ext uri="{FF2B5EF4-FFF2-40B4-BE49-F238E27FC236}">
                <a16:creationId xmlns:a16="http://schemas.microsoft.com/office/drawing/2014/main" id="{DB482A51-36E0-04A0-A253-2814B2F8814A}"/>
              </a:ext>
            </a:extLst>
          </p:cNvPr>
          <p:cNvSpPr/>
          <p:nvPr/>
        </p:nvSpPr>
        <p:spPr>
          <a:xfrm>
            <a:off x="8124000"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14" name="Rechteck 13">
            <a:extLst>
              <a:ext uri="{FF2B5EF4-FFF2-40B4-BE49-F238E27FC236}">
                <a16:creationId xmlns:a16="http://schemas.microsoft.com/office/drawing/2014/main" id="{51C2B1A7-5EB5-F4B7-50AA-E80F2CE08210}"/>
              </a:ext>
            </a:extLst>
          </p:cNvPr>
          <p:cNvSpPr/>
          <p:nvPr/>
        </p:nvSpPr>
        <p:spPr>
          <a:xfrm>
            <a:off x="10158000" y="691698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cxnSp>
        <p:nvCxnSpPr>
          <p:cNvPr id="20" name="Gerader Verbinder 19">
            <a:extLst>
              <a:ext uri="{FF2B5EF4-FFF2-40B4-BE49-F238E27FC236}">
                <a16:creationId xmlns:a16="http://schemas.microsoft.com/office/drawing/2014/main" id="{D817D8B3-94C3-1786-D5C0-E2DC5A7CEDB7}"/>
              </a:ext>
            </a:extLst>
          </p:cNvPr>
          <p:cNvCxnSpPr>
            <a:cxnSpLocks/>
          </p:cNvCxnSpPr>
          <p:nvPr/>
        </p:nvCxnSpPr>
        <p:spPr>
          <a:xfrm>
            <a:off x="0" y="69006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3" name="Titel 2">
            <a:extLst>
              <a:ext uri="{FF2B5EF4-FFF2-40B4-BE49-F238E27FC236}">
                <a16:creationId xmlns:a16="http://schemas.microsoft.com/office/drawing/2014/main" id="{673AF6B8-88D5-BA37-94EF-0ECCE41A23C3}"/>
              </a:ext>
            </a:extLst>
          </p:cNvPr>
          <p:cNvSpPr>
            <a:spLocks noGrp="1"/>
          </p:cNvSpPr>
          <p:nvPr>
            <p:ph type="title"/>
          </p:nvPr>
        </p:nvSpPr>
        <p:spPr>
          <a:xfrm>
            <a:off x="4525019" y="385109"/>
            <a:ext cx="3133018" cy="1009563"/>
          </a:xfrm>
        </p:spPr>
        <p:txBody>
          <a:bodyPr/>
          <a:lstStyle/>
          <a:p>
            <a:r>
              <a:rPr lang="de-DE" dirty="0"/>
              <a:t>Gliederung</a:t>
            </a:r>
          </a:p>
        </p:txBody>
      </p:sp>
      <p:sp>
        <p:nvSpPr>
          <p:cNvPr id="21" name="Textfeld 20">
            <a:extLst>
              <a:ext uri="{FF2B5EF4-FFF2-40B4-BE49-F238E27FC236}">
                <a16:creationId xmlns:a16="http://schemas.microsoft.com/office/drawing/2014/main" id="{09679910-A4FA-41D3-2AE7-ABA38BF1D5B3}"/>
              </a:ext>
            </a:extLst>
          </p:cNvPr>
          <p:cNvSpPr txBox="1"/>
          <p:nvPr/>
        </p:nvSpPr>
        <p:spPr>
          <a:xfrm>
            <a:off x="894153" y="7682998"/>
            <a:ext cx="10410222" cy="338554"/>
          </a:xfrm>
          <a:prstGeom prst="rect">
            <a:avLst/>
          </a:prstGeom>
          <a:noFill/>
        </p:spPr>
        <p:txBody>
          <a:bodyPr wrap="none" rtlCol="0">
            <a:spAutoFit/>
          </a:bodyPr>
          <a:lstStyle/>
          <a:p>
            <a:pPr algn="ctr"/>
            <a:r>
              <a:rPr lang="de-DE" sz="1600" dirty="0"/>
              <a:t>Referent: Leander Riefel / Betreuende Lehrkraft: Herr Weber / Hauptfach: Physik / Nebenfach: Informatik</a:t>
            </a:r>
          </a:p>
        </p:txBody>
      </p:sp>
      <p:graphicFrame>
        <p:nvGraphicFramePr>
          <p:cNvPr id="24" name="Diagramm 23">
            <a:extLst>
              <a:ext uri="{FF2B5EF4-FFF2-40B4-BE49-F238E27FC236}">
                <a16:creationId xmlns:a16="http://schemas.microsoft.com/office/drawing/2014/main" id="{20A67BEC-8872-49AF-FA75-9768128FACE0}"/>
              </a:ext>
            </a:extLst>
          </p:cNvPr>
          <p:cNvGraphicFramePr/>
          <p:nvPr>
            <p:extLst>
              <p:ext uri="{D42A27DB-BD31-4B8C-83A1-F6EECF244321}">
                <p14:modId xmlns:p14="http://schemas.microsoft.com/office/powerpoint/2010/main" val="3642575101"/>
              </p:ext>
            </p:extLst>
          </p:nvPr>
        </p:nvGraphicFramePr>
        <p:xfrm>
          <a:off x="560177" y="1821566"/>
          <a:ext cx="11078173" cy="46510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fik 1" descr="Ein Bild, das Mond, Natur, Astronomisches Objekt, Astronomisches Ereignis enthält.">
            <a:extLst>
              <a:ext uri="{FF2B5EF4-FFF2-40B4-BE49-F238E27FC236}">
                <a16:creationId xmlns:a16="http://schemas.microsoft.com/office/drawing/2014/main" id="{0227E89A-999C-63AD-044A-5482154A4391}"/>
              </a:ext>
            </a:extLst>
          </p:cNvPr>
          <p:cNvPicPr>
            <a:picLocks noChangeAspect="1"/>
          </p:cNvPicPr>
          <p:nvPr/>
        </p:nvPicPr>
        <p:blipFill>
          <a:blip r:embed="rId8">
            <a:extLst>
              <a:ext uri="{28A0092B-C50C-407E-A947-70E740481C1C}">
                <a14:useLocalDpi xmlns:a14="http://schemas.microsoft.com/office/drawing/2010/main" val="0"/>
              </a:ext>
            </a:extLst>
          </a:blip>
          <a:srcRect l="10904" r="10355" b="5409"/>
          <a:stretch>
            <a:fillRect/>
          </a:stretch>
        </p:blipFill>
        <p:spPr>
          <a:xfrm>
            <a:off x="12623801" y="406392"/>
            <a:ext cx="1269997" cy="1308108"/>
          </a:xfrm>
          <a:prstGeom prst="ellipse">
            <a:avLst/>
          </a:prstGeom>
        </p:spPr>
      </p:pic>
      <p:sp>
        <p:nvSpPr>
          <p:cNvPr id="4" name="Textfeld 3">
            <a:extLst>
              <a:ext uri="{FF2B5EF4-FFF2-40B4-BE49-F238E27FC236}">
                <a16:creationId xmlns:a16="http://schemas.microsoft.com/office/drawing/2014/main" id="{88D8CE81-7566-68B9-3C56-58E9F53A0F5D}"/>
              </a:ext>
            </a:extLst>
          </p:cNvPr>
          <p:cNvSpPr txBox="1"/>
          <p:nvPr/>
        </p:nvSpPr>
        <p:spPr>
          <a:xfrm>
            <a:off x="14801446" y="-186181"/>
            <a:ext cx="2018501" cy="369332"/>
          </a:xfrm>
          <a:prstGeom prst="rect">
            <a:avLst/>
          </a:prstGeom>
          <a:noFill/>
        </p:spPr>
        <p:txBody>
          <a:bodyPr wrap="none" rtlCol="0">
            <a:spAutoFit/>
          </a:bodyPr>
          <a:lstStyle/>
          <a:p>
            <a:r>
              <a:rPr lang="de-DE" dirty="0"/>
              <a:t>5 Zwergplaneten</a:t>
            </a:r>
          </a:p>
        </p:txBody>
      </p:sp>
      <p:cxnSp>
        <p:nvCxnSpPr>
          <p:cNvPr id="16" name="Gerader Verbinder 15">
            <a:extLst>
              <a:ext uri="{FF2B5EF4-FFF2-40B4-BE49-F238E27FC236}">
                <a16:creationId xmlns:a16="http://schemas.microsoft.com/office/drawing/2014/main" id="{5477FAE3-E757-0B72-B1BC-9790223FBCC6}"/>
              </a:ext>
            </a:extLst>
          </p:cNvPr>
          <p:cNvCxnSpPr>
            <a:cxnSpLocks/>
          </p:cNvCxnSpPr>
          <p:nvPr/>
        </p:nvCxnSpPr>
        <p:spPr>
          <a:xfrm flipV="1">
            <a:off x="13991421" y="287937"/>
            <a:ext cx="1020550" cy="491761"/>
          </a:xfrm>
          <a:prstGeom prst="line">
            <a:avLst/>
          </a:prstGeom>
        </p:spPr>
        <p:style>
          <a:lnRef idx="2">
            <a:schemeClr val="dk1"/>
          </a:lnRef>
          <a:fillRef idx="0">
            <a:schemeClr val="dk1"/>
          </a:fillRef>
          <a:effectRef idx="1">
            <a:schemeClr val="dk1"/>
          </a:effectRef>
          <a:fontRef idx="minor">
            <a:schemeClr val="tx1"/>
          </a:fontRef>
        </p:style>
      </p:cxnSp>
      <p:pic>
        <p:nvPicPr>
          <p:cNvPr id="18" name="Grafik 17" descr="Ein Bild, das Natur, Mond, Krater, Astronomie enthält.&#10;&#10;KI-generierte Inhalte können fehlerhaft sein.">
            <a:extLst>
              <a:ext uri="{FF2B5EF4-FFF2-40B4-BE49-F238E27FC236}">
                <a16:creationId xmlns:a16="http://schemas.microsoft.com/office/drawing/2014/main" id="{EC01FDB6-EBF5-E414-2D6F-B765B4A40F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656416" flipH="1" flipV="1">
            <a:off x="12517372" y="6863167"/>
            <a:ext cx="804170" cy="536113"/>
          </a:xfrm>
          <a:prstGeom prst="rect">
            <a:avLst/>
          </a:prstGeom>
        </p:spPr>
      </p:pic>
      <p:pic>
        <p:nvPicPr>
          <p:cNvPr id="19" name="Grafik 18" descr="Ein Bild, das Natur, Mond, Krater, Astronomie enthält.&#10;&#10;KI-generierte Inhalte können fehlerhaft sein.">
            <a:extLst>
              <a:ext uri="{FF2B5EF4-FFF2-40B4-BE49-F238E27FC236}">
                <a16:creationId xmlns:a16="http://schemas.microsoft.com/office/drawing/2014/main" id="{9D03C297-2BD7-C5EE-A02E-8A95233C26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516241" y="6164777"/>
            <a:ext cx="906762" cy="604508"/>
          </a:xfrm>
          <a:prstGeom prst="rect">
            <a:avLst/>
          </a:prstGeom>
        </p:spPr>
      </p:pic>
      <p:pic>
        <p:nvPicPr>
          <p:cNvPr id="22" name="Grafik 21" descr="Ein Bild, das Natur, Mond, Krater, Astronomie enthält.&#10;&#10;KI-generierte Inhalte können fehlerhaft sein.">
            <a:extLst>
              <a:ext uri="{FF2B5EF4-FFF2-40B4-BE49-F238E27FC236}">
                <a16:creationId xmlns:a16="http://schemas.microsoft.com/office/drawing/2014/main" id="{B1D4A0D6-C571-2F68-23C0-547F6955AB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761888" flipH="1">
            <a:off x="13070189" y="6656528"/>
            <a:ext cx="849248" cy="540368"/>
          </a:xfrm>
          <a:prstGeom prst="rect">
            <a:avLst/>
          </a:prstGeom>
        </p:spPr>
      </p:pic>
      <p:sp>
        <p:nvSpPr>
          <p:cNvPr id="23" name="Textfeld 22">
            <a:extLst>
              <a:ext uri="{FF2B5EF4-FFF2-40B4-BE49-F238E27FC236}">
                <a16:creationId xmlns:a16="http://schemas.microsoft.com/office/drawing/2014/main" id="{CE94259D-0DED-0FEA-D09C-D2BAD8432398}"/>
              </a:ext>
            </a:extLst>
          </p:cNvPr>
          <p:cNvSpPr txBox="1"/>
          <p:nvPr/>
        </p:nvSpPr>
        <p:spPr>
          <a:xfrm>
            <a:off x="15022648" y="6919224"/>
            <a:ext cx="3111749" cy="646331"/>
          </a:xfrm>
          <a:prstGeom prst="rect">
            <a:avLst/>
          </a:prstGeom>
          <a:noFill/>
        </p:spPr>
        <p:txBody>
          <a:bodyPr wrap="none" rtlCol="0">
            <a:spAutoFit/>
          </a:bodyPr>
          <a:lstStyle/>
          <a:p>
            <a:r>
              <a:rPr lang="de-DE" dirty="0"/>
              <a:t>ca. 1,4 Millionen Asteroiden</a:t>
            </a:r>
            <a:br>
              <a:rPr lang="de-DE" dirty="0"/>
            </a:br>
            <a:r>
              <a:rPr lang="de-DE" dirty="0"/>
              <a:t>ca. 4000 Kometen</a:t>
            </a:r>
          </a:p>
        </p:txBody>
      </p:sp>
      <p:cxnSp>
        <p:nvCxnSpPr>
          <p:cNvPr id="25" name="Gerader Verbinder 24">
            <a:extLst>
              <a:ext uri="{FF2B5EF4-FFF2-40B4-BE49-F238E27FC236}">
                <a16:creationId xmlns:a16="http://schemas.microsoft.com/office/drawing/2014/main" id="{F381F2BE-CF6C-5ECD-CAD3-CD261475CCD4}"/>
              </a:ext>
            </a:extLst>
          </p:cNvPr>
          <p:cNvCxnSpPr>
            <a:cxnSpLocks/>
          </p:cNvCxnSpPr>
          <p:nvPr/>
        </p:nvCxnSpPr>
        <p:spPr>
          <a:xfrm>
            <a:off x="13990657" y="6977243"/>
            <a:ext cx="890568" cy="236357"/>
          </a:xfrm>
          <a:prstGeom prst="line">
            <a:avLst/>
          </a:prstGeom>
        </p:spPr>
        <p:style>
          <a:lnRef idx="2">
            <a:schemeClr val="dk1"/>
          </a:lnRef>
          <a:fillRef idx="0">
            <a:schemeClr val="dk1"/>
          </a:fillRef>
          <a:effectRef idx="1">
            <a:schemeClr val="dk1"/>
          </a:effectRef>
          <a:fontRef idx="minor">
            <a:schemeClr val="tx1"/>
          </a:fontRef>
        </p:style>
      </p:cxnSp>
      <p:pic>
        <p:nvPicPr>
          <p:cNvPr id="26" name="Grafik 25" descr="Ein Bild, das Astronomisches Objekt, Planet, Weltraum, Raum enthält.&#10;&#10;KI-generierte Inhalte können fehlerhaft sein.">
            <a:extLst>
              <a:ext uri="{FF2B5EF4-FFF2-40B4-BE49-F238E27FC236}">
                <a16:creationId xmlns:a16="http://schemas.microsoft.com/office/drawing/2014/main" id="{5E9E4248-CA6D-61C2-CA6A-9AE4777320D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884437">
            <a:off x="-2639227" y="1380968"/>
            <a:ext cx="2225504" cy="2225504"/>
          </a:xfrm>
          <a:prstGeom prst="rect">
            <a:avLst/>
          </a:prstGeom>
        </p:spPr>
      </p:pic>
      <p:sp>
        <p:nvSpPr>
          <p:cNvPr id="27" name="Textfeld 26">
            <a:extLst>
              <a:ext uri="{FF2B5EF4-FFF2-40B4-BE49-F238E27FC236}">
                <a16:creationId xmlns:a16="http://schemas.microsoft.com/office/drawing/2014/main" id="{36A44B97-1D22-8B5D-A875-70E5FBA73418}"/>
              </a:ext>
            </a:extLst>
          </p:cNvPr>
          <p:cNvSpPr txBox="1"/>
          <p:nvPr/>
        </p:nvSpPr>
        <p:spPr>
          <a:xfrm>
            <a:off x="-4808249" y="1175634"/>
            <a:ext cx="1354858" cy="369332"/>
          </a:xfrm>
          <a:prstGeom prst="rect">
            <a:avLst/>
          </a:prstGeom>
          <a:noFill/>
        </p:spPr>
        <p:txBody>
          <a:bodyPr wrap="none" rtlCol="0">
            <a:spAutoFit/>
          </a:bodyPr>
          <a:lstStyle/>
          <a:p>
            <a:r>
              <a:rPr lang="de-DE" dirty="0"/>
              <a:t>8 Planeten</a:t>
            </a:r>
          </a:p>
        </p:txBody>
      </p:sp>
      <p:cxnSp>
        <p:nvCxnSpPr>
          <p:cNvPr id="28" name="Gerader Verbinder 27">
            <a:extLst>
              <a:ext uri="{FF2B5EF4-FFF2-40B4-BE49-F238E27FC236}">
                <a16:creationId xmlns:a16="http://schemas.microsoft.com/office/drawing/2014/main" id="{37185F2B-6319-AE11-969A-8FFAAF482519}"/>
              </a:ext>
            </a:extLst>
          </p:cNvPr>
          <p:cNvCxnSpPr>
            <a:cxnSpLocks/>
          </p:cNvCxnSpPr>
          <p:nvPr/>
        </p:nvCxnSpPr>
        <p:spPr>
          <a:xfrm flipH="1" flipV="1">
            <a:off x="-3562350" y="1604567"/>
            <a:ext cx="917399" cy="338533"/>
          </a:xfrm>
          <a:prstGeom prst="line">
            <a:avLst/>
          </a:prstGeom>
        </p:spPr>
        <p:style>
          <a:lnRef idx="2">
            <a:schemeClr val="dk1"/>
          </a:lnRef>
          <a:fillRef idx="0">
            <a:schemeClr val="dk1"/>
          </a:fillRef>
          <a:effectRef idx="1">
            <a:schemeClr val="dk1"/>
          </a:effectRef>
          <a:fontRef idx="minor">
            <a:schemeClr val="tx1"/>
          </a:fontRef>
        </p:style>
      </p:cxnSp>
      <p:pic>
        <p:nvPicPr>
          <p:cNvPr id="29" name="Grafik 28" descr="Ein Bild, das Natur, Astronomisches Objekt, Kugel, Planet enthält.&#10;&#10;KI-generierte Inhalte können fehlerhaft sein.">
            <a:extLst>
              <a:ext uri="{FF2B5EF4-FFF2-40B4-BE49-F238E27FC236}">
                <a16:creationId xmlns:a16="http://schemas.microsoft.com/office/drawing/2014/main" id="{6A460DD4-EE90-EB43-5CA4-83346428B9A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44979" y="4362450"/>
            <a:ext cx="632180" cy="632180"/>
          </a:xfrm>
          <a:prstGeom prst="rect">
            <a:avLst/>
          </a:prstGeom>
        </p:spPr>
      </p:pic>
      <p:sp>
        <p:nvSpPr>
          <p:cNvPr id="30" name="Textfeld 29">
            <a:extLst>
              <a:ext uri="{FF2B5EF4-FFF2-40B4-BE49-F238E27FC236}">
                <a16:creationId xmlns:a16="http://schemas.microsoft.com/office/drawing/2014/main" id="{AA7B9957-2382-CFC3-3892-1D4D08D7D02F}"/>
              </a:ext>
            </a:extLst>
          </p:cNvPr>
          <p:cNvSpPr txBox="1"/>
          <p:nvPr/>
        </p:nvSpPr>
        <p:spPr>
          <a:xfrm>
            <a:off x="-3971105" y="5376019"/>
            <a:ext cx="1566454" cy="369332"/>
          </a:xfrm>
          <a:prstGeom prst="rect">
            <a:avLst/>
          </a:prstGeom>
          <a:noFill/>
        </p:spPr>
        <p:txBody>
          <a:bodyPr wrap="none" rtlCol="0">
            <a:spAutoFit/>
          </a:bodyPr>
          <a:lstStyle/>
          <a:p>
            <a:r>
              <a:rPr lang="de-DE" dirty="0"/>
              <a:t>300+ Monde</a:t>
            </a:r>
          </a:p>
        </p:txBody>
      </p:sp>
      <p:cxnSp>
        <p:nvCxnSpPr>
          <p:cNvPr id="31" name="Gerader Verbinder 30">
            <a:extLst>
              <a:ext uri="{FF2B5EF4-FFF2-40B4-BE49-F238E27FC236}">
                <a16:creationId xmlns:a16="http://schemas.microsoft.com/office/drawing/2014/main" id="{BC51820B-3C40-1386-0285-F5C819D43D83}"/>
              </a:ext>
            </a:extLst>
          </p:cNvPr>
          <p:cNvCxnSpPr>
            <a:cxnSpLocks/>
          </p:cNvCxnSpPr>
          <p:nvPr/>
        </p:nvCxnSpPr>
        <p:spPr>
          <a:xfrm flipH="1">
            <a:off x="-2580439" y="4878381"/>
            <a:ext cx="895828" cy="398134"/>
          </a:xfrm>
          <a:prstGeom prst="line">
            <a:avLst/>
          </a:prstGeom>
        </p:spPr>
        <p:style>
          <a:lnRef idx="2">
            <a:schemeClr val="dk1"/>
          </a:lnRef>
          <a:fillRef idx="0">
            <a:schemeClr val="dk1"/>
          </a:fillRef>
          <a:effectRef idx="1">
            <a:schemeClr val="dk1"/>
          </a:effectRef>
          <a:fontRef idx="minor">
            <a:schemeClr val="tx1"/>
          </a:fontRef>
        </p:style>
      </p:cxnSp>
      <p:sp>
        <p:nvSpPr>
          <p:cNvPr id="32" name="Textfeld 31">
            <a:extLst>
              <a:ext uri="{FF2B5EF4-FFF2-40B4-BE49-F238E27FC236}">
                <a16:creationId xmlns:a16="http://schemas.microsoft.com/office/drawing/2014/main" id="{D1C9BE2D-41B5-FD0D-6E70-99E4359072C9}"/>
              </a:ext>
            </a:extLst>
          </p:cNvPr>
          <p:cNvSpPr txBox="1"/>
          <p:nvPr/>
        </p:nvSpPr>
        <p:spPr>
          <a:xfrm>
            <a:off x="-3810051" y="6577587"/>
            <a:ext cx="3658374" cy="307777"/>
          </a:xfrm>
          <a:prstGeom prst="rect">
            <a:avLst/>
          </a:prstGeom>
          <a:noFill/>
        </p:spPr>
        <p:txBody>
          <a:bodyPr wrap="none" rtlCol="0">
            <a:spAutoFit/>
          </a:bodyPr>
          <a:lstStyle/>
          <a:p>
            <a:r>
              <a:rPr lang="de-DE" sz="1400" dirty="0"/>
              <a:t>Abb. 1, 2, 3, 4: Körper des Sonnensystems</a:t>
            </a:r>
          </a:p>
        </p:txBody>
      </p:sp>
    </p:spTree>
    <p:extLst>
      <p:ext uri="{BB962C8B-B14F-4D97-AF65-F5344CB8AC3E}">
        <p14:creationId xmlns:p14="http://schemas.microsoft.com/office/powerpoint/2010/main" val="2092023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BFF2-DCC1-CC52-E276-BC0F2856EB69}"/>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6B33B76B-721A-5D10-0086-919279E0E74A}"/>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26D143B7-1ADC-A8BD-5585-04C092CA9994}"/>
              </a:ext>
            </a:extLst>
          </p:cNvPr>
          <p:cNvSpPr/>
          <p:nvPr/>
        </p:nvSpPr>
        <p:spPr>
          <a:xfrm>
            <a:off x="2033999" y="6258318"/>
            <a:ext cx="1015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1BA8D2D9-7D49-A04F-CA15-91C9F203A8F9}"/>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17" name="Rechteck 16">
            <a:extLst>
              <a:ext uri="{FF2B5EF4-FFF2-40B4-BE49-F238E27FC236}">
                <a16:creationId xmlns:a16="http://schemas.microsoft.com/office/drawing/2014/main" id="{03992872-3F15-56F7-1E35-0DC6899767BF}"/>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24" name="Rechteck 23">
            <a:extLst>
              <a:ext uri="{FF2B5EF4-FFF2-40B4-BE49-F238E27FC236}">
                <a16:creationId xmlns:a16="http://schemas.microsoft.com/office/drawing/2014/main" id="{91B29D57-B112-4E79-33DD-0D97E26D9618}"/>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25" name="Rechteck 24">
            <a:extLst>
              <a:ext uri="{FF2B5EF4-FFF2-40B4-BE49-F238E27FC236}">
                <a16:creationId xmlns:a16="http://schemas.microsoft.com/office/drawing/2014/main" id="{2711E95A-B2A2-2B27-CA23-EFE6270794AB}"/>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56B21321-492F-2ED3-252D-541375B62169}"/>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D105EFE8-D5DD-B70F-D03C-AEDCBF42676C}"/>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7F9F92B4-8928-EC9F-A40D-2AEF6E6F8A22}"/>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7" name="Titel 6">
            <a:extLst>
              <a:ext uri="{FF2B5EF4-FFF2-40B4-BE49-F238E27FC236}">
                <a16:creationId xmlns:a16="http://schemas.microsoft.com/office/drawing/2014/main" id="{04136BFB-C966-FCE8-3A9B-2F7DAA2EBE4B}"/>
              </a:ext>
            </a:extLst>
          </p:cNvPr>
          <p:cNvSpPr>
            <a:spLocks noGrp="1"/>
          </p:cNvSpPr>
          <p:nvPr>
            <p:ph type="title"/>
          </p:nvPr>
        </p:nvSpPr>
        <p:spPr>
          <a:xfrm>
            <a:off x="4398915" y="348327"/>
            <a:ext cx="3387637" cy="1252218"/>
          </a:xfrm>
        </p:spPr>
        <p:txBody>
          <a:bodyPr/>
          <a:lstStyle/>
          <a:p>
            <a:r>
              <a:rPr lang="de-DE" sz="2800" dirty="0"/>
              <a:t>Grundlagen</a:t>
            </a:r>
            <a:br>
              <a:rPr lang="de-DE" dirty="0"/>
            </a:br>
            <a:r>
              <a:rPr lang="de-DE" sz="1800" dirty="0"/>
              <a:t>Unser Sonnensystem</a:t>
            </a:r>
            <a:endParaRPr lang="de-DE" dirty="0"/>
          </a:p>
        </p:txBody>
      </p:sp>
      <p:pic>
        <p:nvPicPr>
          <p:cNvPr id="3" name="Grafik 2" descr="Ein Bild, das Astronomisches Objekt, Planet, Weltraum, Raum enthält.&#10;&#10;KI-generierte Inhalte können fehlerhaft sein.">
            <a:extLst>
              <a:ext uri="{FF2B5EF4-FFF2-40B4-BE49-F238E27FC236}">
                <a16:creationId xmlns:a16="http://schemas.microsoft.com/office/drawing/2014/main" id="{99DAE86B-88B1-8C70-ED82-4F9B1C8E2F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884437">
            <a:off x="3285323" y="2085818"/>
            <a:ext cx="2225504" cy="2225504"/>
          </a:xfrm>
          <a:prstGeom prst="rect">
            <a:avLst/>
          </a:prstGeom>
        </p:spPr>
      </p:pic>
      <p:pic>
        <p:nvPicPr>
          <p:cNvPr id="6" name="Grafik 5" descr="Ein Bild, das Mond, Natur, Astronomisches Objekt, Astronomisches Ereignis enthält.">
            <a:extLst>
              <a:ext uri="{FF2B5EF4-FFF2-40B4-BE49-F238E27FC236}">
                <a16:creationId xmlns:a16="http://schemas.microsoft.com/office/drawing/2014/main" id="{854AB416-399B-A3B1-0ECA-AFF3E35E0E7F}"/>
              </a:ext>
            </a:extLst>
          </p:cNvPr>
          <p:cNvPicPr>
            <a:picLocks noChangeAspect="1"/>
          </p:cNvPicPr>
          <p:nvPr/>
        </p:nvPicPr>
        <p:blipFill>
          <a:blip r:embed="rId4">
            <a:extLst>
              <a:ext uri="{28A0092B-C50C-407E-A947-70E740481C1C}">
                <a14:useLocalDpi xmlns:a14="http://schemas.microsoft.com/office/drawing/2010/main" val="0"/>
              </a:ext>
            </a:extLst>
          </a:blip>
          <a:srcRect l="11592" t="6587" r="11044" b="8163"/>
          <a:stretch>
            <a:fillRect/>
          </a:stretch>
        </p:blipFill>
        <p:spPr>
          <a:xfrm>
            <a:off x="7243763" y="2345337"/>
            <a:ext cx="1247775" cy="1178914"/>
          </a:xfrm>
          <a:prstGeom prst="ellipse">
            <a:avLst/>
          </a:prstGeom>
        </p:spPr>
      </p:pic>
      <p:pic>
        <p:nvPicPr>
          <p:cNvPr id="11" name="Grafik 10" descr="Ein Bild, das Natur, Astronomisches Objekt, Kugel, Planet enthält.&#10;&#10;KI-generierte Inhalte können fehlerhaft sein.">
            <a:extLst>
              <a:ext uri="{FF2B5EF4-FFF2-40B4-BE49-F238E27FC236}">
                <a16:creationId xmlns:a16="http://schemas.microsoft.com/office/drawing/2014/main" id="{07B12AD3-5328-DAFE-F1EB-79B8AD5EC6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22271" y="3448050"/>
            <a:ext cx="632180" cy="632180"/>
          </a:xfrm>
          <a:prstGeom prst="rect">
            <a:avLst/>
          </a:prstGeom>
        </p:spPr>
      </p:pic>
      <p:pic>
        <p:nvPicPr>
          <p:cNvPr id="13" name="Grafik 12" descr="Ein Bild, das Natur, Mond, Krater, Astronomie enthält.&#10;&#10;KI-generierte Inhalte können fehlerhaft sein.">
            <a:extLst>
              <a:ext uri="{FF2B5EF4-FFF2-40B4-BE49-F238E27FC236}">
                <a16:creationId xmlns:a16="http://schemas.microsoft.com/office/drawing/2014/main" id="{56738E7D-394E-476D-2A17-D2800F933D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656416" flipH="1" flipV="1">
            <a:off x="5887972" y="4805767"/>
            <a:ext cx="804170" cy="536113"/>
          </a:xfrm>
          <a:prstGeom prst="rect">
            <a:avLst/>
          </a:prstGeom>
        </p:spPr>
      </p:pic>
      <p:pic>
        <p:nvPicPr>
          <p:cNvPr id="14" name="Grafik 13" descr="Ein Bild, das Natur, Mond, Krater, Astronomie enthält.&#10;&#10;KI-generierte Inhalte können fehlerhaft sein.">
            <a:extLst>
              <a:ext uri="{FF2B5EF4-FFF2-40B4-BE49-F238E27FC236}">
                <a16:creationId xmlns:a16="http://schemas.microsoft.com/office/drawing/2014/main" id="{EA7D88DE-FF27-2575-B14D-17D1D801E6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6841" y="4107377"/>
            <a:ext cx="906762" cy="604508"/>
          </a:xfrm>
          <a:prstGeom prst="rect">
            <a:avLst/>
          </a:prstGeom>
        </p:spPr>
      </p:pic>
      <p:pic>
        <p:nvPicPr>
          <p:cNvPr id="15" name="Grafik 14" descr="Ein Bild, das Natur, Mond, Krater, Astronomie enthält.&#10;&#10;KI-generierte Inhalte können fehlerhaft sein.">
            <a:extLst>
              <a:ext uri="{FF2B5EF4-FFF2-40B4-BE49-F238E27FC236}">
                <a16:creationId xmlns:a16="http://schemas.microsoft.com/office/drawing/2014/main" id="{80A235FE-1712-FDE1-6A2A-F41C50B9D9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761888" flipH="1">
            <a:off x="6440789" y="4599128"/>
            <a:ext cx="849248" cy="540368"/>
          </a:xfrm>
          <a:prstGeom prst="rect">
            <a:avLst/>
          </a:prstGeom>
        </p:spPr>
      </p:pic>
      <p:sp>
        <p:nvSpPr>
          <p:cNvPr id="16" name="Textfeld 15">
            <a:extLst>
              <a:ext uri="{FF2B5EF4-FFF2-40B4-BE49-F238E27FC236}">
                <a16:creationId xmlns:a16="http://schemas.microsoft.com/office/drawing/2014/main" id="{85B1720C-2762-1173-452A-2E2C39B410BF}"/>
              </a:ext>
            </a:extLst>
          </p:cNvPr>
          <p:cNvSpPr txBox="1"/>
          <p:nvPr/>
        </p:nvSpPr>
        <p:spPr>
          <a:xfrm>
            <a:off x="1116301" y="1880484"/>
            <a:ext cx="1354858" cy="369332"/>
          </a:xfrm>
          <a:prstGeom prst="rect">
            <a:avLst/>
          </a:prstGeom>
          <a:noFill/>
        </p:spPr>
        <p:txBody>
          <a:bodyPr wrap="none" rtlCol="0">
            <a:spAutoFit/>
          </a:bodyPr>
          <a:lstStyle/>
          <a:p>
            <a:r>
              <a:rPr lang="de-DE" dirty="0"/>
              <a:t>8 Planeten</a:t>
            </a:r>
          </a:p>
        </p:txBody>
      </p:sp>
      <p:sp>
        <p:nvSpPr>
          <p:cNvPr id="18" name="Textfeld 17">
            <a:extLst>
              <a:ext uri="{FF2B5EF4-FFF2-40B4-BE49-F238E27FC236}">
                <a16:creationId xmlns:a16="http://schemas.microsoft.com/office/drawing/2014/main" id="{7571FB51-3E93-0C27-6FCA-C04A4301EC9E}"/>
              </a:ext>
            </a:extLst>
          </p:cNvPr>
          <p:cNvSpPr txBox="1"/>
          <p:nvPr/>
        </p:nvSpPr>
        <p:spPr>
          <a:xfrm>
            <a:off x="696145" y="4461619"/>
            <a:ext cx="1566454" cy="369332"/>
          </a:xfrm>
          <a:prstGeom prst="rect">
            <a:avLst/>
          </a:prstGeom>
          <a:noFill/>
        </p:spPr>
        <p:txBody>
          <a:bodyPr wrap="none" rtlCol="0">
            <a:spAutoFit/>
          </a:bodyPr>
          <a:lstStyle/>
          <a:p>
            <a:r>
              <a:rPr lang="de-DE" dirty="0"/>
              <a:t>300+ Monde</a:t>
            </a:r>
          </a:p>
        </p:txBody>
      </p:sp>
      <p:sp>
        <p:nvSpPr>
          <p:cNvPr id="19" name="Textfeld 18">
            <a:extLst>
              <a:ext uri="{FF2B5EF4-FFF2-40B4-BE49-F238E27FC236}">
                <a16:creationId xmlns:a16="http://schemas.microsoft.com/office/drawing/2014/main" id="{DDC17AB3-0B3E-8C80-1043-6C26E6F03D6B}"/>
              </a:ext>
            </a:extLst>
          </p:cNvPr>
          <p:cNvSpPr txBox="1"/>
          <p:nvPr/>
        </p:nvSpPr>
        <p:spPr>
          <a:xfrm>
            <a:off x="9410296" y="1661669"/>
            <a:ext cx="2018501" cy="369332"/>
          </a:xfrm>
          <a:prstGeom prst="rect">
            <a:avLst/>
          </a:prstGeom>
          <a:noFill/>
        </p:spPr>
        <p:txBody>
          <a:bodyPr wrap="none" rtlCol="0">
            <a:spAutoFit/>
          </a:bodyPr>
          <a:lstStyle/>
          <a:p>
            <a:r>
              <a:rPr lang="de-DE" dirty="0"/>
              <a:t>5 Zwergplaneten</a:t>
            </a:r>
          </a:p>
        </p:txBody>
      </p:sp>
      <p:sp>
        <p:nvSpPr>
          <p:cNvPr id="20" name="Textfeld 19">
            <a:extLst>
              <a:ext uri="{FF2B5EF4-FFF2-40B4-BE49-F238E27FC236}">
                <a16:creationId xmlns:a16="http://schemas.microsoft.com/office/drawing/2014/main" id="{ABB89E1B-2CCF-7C54-9A1F-415298A50B3A}"/>
              </a:ext>
            </a:extLst>
          </p:cNvPr>
          <p:cNvSpPr txBox="1"/>
          <p:nvPr/>
        </p:nvSpPr>
        <p:spPr>
          <a:xfrm>
            <a:off x="8393248" y="4861824"/>
            <a:ext cx="3111749" cy="646331"/>
          </a:xfrm>
          <a:prstGeom prst="rect">
            <a:avLst/>
          </a:prstGeom>
          <a:noFill/>
        </p:spPr>
        <p:txBody>
          <a:bodyPr wrap="none" rtlCol="0">
            <a:spAutoFit/>
          </a:bodyPr>
          <a:lstStyle/>
          <a:p>
            <a:r>
              <a:rPr lang="de-DE" dirty="0"/>
              <a:t>ca. 1,4 Millionen Asteroiden</a:t>
            </a:r>
            <a:br>
              <a:rPr lang="de-DE" dirty="0"/>
            </a:br>
            <a:r>
              <a:rPr lang="de-DE" dirty="0"/>
              <a:t>ca. 4000 Kometen</a:t>
            </a:r>
          </a:p>
        </p:txBody>
      </p:sp>
      <p:cxnSp>
        <p:nvCxnSpPr>
          <p:cNvPr id="22" name="Gerader Verbinder 21">
            <a:extLst>
              <a:ext uri="{FF2B5EF4-FFF2-40B4-BE49-F238E27FC236}">
                <a16:creationId xmlns:a16="http://schemas.microsoft.com/office/drawing/2014/main" id="{27B1C7CF-FDA9-70F2-2803-F2AD29DE1E75}"/>
              </a:ext>
            </a:extLst>
          </p:cNvPr>
          <p:cNvCxnSpPr>
            <a:cxnSpLocks/>
          </p:cNvCxnSpPr>
          <p:nvPr/>
        </p:nvCxnSpPr>
        <p:spPr>
          <a:xfrm flipH="1" flipV="1">
            <a:off x="2362200" y="2309417"/>
            <a:ext cx="917399" cy="338533"/>
          </a:xfrm>
          <a:prstGeom prst="line">
            <a:avLst/>
          </a:prstGeom>
        </p:spPr>
        <p:style>
          <a:lnRef idx="2">
            <a:schemeClr val="dk1"/>
          </a:lnRef>
          <a:fillRef idx="0">
            <a:schemeClr val="dk1"/>
          </a:fillRef>
          <a:effectRef idx="1">
            <a:schemeClr val="dk1"/>
          </a:effectRef>
          <a:fontRef idx="minor">
            <a:schemeClr val="tx1"/>
          </a:fontRef>
        </p:style>
      </p:cxnSp>
      <p:cxnSp>
        <p:nvCxnSpPr>
          <p:cNvPr id="23" name="Gerader Verbinder 22">
            <a:extLst>
              <a:ext uri="{FF2B5EF4-FFF2-40B4-BE49-F238E27FC236}">
                <a16:creationId xmlns:a16="http://schemas.microsoft.com/office/drawing/2014/main" id="{D827A18E-D50C-872A-84CC-870F3038B78F}"/>
              </a:ext>
            </a:extLst>
          </p:cNvPr>
          <p:cNvCxnSpPr>
            <a:cxnSpLocks/>
          </p:cNvCxnSpPr>
          <p:nvPr/>
        </p:nvCxnSpPr>
        <p:spPr>
          <a:xfrm flipH="1">
            <a:off x="2086811" y="3963981"/>
            <a:ext cx="895828" cy="398134"/>
          </a:xfrm>
          <a:prstGeom prst="line">
            <a:avLst/>
          </a:prstGeom>
        </p:spPr>
        <p:style>
          <a:lnRef idx="2">
            <a:schemeClr val="dk1"/>
          </a:lnRef>
          <a:fillRef idx="0">
            <a:schemeClr val="dk1"/>
          </a:fillRef>
          <a:effectRef idx="1">
            <a:schemeClr val="dk1"/>
          </a:effectRef>
          <a:fontRef idx="minor">
            <a:schemeClr val="tx1"/>
          </a:fontRef>
        </p:style>
      </p:cxnSp>
      <p:cxnSp>
        <p:nvCxnSpPr>
          <p:cNvPr id="34" name="Gerader Verbinder 33">
            <a:extLst>
              <a:ext uri="{FF2B5EF4-FFF2-40B4-BE49-F238E27FC236}">
                <a16:creationId xmlns:a16="http://schemas.microsoft.com/office/drawing/2014/main" id="{EFC361E2-B23D-EA4A-EFDE-F0CF372F9400}"/>
              </a:ext>
            </a:extLst>
          </p:cNvPr>
          <p:cNvCxnSpPr>
            <a:cxnSpLocks/>
          </p:cNvCxnSpPr>
          <p:nvPr/>
        </p:nvCxnSpPr>
        <p:spPr>
          <a:xfrm flipV="1">
            <a:off x="8600271" y="2135787"/>
            <a:ext cx="1020550" cy="491761"/>
          </a:xfrm>
          <a:prstGeom prst="line">
            <a:avLst/>
          </a:prstGeom>
        </p:spPr>
        <p:style>
          <a:lnRef idx="2">
            <a:schemeClr val="dk1"/>
          </a:lnRef>
          <a:fillRef idx="0">
            <a:schemeClr val="dk1"/>
          </a:fillRef>
          <a:effectRef idx="1">
            <a:schemeClr val="dk1"/>
          </a:effectRef>
          <a:fontRef idx="minor">
            <a:schemeClr val="tx1"/>
          </a:fontRef>
        </p:style>
      </p:cxnSp>
      <p:cxnSp>
        <p:nvCxnSpPr>
          <p:cNvPr id="42" name="Gerader Verbinder 41">
            <a:extLst>
              <a:ext uri="{FF2B5EF4-FFF2-40B4-BE49-F238E27FC236}">
                <a16:creationId xmlns:a16="http://schemas.microsoft.com/office/drawing/2014/main" id="{83404A6D-1E48-2B79-662B-22EB5F376C96}"/>
              </a:ext>
            </a:extLst>
          </p:cNvPr>
          <p:cNvCxnSpPr>
            <a:cxnSpLocks/>
          </p:cNvCxnSpPr>
          <p:nvPr/>
        </p:nvCxnSpPr>
        <p:spPr>
          <a:xfrm>
            <a:off x="7361257" y="4919843"/>
            <a:ext cx="890568" cy="236357"/>
          </a:xfrm>
          <a:prstGeom prst="line">
            <a:avLst/>
          </a:prstGeom>
        </p:spPr>
        <p:style>
          <a:lnRef idx="2">
            <a:schemeClr val="dk1"/>
          </a:lnRef>
          <a:fillRef idx="0">
            <a:schemeClr val="dk1"/>
          </a:fillRef>
          <a:effectRef idx="1">
            <a:schemeClr val="dk1"/>
          </a:effectRef>
          <a:fontRef idx="minor">
            <a:schemeClr val="tx1"/>
          </a:fontRef>
        </p:style>
      </p:cxnSp>
      <p:sp>
        <p:nvSpPr>
          <p:cNvPr id="2" name="Textfeld 1">
            <a:extLst>
              <a:ext uri="{FF2B5EF4-FFF2-40B4-BE49-F238E27FC236}">
                <a16:creationId xmlns:a16="http://schemas.microsoft.com/office/drawing/2014/main" id="{0362C81A-85D7-ACEE-9A30-EF05E75E1740}"/>
              </a:ext>
            </a:extLst>
          </p:cNvPr>
          <p:cNvSpPr txBox="1"/>
          <p:nvPr/>
        </p:nvSpPr>
        <p:spPr>
          <a:xfrm>
            <a:off x="61301" y="5876945"/>
            <a:ext cx="3658374" cy="307777"/>
          </a:xfrm>
          <a:prstGeom prst="rect">
            <a:avLst/>
          </a:prstGeom>
          <a:noFill/>
        </p:spPr>
        <p:txBody>
          <a:bodyPr wrap="none" rtlCol="0">
            <a:spAutoFit/>
          </a:bodyPr>
          <a:lstStyle/>
          <a:p>
            <a:r>
              <a:rPr lang="de-DE" sz="1400" dirty="0"/>
              <a:t>Abb. 1, 2, 3, 4: Körper des Sonnensystems</a:t>
            </a:r>
          </a:p>
        </p:txBody>
      </p:sp>
    </p:spTree>
    <p:extLst>
      <p:ext uri="{BB962C8B-B14F-4D97-AF65-F5344CB8AC3E}">
        <p14:creationId xmlns:p14="http://schemas.microsoft.com/office/powerpoint/2010/main" val="3071679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4BBF9-63E5-9F5F-14BD-30F93374FF5D}"/>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1FA800BC-22D7-5A6C-F798-6088B4E694B6}"/>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2E516D75-A190-71BE-E4A3-206113DBE656}"/>
              </a:ext>
            </a:extLst>
          </p:cNvPr>
          <p:cNvSpPr/>
          <p:nvPr/>
        </p:nvSpPr>
        <p:spPr>
          <a:xfrm>
            <a:off x="2033999" y="6258318"/>
            <a:ext cx="1015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C26AAEEC-E184-E7BC-92EB-CBD515EA0101}"/>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E2A73BA8-3C2B-69F4-5FA0-CE4EFC52A56E}"/>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08765084-F73F-E024-10DE-1D48D23BE941}"/>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7297E53B-733B-F024-7D15-BAAC261F9BFE}"/>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08D3AEAB-CA4C-AFCE-F69E-7295EA60ED16}"/>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CD83738A-847D-32E5-131A-9F41F3FE3748}"/>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011B9B81-4098-7C47-10F7-177DD08A4C58}"/>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7" name="Titel 6">
            <a:extLst>
              <a:ext uri="{FF2B5EF4-FFF2-40B4-BE49-F238E27FC236}">
                <a16:creationId xmlns:a16="http://schemas.microsoft.com/office/drawing/2014/main" id="{E2DB2489-18D3-CEEC-FE59-01BB8AC285F5}"/>
              </a:ext>
            </a:extLst>
          </p:cNvPr>
          <p:cNvSpPr>
            <a:spLocks noGrp="1"/>
          </p:cNvSpPr>
          <p:nvPr>
            <p:ph type="title"/>
          </p:nvPr>
        </p:nvSpPr>
        <p:spPr>
          <a:xfrm>
            <a:off x="4567546" y="349571"/>
            <a:ext cx="3050374" cy="1252218"/>
          </a:xfrm>
        </p:spPr>
        <p:txBody>
          <a:bodyPr/>
          <a:lstStyle/>
          <a:p>
            <a:r>
              <a:rPr lang="de-DE" sz="2800" dirty="0"/>
              <a:t>Grundlagen</a:t>
            </a:r>
            <a:br>
              <a:rPr lang="de-DE" sz="2800" dirty="0"/>
            </a:br>
            <a:r>
              <a:rPr lang="de-DE" sz="1800" dirty="0"/>
              <a:t>n-Körper-Problem</a:t>
            </a:r>
            <a:endParaRPr lang="de-DE" dirty="0"/>
          </a:p>
        </p:txBody>
      </p:sp>
      <p:pic>
        <p:nvPicPr>
          <p:cNvPr id="16" name="Grafik 15" descr="Ein Bild, das Schwarz, Dunkelheit enthält.">
            <a:extLst>
              <a:ext uri="{FF2B5EF4-FFF2-40B4-BE49-F238E27FC236}">
                <a16:creationId xmlns:a16="http://schemas.microsoft.com/office/drawing/2014/main" id="{27A2CCBB-96BF-C46C-2E83-765FEB47E3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8380" y="7010063"/>
            <a:ext cx="1648707" cy="709360"/>
          </a:xfrm>
          <a:prstGeom prst="rect">
            <a:avLst/>
          </a:prstGeom>
        </p:spPr>
      </p:pic>
      <mc:AlternateContent xmlns:mc="http://schemas.openxmlformats.org/markup-compatibility/2006" xmlns:a14="http://schemas.microsoft.com/office/drawing/2010/main">
        <mc:Choice Requires="a14">
          <p:sp>
            <p:nvSpPr>
              <p:cNvPr id="3" name="Inhaltsplatzhalter 7">
                <a:extLst>
                  <a:ext uri="{FF2B5EF4-FFF2-40B4-BE49-F238E27FC236}">
                    <a16:creationId xmlns:a16="http://schemas.microsoft.com/office/drawing/2014/main" id="{31AB9204-38EA-D4FD-1EC1-700290015FAE}"/>
                  </a:ext>
                </a:extLst>
              </p:cNvPr>
              <p:cNvSpPr>
                <a:spLocks noGrp="1"/>
              </p:cNvSpPr>
              <p:nvPr>
                <p:ph idx="1"/>
              </p:nvPr>
            </p:nvSpPr>
            <p:spPr>
              <a:xfrm>
                <a:off x="838200" y="1825626"/>
                <a:ext cx="10217727" cy="4032250"/>
              </a:xfrm>
            </p:spPr>
            <p:txBody>
              <a:bodyPr/>
              <a:lstStyle/>
              <a:p>
                <a:r>
                  <a:rPr lang="de-DE" dirty="0"/>
                  <a:t>Beispiel: Erde-Mond; Sonne-Erde-Mond; Sonnensystem</a:t>
                </a:r>
              </a:p>
              <a:p>
                <a:r>
                  <a:rPr lang="de-DE" dirty="0"/>
                  <a:t>Kann für </a:t>
                </a:r>
                <a14:m>
                  <m:oMath xmlns:m="http://schemas.openxmlformats.org/officeDocument/2006/math">
                    <m:r>
                      <a:rPr lang="de-DE">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𝑛</m:t>
                        </m:r>
                      </m:e>
                      <m:sub>
                        <m:r>
                          <a:rPr lang="de-DE" i="1">
                            <a:latin typeface="Cambria Math" panose="02040503050406030204" pitchFamily="18" charset="0"/>
                          </a:rPr>
                          <m:t>𝐾</m:t>
                        </m:r>
                        <m:r>
                          <a:rPr lang="de-DE" i="1">
                            <a:latin typeface="Cambria Math" panose="02040503050406030204" pitchFamily="18" charset="0"/>
                          </a:rPr>
                          <m:t>ö</m:t>
                        </m:r>
                        <m:r>
                          <a:rPr lang="de-DE" i="1">
                            <a:latin typeface="Cambria Math" panose="02040503050406030204" pitchFamily="18" charset="0"/>
                          </a:rPr>
                          <m:t>𝑟𝑝𝑒𝑟</m:t>
                        </m:r>
                      </m:sub>
                    </m:sSub>
                    <m:r>
                      <a:rPr lang="de-DE" b="0" i="1" smtClean="0">
                        <a:latin typeface="Cambria Math" panose="02040503050406030204" pitchFamily="18" charset="0"/>
                      </a:rPr>
                      <m:t>=</m:t>
                    </m:r>
                    <m:r>
                      <a:rPr lang="de-DE" i="1">
                        <a:latin typeface="Cambria Math" panose="02040503050406030204" pitchFamily="18" charset="0"/>
                      </a:rPr>
                      <m:t>2"</m:t>
                    </m:r>
                  </m:oMath>
                </a14:m>
                <a:r>
                  <a:rPr lang="de-DE" dirty="0"/>
                  <a:t> analytisch gelöst werden</a:t>
                </a:r>
              </a:p>
              <a:p>
                <a:r>
                  <a:rPr lang="de-DE" dirty="0"/>
                  <a:t>Muss für </a:t>
                </a:r>
                <a14:m>
                  <m:oMath xmlns:m="http://schemas.openxmlformats.org/officeDocument/2006/math">
                    <m:r>
                      <a:rPr lang="de-DE" b="0" i="0"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𝑛</m:t>
                        </m:r>
                      </m:e>
                      <m:sub>
                        <m:r>
                          <a:rPr lang="de-DE" b="0" i="1" smtClean="0">
                            <a:latin typeface="Cambria Math" panose="02040503050406030204" pitchFamily="18" charset="0"/>
                          </a:rPr>
                          <m:t>𝐾</m:t>
                        </m:r>
                        <m:r>
                          <a:rPr lang="de-DE" b="0" i="1" smtClean="0">
                            <a:latin typeface="Cambria Math" panose="02040503050406030204" pitchFamily="18" charset="0"/>
                          </a:rPr>
                          <m:t>ö</m:t>
                        </m:r>
                        <m:r>
                          <a:rPr lang="de-DE" b="0" i="1" smtClean="0">
                            <a:latin typeface="Cambria Math" panose="02040503050406030204" pitchFamily="18" charset="0"/>
                          </a:rPr>
                          <m:t>𝑟𝑝𝑒𝑟</m:t>
                        </m:r>
                      </m:sub>
                    </m:sSub>
                    <m:r>
                      <a:rPr lang="de-DE" b="0" i="1" smtClean="0">
                        <a:latin typeface="Cambria Math" panose="02040503050406030204" pitchFamily="18" charset="0"/>
                      </a:rPr>
                      <m:t>&gt;2"</m:t>
                    </m:r>
                  </m:oMath>
                </a14:m>
                <a:r>
                  <a:rPr lang="de-DE" dirty="0"/>
                  <a:t> numerisch gelöst werden</a:t>
                </a:r>
              </a:p>
              <a:p>
                <a:r>
                  <a:rPr lang="de-DE" dirty="0"/>
                  <a:t>Sehr hoher Rechenaufwand</a:t>
                </a:r>
              </a:p>
              <a:p>
                <a:r>
                  <a:rPr lang="de-DE" dirty="0"/>
                  <a:t>Allgemein nicht-periodisch und chaotisch</a:t>
                </a:r>
              </a:p>
            </p:txBody>
          </p:sp>
        </mc:Choice>
        <mc:Fallback xmlns="">
          <p:sp>
            <p:nvSpPr>
              <p:cNvPr id="3" name="Inhaltsplatzhalter 7">
                <a:extLst>
                  <a:ext uri="{FF2B5EF4-FFF2-40B4-BE49-F238E27FC236}">
                    <a16:creationId xmlns:a16="http://schemas.microsoft.com/office/drawing/2014/main" id="{31AB9204-38EA-D4FD-1EC1-700290015FAE}"/>
                  </a:ext>
                </a:extLst>
              </p:cNvPr>
              <p:cNvSpPr>
                <a:spLocks noGrp="1" noRot="1" noChangeAspect="1" noMove="1" noResize="1" noEditPoints="1" noAdjustHandles="1" noChangeArrowheads="1" noChangeShapeType="1" noTextEdit="1"/>
              </p:cNvSpPr>
              <p:nvPr>
                <p:ph idx="1"/>
              </p:nvPr>
            </p:nvSpPr>
            <p:spPr>
              <a:xfrm>
                <a:off x="838200" y="1825626"/>
                <a:ext cx="10217727" cy="4032250"/>
              </a:xfrm>
              <a:blipFill>
                <a:blip r:embed="rId4"/>
                <a:stretch>
                  <a:fillRect l="-537"/>
                </a:stretch>
              </a:blipFill>
            </p:spPr>
            <p:txBody>
              <a:bodyPr/>
              <a:lstStyle/>
              <a:p>
                <a:r>
                  <a:rPr lang="de-DE">
                    <a:noFill/>
                  </a:rPr>
                  <a:t> </a:t>
                </a:r>
              </a:p>
            </p:txBody>
          </p:sp>
        </mc:Fallback>
      </mc:AlternateContent>
      <p:pic>
        <p:nvPicPr>
          <p:cNvPr id="29" name="Grafik 28" descr="Ein Bild, das Mond, Natur, Astronomisches Objekt, Astronomisches Ereignis enthält.">
            <a:extLst>
              <a:ext uri="{FF2B5EF4-FFF2-40B4-BE49-F238E27FC236}">
                <a16:creationId xmlns:a16="http://schemas.microsoft.com/office/drawing/2014/main" id="{834FC5BC-F4E0-754F-F1C7-43BD697CA70E}"/>
              </a:ext>
            </a:extLst>
          </p:cNvPr>
          <p:cNvPicPr>
            <a:picLocks noChangeAspect="1"/>
          </p:cNvPicPr>
          <p:nvPr/>
        </p:nvPicPr>
        <p:blipFill>
          <a:blip r:embed="rId5">
            <a:extLst>
              <a:ext uri="{28A0092B-C50C-407E-A947-70E740481C1C}">
                <a14:useLocalDpi xmlns:a14="http://schemas.microsoft.com/office/drawing/2010/main" val="0"/>
              </a:ext>
            </a:extLst>
          </a:blip>
          <a:srcRect l="10903" t="7348" r="11142" b="9449"/>
          <a:stretch>
            <a:fillRect/>
          </a:stretch>
        </p:blipFill>
        <p:spPr>
          <a:xfrm>
            <a:off x="12623801" y="508000"/>
            <a:ext cx="1257300" cy="1150610"/>
          </a:xfrm>
          <a:prstGeom prst="ellipse">
            <a:avLst/>
          </a:prstGeom>
        </p:spPr>
      </p:pic>
      <p:sp>
        <p:nvSpPr>
          <p:cNvPr id="30" name="Textfeld 29">
            <a:extLst>
              <a:ext uri="{FF2B5EF4-FFF2-40B4-BE49-F238E27FC236}">
                <a16:creationId xmlns:a16="http://schemas.microsoft.com/office/drawing/2014/main" id="{9DD6C471-9928-4B2A-E14B-7EB5482F2F56}"/>
              </a:ext>
            </a:extLst>
          </p:cNvPr>
          <p:cNvSpPr txBox="1"/>
          <p:nvPr/>
        </p:nvSpPr>
        <p:spPr>
          <a:xfrm>
            <a:off x="14801446" y="-186181"/>
            <a:ext cx="2018501" cy="369332"/>
          </a:xfrm>
          <a:prstGeom prst="rect">
            <a:avLst/>
          </a:prstGeom>
          <a:noFill/>
        </p:spPr>
        <p:txBody>
          <a:bodyPr wrap="none" rtlCol="0">
            <a:spAutoFit/>
          </a:bodyPr>
          <a:lstStyle/>
          <a:p>
            <a:r>
              <a:rPr lang="de-DE" dirty="0"/>
              <a:t>5 Zwergplaneten</a:t>
            </a:r>
          </a:p>
        </p:txBody>
      </p:sp>
      <p:cxnSp>
        <p:nvCxnSpPr>
          <p:cNvPr id="31" name="Gerader Verbinder 30">
            <a:extLst>
              <a:ext uri="{FF2B5EF4-FFF2-40B4-BE49-F238E27FC236}">
                <a16:creationId xmlns:a16="http://schemas.microsoft.com/office/drawing/2014/main" id="{C98FDEBF-4F11-7322-2722-FBB08911CC64}"/>
              </a:ext>
            </a:extLst>
          </p:cNvPr>
          <p:cNvCxnSpPr>
            <a:cxnSpLocks/>
          </p:cNvCxnSpPr>
          <p:nvPr/>
        </p:nvCxnSpPr>
        <p:spPr>
          <a:xfrm flipV="1">
            <a:off x="13991421" y="287937"/>
            <a:ext cx="1020550" cy="491761"/>
          </a:xfrm>
          <a:prstGeom prst="line">
            <a:avLst/>
          </a:prstGeom>
        </p:spPr>
        <p:style>
          <a:lnRef idx="2">
            <a:schemeClr val="dk1"/>
          </a:lnRef>
          <a:fillRef idx="0">
            <a:schemeClr val="dk1"/>
          </a:fillRef>
          <a:effectRef idx="1">
            <a:schemeClr val="dk1"/>
          </a:effectRef>
          <a:fontRef idx="minor">
            <a:schemeClr val="tx1"/>
          </a:fontRef>
        </p:style>
      </p:cxnSp>
      <p:pic>
        <p:nvPicPr>
          <p:cNvPr id="32" name="Grafik 31" descr="Ein Bild, das Natur, Mond, Krater, Astronomie enthält.&#10;&#10;KI-generierte Inhalte können fehlerhaft sein.">
            <a:extLst>
              <a:ext uri="{FF2B5EF4-FFF2-40B4-BE49-F238E27FC236}">
                <a16:creationId xmlns:a16="http://schemas.microsoft.com/office/drawing/2014/main" id="{E30A95F8-F22B-58D3-8ACD-0E1160411B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656416" flipH="1" flipV="1">
            <a:off x="12517372" y="6863167"/>
            <a:ext cx="804170" cy="536113"/>
          </a:xfrm>
          <a:prstGeom prst="rect">
            <a:avLst/>
          </a:prstGeom>
        </p:spPr>
      </p:pic>
      <p:pic>
        <p:nvPicPr>
          <p:cNvPr id="33" name="Grafik 32" descr="Ein Bild, das Natur, Mond, Krater, Astronomie enthält.&#10;&#10;KI-generierte Inhalte können fehlerhaft sein.">
            <a:extLst>
              <a:ext uri="{FF2B5EF4-FFF2-40B4-BE49-F238E27FC236}">
                <a16:creationId xmlns:a16="http://schemas.microsoft.com/office/drawing/2014/main" id="{41F5504C-50FA-4A9E-E01B-335D8DE7B1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516241" y="6164777"/>
            <a:ext cx="906762" cy="604508"/>
          </a:xfrm>
          <a:prstGeom prst="rect">
            <a:avLst/>
          </a:prstGeom>
        </p:spPr>
      </p:pic>
      <p:pic>
        <p:nvPicPr>
          <p:cNvPr id="34" name="Grafik 33" descr="Ein Bild, das Natur, Mond, Krater, Astronomie enthält.&#10;&#10;KI-generierte Inhalte können fehlerhaft sein.">
            <a:extLst>
              <a:ext uri="{FF2B5EF4-FFF2-40B4-BE49-F238E27FC236}">
                <a16:creationId xmlns:a16="http://schemas.microsoft.com/office/drawing/2014/main" id="{2917306B-60FE-6009-66C5-FB49728DC8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761888" flipH="1">
            <a:off x="13070189" y="6656528"/>
            <a:ext cx="849248" cy="540368"/>
          </a:xfrm>
          <a:prstGeom prst="rect">
            <a:avLst/>
          </a:prstGeom>
        </p:spPr>
      </p:pic>
      <p:sp>
        <p:nvSpPr>
          <p:cNvPr id="35" name="Textfeld 34">
            <a:extLst>
              <a:ext uri="{FF2B5EF4-FFF2-40B4-BE49-F238E27FC236}">
                <a16:creationId xmlns:a16="http://schemas.microsoft.com/office/drawing/2014/main" id="{F736D451-B4ED-5201-F45A-9C69D020F395}"/>
              </a:ext>
            </a:extLst>
          </p:cNvPr>
          <p:cNvSpPr txBox="1"/>
          <p:nvPr/>
        </p:nvSpPr>
        <p:spPr>
          <a:xfrm>
            <a:off x="15022648" y="6919224"/>
            <a:ext cx="3111749" cy="646331"/>
          </a:xfrm>
          <a:prstGeom prst="rect">
            <a:avLst/>
          </a:prstGeom>
          <a:noFill/>
        </p:spPr>
        <p:txBody>
          <a:bodyPr wrap="none" rtlCol="0">
            <a:spAutoFit/>
          </a:bodyPr>
          <a:lstStyle/>
          <a:p>
            <a:r>
              <a:rPr lang="de-DE" dirty="0"/>
              <a:t>ca. 1,4 Millionen Asteroiden</a:t>
            </a:r>
            <a:br>
              <a:rPr lang="de-DE" dirty="0"/>
            </a:br>
            <a:r>
              <a:rPr lang="de-DE" dirty="0"/>
              <a:t>ca. 4000 Kometen</a:t>
            </a:r>
          </a:p>
        </p:txBody>
      </p:sp>
      <p:cxnSp>
        <p:nvCxnSpPr>
          <p:cNvPr id="38" name="Gerader Verbinder 37">
            <a:extLst>
              <a:ext uri="{FF2B5EF4-FFF2-40B4-BE49-F238E27FC236}">
                <a16:creationId xmlns:a16="http://schemas.microsoft.com/office/drawing/2014/main" id="{6E3A6881-5558-5C10-0B6F-CEFD78AED366}"/>
              </a:ext>
            </a:extLst>
          </p:cNvPr>
          <p:cNvCxnSpPr>
            <a:cxnSpLocks/>
          </p:cNvCxnSpPr>
          <p:nvPr/>
        </p:nvCxnSpPr>
        <p:spPr>
          <a:xfrm>
            <a:off x="13990657" y="6977243"/>
            <a:ext cx="890568" cy="236357"/>
          </a:xfrm>
          <a:prstGeom prst="line">
            <a:avLst/>
          </a:prstGeom>
        </p:spPr>
        <p:style>
          <a:lnRef idx="2">
            <a:schemeClr val="dk1"/>
          </a:lnRef>
          <a:fillRef idx="0">
            <a:schemeClr val="dk1"/>
          </a:fillRef>
          <a:effectRef idx="1">
            <a:schemeClr val="dk1"/>
          </a:effectRef>
          <a:fontRef idx="minor">
            <a:schemeClr val="tx1"/>
          </a:fontRef>
        </p:style>
      </p:cxnSp>
      <p:pic>
        <p:nvPicPr>
          <p:cNvPr id="39" name="Grafik 38" descr="Ein Bild, das Astronomisches Objekt, Planet, Weltraum, Raum enthält.&#10;&#10;KI-generierte Inhalte können fehlerhaft sein.">
            <a:extLst>
              <a:ext uri="{FF2B5EF4-FFF2-40B4-BE49-F238E27FC236}">
                <a16:creationId xmlns:a16="http://schemas.microsoft.com/office/drawing/2014/main" id="{C9E40B99-8BA1-48E2-1EA0-BDEDB4EBAE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884437">
            <a:off x="-2639227" y="1380968"/>
            <a:ext cx="2225504" cy="2225504"/>
          </a:xfrm>
          <a:prstGeom prst="rect">
            <a:avLst/>
          </a:prstGeom>
        </p:spPr>
      </p:pic>
      <p:sp>
        <p:nvSpPr>
          <p:cNvPr id="40" name="Textfeld 39">
            <a:extLst>
              <a:ext uri="{FF2B5EF4-FFF2-40B4-BE49-F238E27FC236}">
                <a16:creationId xmlns:a16="http://schemas.microsoft.com/office/drawing/2014/main" id="{5447ECCC-4312-56B6-F2D0-373EF5E5DF7A}"/>
              </a:ext>
            </a:extLst>
          </p:cNvPr>
          <p:cNvSpPr txBox="1"/>
          <p:nvPr/>
        </p:nvSpPr>
        <p:spPr>
          <a:xfrm>
            <a:off x="-4808249" y="1175634"/>
            <a:ext cx="1354858" cy="369332"/>
          </a:xfrm>
          <a:prstGeom prst="rect">
            <a:avLst/>
          </a:prstGeom>
          <a:noFill/>
        </p:spPr>
        <p:txBody>
          <a:bodyPr wrap="none" rtlCol="0">
            <a:spAutoFit/>
          </a:bodyPr>
          <a:lstStyle/>
          <a:p>
            <a:r>
              <a:rPr lang="de-DE" dirty="0"/>
              <a:t>8 Planeten</a:t>
            </a:r>
          </a:p>
        </p:txBody>
      </p:sp>
      <p:cxnSp>
        <p:nvCxnSpPr>
          <p:cNvPr id="41" name="Gerader Verbinder 40">
            <a:extLst>
              <a:ext uri="{FF2B5EF4-FFF2-40B4-BE49-F238E27FC236}">
                <a16:creationId xmlns:a16="http://schemas.microsoft.com/office/drawing/2014/main" id="{CB951416-372D-9184-6E56-DCEC67FC1177}"/>
              </a:ext>
            </a:extLst>
          </p:cNvPr>
          <p:cNvCxnSpPr>
            <a:cxnSpLocks/>
          </p:cNvCxnSpPr>
          <p:nvPr/>
        </p:nvCxnSpPr>
        <p:spPr>
          <a:xfrm flipH="1" flipV="1">
            <a:off x="-3562350" y="1604567"/>
            <a:ext cx="917399" cy="338533"/>
          </a:xfrm>
          <a:prstGeom prst="line">
            <a:avLst/>
          </a:prstGeom>
        </p:spPr>
        <p:style>
          <a:lnRef idx="2">
            <a:schemeClr val="dk1"/>
          </a:lnRef>
          <a:fillRef idx="0">
            <a:schemeClr val="dk1"/>
          </a:fillRef>
          <a:effectRef idx="1">
            <a:schemeClr val="dk1"/>
          </a:effectRef>
          <a:fontRef idx="minor">
            <a:schemeClr val="tx1"/>
          </a:fontRef>
        </p:style>
      </p:cxnSp>
      <p:pic>
        <p:nvPicPr>
          <p:cNvPr id="42" name="Grafik 41" descr="Ein Bild, das Natur, Astronomisches Objekt, Kugel, Planet enthält.&#10;&#10;KI-generierte Inhalte können fehlerhaft sein.">
            <a:extLst>
              <a:ext uri="{FF2B5EF4-FFF2-40B4-BE49-F238E27FC236}">
                <a16:creationId xmlns:a16="http://schemas.microsoft.com/office/drawing/2014/main" id="{0C2E4A95-D5B8-E880-FF94-73C4A5FFCE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44979" y="4362450"/>
            <a:ext cx="632180" cy="632180"/>
          </a:xfrm>
          <a:prstGeom prst="rect">
            <a:avLst/>
          </a:prstGeom>
        </p:spPr>
      </p:pic>
      <p:sp>
        <p:nvSpPr>
          <p:cNvPr id="43" name="Textfeld 42">
            <a:extLst>
              <a:ext uri="{FF2B5EF4-FFF2-40B4-BE49-F238E27FC236}">
                <a16:creationId xmlns:a16="http://schemas.microsoft.com/office/drawing/2014/main" id="{6B97DF67-6CAC-C4DA-884A-9C6507F2821F}"/>
              </a:ext>
            </a:extLst>
          </p:cNvPr>
          <p:cNvSpPr txBox="1"/>
          <p:nvPr/>
        </p:nvSpPr>
        <p:spPr>
          <a:xfrm>
            <a:off x="-3971105" y="5376019"/>
            <a:ext cx="1566454" cy="369332"/>
          </a:xfrm>
          <a:prstGeom prst="rect">
            <a:avLst/>
          </a:prstGeom>
          <a:noFill/>
        </p:spPr>
        <p:txBody>
          <a:bodyPr wrap="none" rtlCol="0">
            <a:spAutoFit/>
          </a:bodyPr>
          <a:lstStyle/>
          <a:p>
            <a:r>
              <a:rPr lang="de-DE" dirty="0"/>
              <a:t>300+ Monde</a:t>
            </a:r>
          </a:p>
        </p:txBody>
      </p:sp>
      <p:cxnSp>
        <p:nvCxnSpPr>
          <p:cNvPr id="44" name="Gerader Verbinder 43">
            <a:extLst>
              <a:ext uri="{FF2B5EF4-FFF2-40B4-BE49-F238E27FC236}">
                <a16:creationId xmlns:a16="http://schemas.microsoft.com/office/drawing/2014/main" id="{19396745-8240-AD29-5BE7-81A88D027EB3}"/>
              </a:ext>
            </a:extLst>
          </p:cNvPr>
          <p:cNvCxnSpPr>
            <a:cxnSpLocks/>
          </p:cNvCxnSpPr>
          <p:nvPr/>
        </p:nvCxnSpPr>
        <p:spPr>
          <a:xfrm flipH="1">
            <a:off x="-2580439" y="4878381"/>
            <a:ext cx="895828" cy="398134"/>
          </a:xfrm>
          <a:prstGeom prst="line">
            <a:avLst/>
          </a:prstGeom>
        </p:spPr>
        <p:style>
          <a:lnRef idx="2">
            <a:schemeClr val="dk1"/>
          </a:lnRef>
          <a:fillRef idx="0">
            <a:schemeClr val="dk1"/>
          </a:fillRef>
          <a:effectRef idx="1">
            <a:schemeClr val="dk1"/>
          </a:effectRef>
          <a:fontRef idx="minor">
            <a:schemeClr val="tx1"/>
          </a:fontRef>
        </p:style>
      </p:cxnSp>
      <p:sp>
        <p:nvSpPr>
          <p:cNvPr id="6" name="Textfeld 5">
            <a:extLst>
              <a:ext uri="{FF2B5EF4-FFF2-40B4-BE49-F238E27FC236}">
                <a16:creationId xmlns:a16="http://schemas.microsoft.com/office/drawing/2014/main" id="{168836B6-786A-59DA-A6C6-6FAE60900E9B}"/>
              </a:ext>
            </a:extLst>
          </p:cNvPr>
          <p:cNvSpPr txBox="1"/>
          <p:nvPr/>
        </p:nvSpPr>
        <p:spPr>
          <a:xfrm>
            <a:off x="-3774424" y="5876945"/>
            <a:ext cx="3658374" cy="307777"/>
          </a:xfrm>
          <a:prstGeom prst="rect">
            <a:avLst/>
          </a:prstGeom>
          <a:noFill/>
        </p:spPr>
        <p:txBody>
          <a:bodyPr wrap="none" rtlCol="0">
            <a:spAutoFit/>
          </a:bodyPr>
          <a:lstStyle/>
          <a:p>
            <a:r>
              <a:rPr lang="de-DE" sz="1400" dirty="0"/>
              <a:t>Abb. 1, 2, 3, 4: Körper des Sonnensystems</a:t>
            </a:r>
          </a:p>
        </p:txBody>
      </p:sp>
    </p:spTree>
    <p:extLst>
      <p:ext uri="{BB962C8B-B14F-4D97-AF65-F5344CB8AC3E}">
        <p14:creationId xmlns:p14="http://schemas.microsoft.com/office/powerpoint/2010/main" val="3236192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1FF8-7B90-396E-0501-5114287D3080}"/>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9843FE26-2951-C367-2CBD-5518709922FB}"/>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1C1F2AF4-C41E-D3EF-2716-84B09AC25C6F}"/>
              </a:ext>
            </a:extLst>
          </p:cNvPr>
          <p:cNvSpPr/>
          <p:nvPr/>
        </p:nvSpPr>
        <p:spPr>
          <a:xfrm>
            <a:off x="4061999" y="6258318"/>
            <a:ext cx="8130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C5A410FD-7A68-5F80-3BCF-F7FBE8088F7B}"/>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5E4CF6A5-7978-10E3-6433-D8B923B10A4E}"/>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4A9C7200-5810-6C0E-4D58-220677F3BCBD}"/>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B6EF16BC-484B-4EAD-5B7F-A7E8D9676FB0}"/>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7878507A-7DD3-832A-B548-5137EA32BB1E}"/>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9B55E5CB-D863-8786-4CC9-2BDF06A50759}"/>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25EC9CB1-1802-FAFE-EF65-2D57F4CE803B}"/>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8" name="Titel 7">
            <a:extLst>
              <a:ext uri="{FF2B5EF4-FFF2-40B4-BE49-F238E27FC236}">
                <a16:creationId xmlns:a16="http://schemas.microsoft.com/office/drawing/2014/main" id="{878642DA-037C-05CA-24CB-43EA2943B0D7}"/>
              </a:ext>
            </a:extLst>
          </p:cNvPr>
          <p:cNvSpPr>
            <a:spLocks noGrp="1"/>
          </p:cNvSpPr>
          <p:nvPr>
            <p:ph type="title"/>
          </p:nvPr>
        </p:nvSpPr>
        <p:spPr>
          <a:xfrm>
            <a:off x="4397918" y="2485159"/>
            <a:ext cx="3389632" cy="1560366"/>
          </a:xfrm>
        </p:spPr>
        <p:txBody>
          <a:bodyPr/>
          <a:lstStyle/>
          <a:p>
            <a:r>
              <a:rPr lang="de-DE" sz="4400" dirty="0"/>
              <a:t>Chaos</a:t>
            </a:r>
            <a:endParaRPr lang="de-DE" dirty="0"/>
          </a:p>
        </p:txBody>
      </p:sp>
    </p:spTree>
    <p:extLst>
      <p:ext uri="{BB962C8B-B14F-4D97-AF65-F5344CB8AC3E}">
        <p14:creationId xmlns:p14="http://schemas.microsoft.com/office/powerpoint/2010/main" val="1248601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B1CD-3B5B-A4A5-3215-279722C04A33}"/>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73306383-DE2F-8F47-7A46-CD959393D826}"/>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F55090FA-F172-BB59-91DE-E64992E90697}"/>
              </a:ext>
            </a:extLst>
          </p:cNvPr>
          <p:cNvSpPr/>
          <p:nvPr/>
        </p:nvSpPr>
        <p:spPr>
          <a:xfrm>
            <a:off x="4061999" y="6258318"/>
            <a:ext cx="8130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9F52A77A-981B-B7A2-DBE4-ABE61E4CDB42}"/>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F3F49540-E4E4-38C0-50B3-EB99DF0B64E1}"/>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DFFBA943-F962-A094-DDD3-11DBDC4FFAA6}"/>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ACB024BC-6EB0-20C6-11FF-18CE06317A97}"/>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CD475C2B-133B-6D3B-BFD3-EAE661840E91}"/>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8D2002E7-B69B-827B-05FD-461A06051A22}"/>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C73573A5-C3C4-A1E7-17B5-DA84B68AFBF6}"/>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6" name="Inhaltsplatzhalter 5">
            <a:extLst>
              <a:ext uri="{FF2B5EF4-FFF2-40B4-BE49-F238E27FC236}">
                <a16:creationId xmlns:a16="http://schemas.microsoft.com/office/drawing/2014/main" id="{BD606603-DE0A-2C5B-3136-A00463A528DC}"/>
              </a:ext>
            </a:extLst>
          </p:cNvPr>
          <p:cNvSpPr>
            <a:spLocks noGrp="1"/>
          </p:cNvSpPr>
          <p:nvPr>
            <p:ph idx="1"/>
          </p:nvPr>
        </p:nvSpPr>
        <p:spPr>
          <a:xfrm>
            <a:off x="838200" y="1825625"/>
            <a:ext cx="10515600" cy="3965572"/>
          </a:xfrm>
        </p:spPr>
        <p:txBody>
          <a:bodyPr>
            <a:normAutofit/>
          </a:bodyPr>
          <a:lstStyle/>
          <a:p>
            <a:pPr marL="0" indent="0" algn="ctr">
              <a:buNone/>
            </a:pPr>
            <a:r>
              <a:rPr lang="de-DE" b="1" dirty="0"/>
              <a:t>Sensitive Abhängigkeit von den Anfangsbedingungen</a:t>
            </a:r>
          </a:p>
          <a:p>
            <a:pPr marL="0" indent="0" algn="ctr">
              <a:buNone/>
            </a:pPr>
            <a:r>
              <a:rPr lang="de-DE" sz="1800" dirty="0"/>
              <a:t>„Schmetterlingseffekt“</a:t>
            </a:r>
          </a:p>
          <a:p>
            <a:pPr marL="0" indent="0" algn="ctr">
              <a:buNone/>
            </a:pPr>
            <a:endParaRPr lang="de-DE" b="1" dirty="0"/>
          </a:p>
          <a:p>
            <a:r>
              <a:rPr lang="de-DE" dirty="0"/>
              <a:t>Beschreibt Langzeitverhalten eines dynamischen Systems</a:t>
            </a:r>
          </a:p>
          <a:p>
            <a:r>
              <a:rPr lang="de-DE" dirty="0"/>
              <a:t>Kleine Fehler in den Anfangsbedingungen wachsen exponentiell</a:t>
            </a:r>
          </a:p>
          <a:p>
            <a:r>
              <a:rPr lang="de-DE" dirty="0"/>
              <a:t>Trotzdem noch Deterministisch</a:t>
            </a:r>
          </a:p>
          <a:p>
            <a:pPr lvl="1"/>
            <a:r>
              <a:rPr lang="de-DE" dirty="0"/>
              <a:t>Gedankenexperiment: Laplacescher Dämon</a:t>
            </a:r>
          </a:p>
        </p:txBody>
      </p:sp>
      <p:sp>
        <p:nvSpPr>
          <p:cNvPr id="8" name="Titel 7">
            <a:extLst>
              <a:ext uri="{FF2B5EF4-FFF2-40B4-BE49-F238E27FC236}">
                <a16:creationId xmlns:a16="http://schemas.microsoft.com/office/drawing/2014/main" id="{B70C688D-506E-AE7F-BBC9-C837E0618083}"/>
              </a:ext>
            </a:extLst>
          </p:cNvPr>
          <p:cNvSpPr>
            <a:spLocks noGrp="1"/>
          </p:cNvSpPr>
          <p:nvPr>
            <p:ph type="title"/>
          </p:nvPr>
        </p:nvSpPr>
        <p:spPr>
          <a:xfrm>
            <a:off x="4998509" y="385110"/>
            <a:ext cx="2194980" cy="1009563"/>
          </a:xfrm>
        </p:spPr>
        <p:txBody>
          <a:bodyPr/>
          <a:lstStyle/>
          <a:p>
            <a:r>
              <a:rPr lang="de-DE" dirty="0"/>
              <a:t>Chaos</a:t>
            </a:r>
          </a:p>
        </p:txBody>
      </p:sp>
    </p:spTree>
    <p:extLst>
      <p:ext uri="{BB962C8B-B14F-4D97-AF65-F5344CB8AC3E}">
        <p14:creationId xmlns:p14="http://schemas.microsoft.com/office/powerpoint/2010/main" val="11593886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8ECC-2477-B6D6-ADE9-66AAA999E541}"/>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AB31133B-15A4-24E8-DFB9-542329B22D7B}"/>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97F2CADE-9FA5-34A7-E8B4-60CBA8EDE56B}"/>
              </a:ext>
            </a:extLst>
          </p:cNvPr>
          <p:cNvSpPr/>
          <p:nvPr/>
        </p:nvSpPr>
        <p:spPr>
          <a:xfrm>
            <a:off x="4061999" y="6258318"/>
            <a:ext cx="8130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C138982B-BC55-4B66-F757-EBB284DB1B99}"/>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385B0D01-05B1-DFE3-4258-247E0CFCC7DF}"/>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BBEEE1AD-AF79-009B-6CD6-9A45640BDFE0}"/>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74CB3575-5C05-8220-7A3D-0A7B2071B870}"/>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C37C7AC7-223A-3E72-B88F-2E9363AED1EE}"/>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FD6DA2E3-C1E9-CD0A-5E79-EADB63E18F0A}"/>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1CD63238-D947-D11F-F20F-F52A304B88DA}"/>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6" name="Inhaltsplatzhalter 5">
            <a:extLst>
              <a:ext uri="{FF2B5EF4-FFF2-40B4-BE49-F238E27FC236}">
                <a16:creationId xmlns:a16="http://schemas.microsoft.com/office/drawing/2014/main" id="{5AA24F94-256D-234D-45E2-44B8FDFF1C00}"/>
              </a:ext>
            </a:extLst>
          </p:cNvPr>
          <p:cNvSpPr>
            <a:spLocks noGrp="1"/>
          </p:cNvSpPr>
          <p:nvPr>
            <p:ph idx="1"/>
          </p:nvPr>
        </p:nvSpPr>
        <p:spPr>
          <a:xfrm>
            <a:off x="838200" y="1825625"/>
            <a:ext cx="8714362" cy="3936996"/>
          </a:xfrm>
        </p:spPr>
        <p:txBody>
          <a:bodyPr/>
          <a:lstStyle/>
          <a:p>
            <a:r>
              <a:rPr lang="de-DE" dirty="0"/>
              <a:t>Ebenfalls n-Körper-System</a:t>
            </a:r>
          </a:p>
          <a:p>
            <a:pPr lvl="1"/>
            <a:r>
              <a:rPr lang="de-DE" dirty="0"/>
              <a:t>Sonne, Planeten, Asteroiden und Kometen, Einflüsse außerhalb des Sonnensystems</a:t>
            </a:r>
          </a:p>
          <a:p>
            <a:pPr lvl="1"/>
            <a:r>
              <a:rPr lang="de-DE" dirty="0"/>
              <a:t>Besonderheit: Ein Körper wesentlich größer als alle anderen » Sonne</a:t>
            </a:r>
          </a:p>
          <a:p>
            <a:r>
              <a:rPr lang="de-DE" dirty="0"/>
              <a:t>Lyapunov-Zeit von ≈ 5 Myr</a:t>
            </a:r>
          </a:p>
          <a:p>
            <a:pPr lvl="1"/>
            <a:r>
              <a:rPr lang="de-DE" dirty="0"/>
              <a:t>Nach wenigen Lyapunov-Zeiten verschwinden genaue Vorhersagbarkeiten</a:t>
            </a:r>
          </a:p>
          <a:p>
            <a:r>
              <a:rPr lang="de-DE" dirty="0"/>
              <a:t>Vorhersagen mithilfe von Simulationen</a:t>
            </a:r>
          </a:p>
        </p:txBody>
      </p:sp>
      <p:sp>
        <p:nvSpPr>
          <p:cNvPr id="8" name="Titel 7">
            <a:extLst>
              <a:ext uri="{FF2B5EF4-FFF2-40B4-BE49-F238E27FC236}">
                <a16:creationId xmlns:a16="http://schemas.microsoft.com/office/drawing/2014/main" id="{FB4C97C8-BB8C-E543-3C1B-03E31BC36A7E}"/>
              </a:ext>
            </a:extLst>
          </p:cNvPr>
          <p:cNvSpPr>
            <a:spLocks noGrp="1"/>
          </p:cNvSpPr>
          <p:nvPr>
            <p:ph type="title"/>
          </p:nvPr>
        </p:nvSpPr>
        <p:spPr>
          <a:xfrm>
            <a:off x="4099898" y="257563"/>
            <a:ext cx="3992202" cy="1252218"/>
          </a:xfrm>
        </p:spPr>
        <p:txBody>
          <a:bodyPr/>
          <a:lstStyle/>
          <a:p>
            <a:r>
              <a:rPr lang="de-DE" sz="2800" dirty="0"/>
              <a:t>Chaos</a:t>
            </a:r>
            <a:br>
              <a:rPr lang="de-DE" dirty="0"/>
            </a:br>
            <a:r>
              <a:rPr lang="de-DE" sz="1800" dirty="0"/>
              <a:t>In unserem Sonnensystem</a:t>
            </a:r>
            <a:endParaRPr lang="de-DE" dirty="0"/>
          </a:p>
        </p:txBody>
      </p:sp>
      <mc:AlternateContent xmlns:mc="http://schemas.openxmlformats.org/markup-compatibility/2006" xmlns:a14="http://schemas.microsoft.com/office/drawing/2010/main">
        <mc:Choice Requires="a14">
          <p:sp>
            <p:nvSpPr>
              <p:cNvPr id="3" name="Textfeld 2">
                <a:extLst>
                  <a:ext uri="{FF2B5EF4-FFF2-40B4-BE49-F238E27FC236}">
                    <a16:creationId xmlns:a16="http://schemas.microsoft.com/office/drawing/2014/main" id="{94B3C616-1333-D566-4287-B5B7D8FD58C7}"/>
                  </a:ext>
                </a:extLst>
              </p:cNvPr>
              <p:cNvSpPr txBox="1"/>
              <p:nvPr/>
            </p:nvSpPr>
            <p:spPr>
              <a:xfrm>
                <a:off x="8844532" y="4726044"/>
                <a:ext cx="2412006" cy="38664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de-DE" sz="2400" i="1" smtClean="0">
                              <a:latin typeface="Cambria Math" panose="02040503050406030204" pitchFamily="18" charset="0"/>
                            </a:rPr>
                          </m:ctrlPr>
                        </m:dPr>
                        <m:e>
                          <m:r>
                            <a:rPr lang="de-DE" sz="2400" i="1">
                              <a:latin typeface="Cambria Math" panose="02040503050406030204" pitchFamily="18" charset="0"/>
                            </a:rPr>
                            <m:t>𝛿</m:t>
                          </m:r>
                          <m:r>
                            <a:rPr lang="de-DE" sz="2400" i="1">
                              <a:latin typeface="Cambria Math" panose="02040503050406030204" pitchFamily="18" charset="0"/>
                            </a:rPr>
                            <m:t>(</m:t>
                          </m:r>
                          <m:r>
                            <a:rPr lang="de-DE" sz="2400" i="1">
                              <a:latin typeface="Cambria Math" panose="02040503050406030204" pitchFamily="18" charset="0"/>
                            </a:rPr>
                            <m:t>𝑡</m:t>
                          </m:r>
                          <m:r>
                            <a:rPr lang="de-DE" sz="2400" i="1">
                              <a:latin typeface="Cambria Math" panose="02040503050406030204" pitchFamily="18" charset="0"/>
                            </a:rPr>
                            <m:t>)</m:t>
                          </m:r>
                        </m:e>
                      </m:d>
                      <m:r>
                        <a:rPr lang="de-DE" sz="2400" i="1">
                          <a:latin typeface="Cambria Math" panose="02040503050406030204" pitchFamily="18" charset="0"/>
                          <a:ea typeface="Cambria Math" panose="02040503050406030204" pitchFamily="18" charset="0"/>
                        </a:rPr>
                        <m:t>≈</m:t>
                      </m:r>
                      <m:sSup>
                        <m:sSupPr>
                          <m:ctrlPr>
                            <a:rPr lang="de-DE" sz="2400" i="1">
                              <a:latin typeface="Cambria Math" panose="02040503050406030204" pitchFamily="18" charset="0"/>
                              <a:ea typeface="Cambria Math" panose="02040503050406030204" pitchFamily="18" charset="0"/>
                            </a:rPr>
                          </m:ctrlPr>
                        </m:sSupPr>
                        <m:e>
                          <m:r>
                            <a:rPr lang="de-DE" sz="2400" i="1">
                              <a:latin typeface="Cambria Math" panose="02040503050406030204" pitchFamily="18" charset="0"/>
                              <a:ea typeface="Cambria Math" panose="02040503050406030204" pitchFamily="18" charset="0"/>
                            </a:rPr>
                            <m:t>𝑒</m:t>
                          </m:r>
                        </m:e>
                        <m:sup>
                          <m:r>
                            <a:rPr lang="de-DE" sz="2400" i="1">
                              <a:latin typeface="Cambria Math" panose="02040503050406030204" pitchFamily="18" charset="0"/>
                              <a:ea typeface="Cambria Math" panose="02040503050406030204" pitchFamily="18" charset="0"/>
                            </a:rPr>
                            <m:t>𝜆</m:t>
                          </m:r>
                          <m:r>
                            <a:rPr lang="de-DE" sz="2400" i="1">
                              <a:latin typeface="Cambria Math" panose="02040503050406030204" pitchFamily="18" charset="0"/>
                              <a:ea typeface="Cambria Math" panose="02040503050406030204" pitchFamily="18" charset="0"/>
                            </a:rPr>
                            <m:t>𝑡</m:t>
                          </m:r>
                        </m:sup>
                      </m:sSup>
                      <m:d>
                        <m:dPr>
                          <m:begChr m:val="‖"/>
                          <m:endChr m:val="‖"/>
                          <m:ctrlPr>
                            <a:rPr lang="de-DE" sz="2400" i="1">
                              <a:latin typeface="Cambria Math" panose="02040503050406030204" pitchFamily="18" charset="0"/>
                              <a:ea typeface="Cambria Math" panose="02040503050406030204" pitchFamily="18" charset="0"/>
                            </a:rPr>
                          </m:ctrlPr>
                        </m:dPr>
                        <m:e>
                          <m:sSub>
                            <m:sSubPr>
                              <m:ctrlPr>
                                <a:rPr lang="de-DE" sz="2400" i="1">
                                  <a:latin typeface="Cambria Math" panose="02040503050406030204" pitchFamily="18" charset="0"/>
                                  <a:ea typeface="Cambria Math" panose="02040503050406030204" pitchFamily="18" charset="0"/>
                                </a:rPr>
                              </m:ctrlPr>
                            </m:sSubPr>
                            <m:e>
                              <m:r>
                                <a:rPr lang="de-DE" sz="2400" i="1">
                                  <a:latin typeface="Cambria Math" panose="02040503050406030204" pitchFamily="18" charset="0"/>
                                  <a:ea typeface="Cambria Math" panose="02040503050406030204" pitchFamily="18" charset="0"/>
                                </a:rPr>
                                <m:t>𝛿</m:t>
                              </m:r>
                            </m:e>
                            <m:sub>
                              <m:r>
                                <a:rPr lang="de-DE" sz="2400" i="1">
                                  <a:latin typeface="Cambria Math" panose="02040503050406030204" pitchFamily="18" charset="0"/>
                                  <a:ea typeface="Cambria Math" panose="02040503050406030204" pitchFamily="18" charset="0"/>
                                </a:rPr>
                                <m:t>0</m:t>
                              </m:r>
                            </m:sub>
                          </m:sSub>
                        </m:e>
                      </m:d>
                    </m:oMath>
                  </m:oMathPara>
                </a14:m>
                <a:endParaRPr lang="de-DE" sz="2400" b="0" i="1" dirty="0">
                  <a:ea typeface="Cambria Math" panose="02040503050406030204" pitchFamily="18" charset="0"/>
                </a:endParaRPr>
              </a:p>
            </p:txBody>
          </p:sp>
        </mc:Choice>
        <mc:Fallback xmlns="">
          <p:sp>
            <p:nvSpPr>
              <p:cNvPr id="3" name="Textfeld 2">
                <a:extLst>
                  <a:ext uri="{FF2B5EF4-FFF2-40B4-BE49-F238E27FC236}">
                    <a16:creationId xmlns:a16="http://schemas.microsoft.com/office/drawing/2014/main" id="{94B3C616-1333-D566-4287-B5B7D8FD58C7}"/>
                  </a:ext>
                </a:extLst>
              </p:cNvPr>
              <p:cNvSpPr txBox="1">
                <a:spLocks noRot="1" noChangeAspect="1" noMove="1" noResize="1" noEditPoints="1" noAdjustHandles="1" noChangeArrowheads="1" noChangeShapeType="1" noTextEdit="1"/>
              </p:cNvSpPr>
              <p:nvPr/>
            </p:nvSpPr>
            <p:spPr>
              <a:xfrm>
                <a:off x="8844532" y="4726044"/>
                <a:ext cx="2412006" cy="386644"/>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300F4513-8EF7-D529-DC66-0DF9B818ACCC}"/>
                  </a:ext>
                </a:extLst>
              </p:cNvPr>
              <p:cNvSpPr txBox="1"/>
              <p:nvPr/>
            </p:nvSpPr>
            <p:spPr>
              <a:xfrm>
                <a:off x="7875707" y="5235664"/>
                <a:ext cx="4054123" cy="738664"/>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lang="de-DE" sz="2400" i="1" smtClean="0">
                          <a:latin typeface="Cambria Math" panose="02040503050406030204" pitchFamily="18" charset="0"/>
                          <a:ea typeface="Cambria Math" panose="02040503050406030204" pitchFamily="18" charset="0"/>
                        </a:rPr>
                        <m:t>𝛿</m:t>
                      </m:r>
                      <m:acc>
                        <m:accPr>
                          <m:chr m:val="̂"/>
                          <m:ctrlPr>
                            <a:rPr lang="de-DE" sz="2400" i="1">
                              <a:latin typeface="Cambria Math" panose="02040503050406030204" pitchFamily="18" charset="0"/>
                              <a:ea typeface="Cambria Math" panose="02040503050406030204" pitchFamily="18" charset="0"/>
                            </a:rPr>
                          </m:ctrlPr>
                        </m:accPr>
                        <m:e>
                          <m:r>
                            <a:rPr lang="de-DE" sz="2400" i="1">
                              <a:latin typeface="Cambria Math" panose="02040503050406030204" pitchFamily="18" charset="0"/>
                              <a:ea typeface="Cambria Math" panose="02040503050406030204" pitchFamily="18" charset="0"/>
                            </a:rPr>
                            <m:t>=</m:t>
                          </m:r>
                        </m:e>
                      </m:acc>
                      <m:r>
                        <m:rPr>
                          <m:sty m:val="p"/>
                        </m:rPr>
                        <a:rPr lang="de-DE" sz="2400" b="0" i="0" smtClean="0">
                          <a:latin typeface="Cambria Math" panose="02040503050406030204" pitchFamily="18" charset="0"/>
                          <a:ea typeface="Cambria Math" panose="02040503050406030204" pitchFamily="18" charset="0"/>
                        </a:rPr>
                        <m:t>Differenz</m:t>
                      </m:r>
                      <m:r>
                        <a:rPr lang="de-DE" sz="2400" b="0" i="0" smtClean="0">
                          <a:latin typeface="Cambria Math" panose="02040503050406030204" pitchFamily="18" charset="0"/>
                          <a:ea typeface="Cambria Math" panose="02040503050406030204" pitchFamily="18" charset="0"/>
                        </a:rPr>
                        <m:t> </m:t>
                      </m:r>
                      <m:r>
                        <m:rPr>
                          <m:sty m:val="p"/>
                        </m:rPr>
                        <a:rPr lang="de-DE" sz="2400" b="0" i="0" smtClean="0">
                          <a:latin typeface="Cambria Math" panose="02040503050406030204" pitchFamily="18" charset="0"/>
                          <a:ea typeface="Cambria Math" panose="02040503050406030204" pitchFamily="18" charset="0"/>
                        </a:rPr>
                        <m:t>zweier</m:t>
                      </m:r>
                      <m:r>
                        <a:rPr lang="de-DE" sz="2400" b="0" i="0" smtClean="0">
                          <a:latin typeface="Cambria Math" panose="02040503050406030204" pitchFamily="18" charset="0"/>
                          <a:ea typeface="Cambria Math" panose="02040503050406030204" pitchFamily="18" charset="0"/>
                        </a:rPr>
                        <m:t> </m:t>
                      </m:r>
                      <m:r>
                        <m:rPr>
                          <m:sty m:val="p"/>
                        </m:rPr>
                        <a:rPr lang="de-DE" sz="2400" i="0">
                          <a:latin typeface="Cambria Math" panose="02040503050406030204" pitchFamily="18" charset="0"/>
                          <a:ea typeface="Cambria Math" panose="02040503050406030204" pitchFamily="18" charset="0"/>
                        </a:rPr>
                        <m:t>System</m:t>
                      </m:r>
                      <m:r>
                        <m:rPr>
                          <m:sty m:val="p"/>
                        </m:rPr>
                        <a:rPr lang="de-DE" sz="2400" b="0" i="0" smtClean="0">
                          <a:latin typeface="Cambria Math" panose="02040503050406030204" pitchFamily="18" charset="0"/>
                          <a:ea typeface="Cambria Math" panose="02040503050406030204" pitchFamily="18" charset="0"/>
                        </a:rPr>
                        <m:t>e</m:t>
                      </m:r>
                    </m:oMath>
                  </m:oMathPara>
                </a14:m>
                <a:br>
                  <a:rPr lang="de-DE" sz="2400" i="1" dirty="0">
                    <a:ea typeface="Cambria Math" panose="02040503050406030204" pitchFamily="18" charset="0"/>
                  </a:rPr>
                </a:br>
                <a14:m>
                  <m:oMath xmlns:m="http://schemas.openxmlformats.org/officeDocument/2006/math">
                    <m:r>
                      <a:rPr lang="de-DE" sz="2400" b="0" i="1" smtClean="0">
                        <a:latin typeface="Cambria Math" panose="02040503050406030204" pitchFamily="18" charset="0"/>
                        <a:ea typeface="Cambria Math" panose="02040503050406030204" pitchFamily="18" charset="0"/>
                      </a:rPr>
                      <m:t>𝜆</m:t>
                    </m:r>
                    <m:acc>
                      <m:accPr>
                        <m:chr m:val="̂"/>
                        <m:ctrlPr>
                          <a:rPr lang="de-DE" sz="2400" i="1">
                            <a:latin typeface="Cambria Math" panose="02040503050406030204" pitchFamily="18" charset="0"/>
                            <a:ea typeface="Cambria Math" panose="02040503050406030204" pitchFamily="18" charset="0"/>
                          </a:rPr>
                        </m:ctrlPr>
                      </m:accPr>
                      <m:e>
                        <m:r>
                          <a:rPr lang="de-DE" sz="2400" i="1">
                            <a:latin typeface="Cambria Math" panose="02040503050406030204" pitchFamily="18" charset="0"/>
                            <a:ea typeface="Cambria Math" panose="02040503050406030204" pitchFamily="18" charset="0"/>
                          </a:rPr>
                          <m:t>=</m:t>
                        </m:r>
                      </m:e>
                    </m:acc>
                  </m:oMath>
                </a14:m>
                <a:r>
                  <a:rPr lang="de-DE" sz="2400" dirty="0">
                    <a:ea typeface="Cambria Math" panose="02040503050406030204" pitchFamily="18" charset="0"/>
                  </a:rPr>
                  <a:t> </a:t>
                </a:r>
                <a:r>
                  <a:rPr lang="de-DE" sz="2400" dirty="0">
                    <a:latin typeface="Cambria Math" panose="02040503050406030204" pitchFamily="18" charset="0"/>
                    <a:ea typeface="Cambria Math" panose="02040503050406030204" pitchFamily="18" charset="0"/>
                  </a:rPr>
                  <a:t>Lyapunov-Exponent</a:t>
                </a:r>
              </a:p>
            </p:txBody>
          </p:sp>
        </mc:Choice>
        <mc:Fallback xmlns="">
          <p:sp>
            <p:nvSpPr>
              <p:cNvPr id="7" name="Textfeld 6">
                <a:extLst>
                  <a:ext uri="{FF2B5EF4-FFF2-40B4-BE49-F238E27FC236}">
                    <a16:creationId xmlns:a16="http://schemas.microsoft.com/office/drawing/2014/main" id="{300F4513-8EF7-D529-DC66-0DF9B818ACCC}"/>
                  </a:ext>
                </a:extLst>
              </p:cNvPr>
              <p:cNvSpPr txBox="1">
                <a:spLocks noRot="1" noChangeAspect="1" noMove="1" noResize="1" noEditPoints="1" noAdjustHandles="1" noChangeArrowheads="1" noChangeShapeType="1" noTextEdit="1"/>
              </p:cNvSpPr>
              <p:nvPr/>
            </p:nvSpPr>
            <p:spPr>
              <a:xfrm>
                <a:off x="7875707" y="5235664"/>
                <a:ext cx="4054123" cy="738664"/>
              </a:xfrm>
              <a:prstGeom prst="rect">
                <a:avLst/>
              </a:prstGeom>
              <a:blipFill>
                <a:blip r:embed="rId4"/>
                <a:stretch>
                  <a:fillRect l="-451" t="-8264" b="-23140"/>
                </a:stretch>
              </a:blipFill>
            </p:spPr>
            <p:txBody>
              <a:bodyPr/>
              <a:lstStyle/>
              <a:p>
                <a:r>
                  <a:rPr lang="de-DE">
                    <a:noFill/>
                  </a:rPr>
                  <a:t> </a:t>
                </a:r>
              </a:p>
            </p:txBody>
          </p:sp>
        </mc:Fallback>
      </mc:AlternateContent>
    </p:spTree>
    <p:extLst>
      <p:ext uri="{BB962C8B-B14F-4D97-AF65-F5344CB8AC3E}">
        <p14:creationId xmlns:p14="http://schemas.microsoft.com/office/powerpoint/2010/main" val="4793703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FC69-3C0D-91E4-3207-8A341E41445E}"/>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E6FC282B-D795-1959-2F70-A174D7A6B01D}"/>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9FA9EC1C-6543-0411-26CF-E067179012EA}"/>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7E913783-37BB-B48F-C480-60017D1C3718}"/>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1CD83F56-C095-0F6A-6364-AAD06D784F56}"/>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BF3383DE-B215-69A5-68E0-5DBE3E30C0E8}"/>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062C56EB-4989-C972-2111-A1CC9F042FF6}"/>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42C53A98-1CA1-E6B0-1DE2-732234009E70}"/>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68A0CB2A-B438-DCF9-6D69-D2221535EB69}"/>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433259C9-F80A-4DE7-1BD3-EDC51B3C79D1}"/>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8" name="Titel 7">
            <a:extLst>
              <a:ext uri="{FF2B5EF4-FFF2-40B4-BE49-F238E27FC236}">
                <a16:creationId xmlns:a16="http://schemas.microsoft.com/office/drawing/2014/main" id="{49C4494B-BF9D-00EB-90C9-183E9C53F347}"/>
              </a:ext>
            </a:extLst>
          </p:cNvPr>
          <p:cNvSpPr>
            <a:spLocks noGrp="1"/>
          </p:cNvSpPr>
          <p:nvPr>
            <p:ph type="title"/>
          </p:nvPr>
        </p:nvSpPr>
        <p:spPr>
          <a:xfrm>
            <a:off x="4546763" y="2527419"/>
            <a:ext cx="3091942" cy="1009563"/>
          </a:xfrm>
        </p:spPr>
        <p:txBody>
          <a:bodyPr/>
          <a:lstStyle/>
          <a:p>
            <a:r>
              <a:rPr lang="de-DE" dirty="0"/>
              <a:t>Simulation</a:t>
            </a:r>
          </a:p>
        </p:txBody>
      </p:sp>
    </p:spTree>
    <p:extLst>
      <p:ext uri="{BB962C8B-B14F-4D97-AF65-F5344CB8AC3E}">
        <p14:creationId xmlns:p14="http://schemas.microsoft.com/office/powerpoint/2010/main" val="41928920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1D280-C264-471D-81C7-323DB1CE0801}"/>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67120ACA-FFAA-C987-8A7D-A3C3EC21ED41}"/>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59675EB4-F39D-4BD4-E198-A70B0A2BFAE5}"/>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A1B22484-B226-582C-8D33-F5AC94D1271F}"/>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243D792B-2F5C-1FD2-1149-B1EF8554304F}"/>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03432AC5-230C-5F96-A35E-AB0A7DBF9556}"/>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1AE32F2B-46A1-556B-408D-812A3841ACBE}"/>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1B57FD46-70BB-FC79-70FC-0D3C82F3DF89}"/>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1ECC65D2-A164-1B0F-0279-4422AB1AABBC}"/>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C105AF7B-407B-81B2-5E33-DF21CCD37C56}"/>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13" name="Grafik 12">
            <a:extLst>
              <a:ext uri="{FF2B5EF4-FFF2-40B4-BE49-F238E27FC236}">
                <a16:creationId xmlns:a16="http://schemas.microsoft.com/office/drawing/2014/main" id="{2AD2A2EF-82FF-5290-3BD2-2C098FC03B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78103" y="-5764"/>
            <a:ext cx="6029260" cy="6253344"/>
          </a:xfrm>
          <a:prstGeom prst="rect">
            <a:avLst/>
          </a:prstGeom>
        </p:spPr>
      </p:pic>
      <p:sp>
        <p:nvSpPr>
          <p:cNvPr id="14" name="Titel 7">
            <a:extLst>
              <a:ext uri="{FF2B5EF4-FFF2-40B4-BE49-F238E27FC236}">
                <a16:creationId xmlns:a16="http://schemas.microsoft.com/office/drawing/2014/main" id="{D11306A7-BF3F-C5E7-96C8-03B5D0C55E44}"/>
              </a:ext>
            </a:extLst>
          </p:cNvPr>
          <p:cNvSpPr>
            <a:spLocks noGrp="1"/>
          </p:cNvSpPr>
          <p:nvPr>
            <p:ph type="title"/>
          </p:nvPr>
        </p:nvSpPr>
        <p:spPr>
          <a:xfrm>
            <a:off x="4524367" y="-1185077"/>
            <a:ext cx="3091942" cy="1009563"/>
          </a:xfrm>
        </p:spPr>
        <p:txBody>
          <a:bodyPr/>
          <a:lstStyle/>
          <a:p>
            <a:r>
              <a:rPr lang="de-DE" dirty="0"/>
              <a:t>Simulation</a:t>
            </a:r>
          </a:p>
        </p:txBody>
      </p:sp>
    </p:spTree>
    <p:extLst>
      <p:ext uri="{BB962C8B-B14F-4D97-AF65-F5344CB8AC3E}">
        <p14:creationId xmlns:p14="http://schemas.microsoft.com/office/powerpoint/2010/main" val="39343911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4777-969C-96DB-F2FD-2E8DD2F4BC1A}"/>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A94DA831-63D5-63F9-F752-C4B1CE8A2261}"/>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FD18F38E-71B7-C1F5-F717-6F0CEEDC2A47}"/>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5216CB9-4384-40EE-0150-5A01A9811E62}"/>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DAC7B47F-B374-B1DD-2CFF-0EC2DD3F8158}"/>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E86CD0E2-7A38-34A0-37E2-848F73399AAC}"/>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AC0A7112-8387-1E4C-D644-C0A84365C45C}"/>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445E8C36-91C3-55BC-AF9D-32FAC82AB6C6}"/>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0F841E95-980C-3024-5893-5F454E3157D2}"/>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314F7E03-F07B-B245-3BB1-46E94BFA40A7}"/>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7" name="Grafik 6">
            <a:extLst>
              <a:ext uri="{FF2B5EF4-FFF2-40B4-BE49-F238E27FC236}">
                <a16:creationId xmlns:a16="http://schemas.microsoft.com/office/drawing/2014/main" id="{F9F5E8DB-DED3-6AA6-48FF-4E7B9225B9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73398" y="8052"/>
            <a:ext cx="7033203" cy="6247580"/>
          </a:xfrm>
          <a:prstGeom prst="rect">
            <a:avLst/>
          </a:prstGeom>
        </p:spPr>
      </p:pic>
      <p:sp>
        <p:nvSpPr>
          <p:cNvPr id="3" name="Rechteck: abgerundete Ecken 2">
            <a:extLst>
              <a:ext uri="{FF2B5EF4-FFF2-40B4-BE49-F238E27FC236}">
                <a16:creationId xmlns:a16="http://schemas.microsoft.com/office/drawing/2014/main" id="{EA1C3AFF-3B4E-D342-08DB-6D6CAAC1AF7E}"/>
              </a:ext>
            </a:extLst>
          </p:cNvPr>
          <p:cNvSpPr/>
          <p:nvPr/>
        </p:nvSpPr>
        <p:spPr>
          <a:xfrm>
            <a:off x="5818760" y="1027111"/>
            <a:ext cx="1623439" cy="266601"/>
          </a:xfrm>
          <a:prstGeom prst="roundRect">
            <a:avLst>
              <a:gd name="adj" fmla="val 36074"/>
            </a:avLst>
          </a:prstGeom>
          <a:solidFill>
            <a:schemeClr val="accent5">
              <a:lumMod val="60000"/>
              <a:lumOff val="4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p:spTree>
    <p:extLst>
      <p:ext uri="{BB962C8B-B14F-4D97-AF65-F5344CB8AC3E}">
        <p14:creationId xmlns:p14="http://schemas.microsoft.com/office/powerpoint/2010/main" val="27453417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E316C-9D0A-F797-0820-09EB10B161D4}"/>
            </a:ext>
          </a:extLst>
        </p:cNvPr>
        <p:cNvGrpSpPr/>
        <p:nvPr/>
      </p:nvGrpSpPr>
      <p:grpSpPr>
        <a:xfrm>
          <a:off x="0" y="0"/>
          <a:ext cx="0" cy="0"/>
          <a:chOff x="0" y="0"/>
          <a:chExt cx="0" cy="0"/>
        </a:xfrm>
      </p:grpSpPr>
      <p:sp>
        <p:nvSpPr>
          <p:cNvPr id="3" name="Rechteck: abgerundete Ecken 2">
            <a:extLst>
              <a:ext uri="{FF2B5EF4-FFF2-40B4-BE49-F238E27FC236}">
                <a16:creationId xmlns:a16="http://schemas.microsoft.com/office/drawing/2014/main" id="{E85364F5-3498-0A9F-8720-F21E730C7C8A}"/>
              </a:ext>
            </a:extLst>
          </p:cNvPr>
          <p:cNvSpPr/>
          <p:nvPr/>
        </p:nvSpPr>
        <p:spPr>
          <a:xfrm>
            <a:off x="9863936" y="4235161"/>
            <a:ext cx="1193021" cy="309964"/>
          </a:xfrm>
          <a:prstGeom prst="roundRect">
            <a:avLst>
              <a:gd name="adj" fmla="val 3607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abgerundete Ecken 28">
            <a:extLst>
              <a:ext uri="{FF2B5EF4-FFF2-40B4-BE49-F238E27FC236}">
                <a16:creationId xmlns:a16="http://schemas.microsoft.com/office/drawing/2014/main" id="{14B04C79-9AD5-9609-05AC-D5DEDFDB8C5E}"/>
              </a:ext>
            </a:extLst>
          </p:cNvPr>
          <p:cNvSpPr/>
          <p:nvPr/>
        </p:nvSpPr>
        <p:spPr>
          <a:xfrm>
            <a:off x="8124000" y="4998460"/>
            <a:ext cx="2733117" cy="620499"/>
          </a:xfrm>
          <a:prstGeom prst="roundRect">
            <a:avLst>
              <a:gd name="adj" fmla="val 36074"/>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abgerundete Ecken 23">
            <a:extLst>
              <a:ext uri="{FF2B5EF4-FFF2-40B4-BE49-F238E27FC236}">
                <a16:creationId xmlns:a16="http://schemas.microsoft.com/office/drawing/2014/main" id="{33B186B1-0C08-3C5F-6BD3-D3A4ECDA44DA}"/>
              </a:ext>
            </a:extLst>
          </p:cNvPr>
          <p:cNvSpPr/>
          <p:nvPr/>
        </p:nvSpPr>
        <p:spPr>
          <a:xfrm>
            <a:off x="7811763" y="2392259"/>
            <a:ext cx="3357590" cy="1186626"/>
          </a:xfrm>
          <a:prstGeom prst="roundRect">
            <a:avLst>
              <a:gd name="adj" fmla="val 36074"/>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a:extLst>
              <a:ext uri="{FF2B5EF4-FFF2-40B4-BE49-F238E27FC236}">
                <a16:creationId xmlns:a16="http://schemas.microsoft.com/office/drawing/2014/main" id="{FF87DAAA-52FF-DA5E-310B-338BAA6BA780}"/>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EAC531AB-ED64-F168-D2DC-B043F249B9F2}"/>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08F38C43-992A-4261-9080-603941E19220}"/>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6EF641FE-9FAB-C1EB-EB56-73AAA2073320}"/>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BFABEC2E-3A3E-14E2-2DAF-E1E3FC4CC311}"/>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ECA0FB15-70A7-1E23-B7F0-6CC63CAE1471}"/>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9E103542-EEF4-8EAB-83A8-5CC9EDC7C883}"/>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A8930F3D-EC8D-35C7-EB84-51DF576F56AB}"/>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53070AFB-798B-F548-3E49-72B33B9FF1E1}"/>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6" name="Grafik 5">
            <a:extLst>
              <a:ext uri="{FF2B5EF4-FFF2-40B4-BE49-F238E27FC236}">
                <a16:creationId xmlns:a16="http://schemas.microsoft.com/office/drawing/2014/main" id="{CEB7EF25-F1EE-8680-8739-15FC4D17A8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8010" y="972762"/>
            <a:ext cx="6878407" cy="4503194"/>
          </a:xfrm>
          <a:prstGeom prst="rect">
            <a:avLst/>
          </a:prstGeom>
        </p:spPr>
      </p:pic>
      <p:sp>
        <p:nvSpPr>
          <p:cNvPr id="10" name="Titel 7">
            <a:extLst>
              <a:ext uri="{FF2B5EF4-FFF2-40B4-BE49-F238E27FC236}">
                <a16:creationId xmlns:a16="http://schemas.microsoft.com/office/drawing/2014/main" id="{C1D1FEFA-D0FD-BDEF-713B-41DE38FEB6BB}"/>
              </a:ext>
            </a:extLst>
          </p:cNvPr>
          <p:cNvSpPr>
            <a:spLocks noGrp="1"/>
          </p:cNvSpPr>
          <p:nvPr>
            <p:ph type="title"/>
          </p:nvPr>
        </p:nvSpPr>
        <p:spPr>
          <a:xfrm>
            <a:off x="4524367" y="-1185077"/>
            <a:ext cx="3091942" cy="1009563"/>
          </a:xfrm>
        </p:spPr>
        <p:txBody>
          <a:bodyPr/>
          <a:lstStyle/>
          <a:p>
            <a:r>
              <a:rPr lang="de-DE" dirty="0"/>
              <a:t>Simulation</a:t>
            </a:r>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A80EA2D-BC98-4C1C-A486-10364E80E877}"/>
                  </a:ext>
                </a:extLst>
              </p:cNvPr>
              <p:cNvSpPr txBox="1"/>
              <p:nvPr/>
            </p:nvSpPr>
            <p:spPr>
              <a:xfrm>
                <a:off x="7433854" y="4311797"/>
                <a:ext cx="1049711" cy="6866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𝑌</m:t>
                          </m:r>
                        </m:e>
                        <m:sub>
                          <m:r>
                            <a:rPr lang="de-DE" b="0" i="1" smtClean="0">
                              <a:latin typeface="Cambria Math" panose="02040503050406030204" pitchFamily="18" charset="0"/>
                            </a:rPr>
                            <m:t>𝑜</m:t>
                          </m:r>
                        </m:sub>
                      </m:sSub>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r>
                                  <m:rPr>
                                    <m:brk m:alnAt="7"/>
                                  </m:rPr>
                                  <a:rPr lang="de-DE" b="0" i="1" smtClean="0">
                                    <a:latin typeface="Cambria Math" panose="02040503050406030204" pitchFamily="18" charset="0"/>
                                  </a:rPr>
                                  <m:t>𝑚</m:t>
                                </m:r>
                              </m:e>
                            </m:mr>
                            <m:mr>
                              <m:e>
                                <m:r>
                                  <a:rPr lang="de-DE" b="0" i="1" smtClean="0">
                                    <a:latin typeface="Cambria Math" panose="02040503050406030204" pitchFamily="18" charset="0"/>
                                  </a:rPr>
                                  <m:t>𝑟</m:t>
                                </m:r>
                              </m:e>
                            </m:mr>
                            <m:mr>
                              <m:e>
                                <m:r>
                                  <a:rPr lang="de-DE" b="0" i="1" smtClean="0">
                                    <a:latin typeface="Cambria Math" panose="02040503050406030204" pitchFamily="18" charset="0"/>
                                  </a:rPr>
                                  <m:t>𝑣</m:t>
                                </m:r>
                              </m:e>
                            </m:mr>
                          </m:m>
                        </m:e>
                      </m:d>
                    </m:oMath>
                  </m:oMathPara>
                </a14:m>
                <a:endParaRPr lang="de-DE" dirty="0"/>
              </a:p>
            </p:txBody>
          </p:sp>
        </mc:Choice>
        <mc:Fallback xmlns="">
          <p:sp>
            <p:nvSpPr>
              <p:cNvPr id="17" name="Textfeld 16">
                <a:extLst>
                  <a:ext uri="{FF2B5EF4-FFF2-40B4-BE49-F238E27FC236}">
                    <a16:creationId xmlns:a16="http://schemas.microsoft.com/office/drawing/2014/main" id="{DA80EA2D-BC98-4C1C-A486-10364E80E877}"/>
                  </a:ext>
                </a:extLst>
              </p:cNvPr>
              <p:cNvSpPr txBox="1">
                <a:spLocks noRot="1" noChangeAspect="1" noMove="1" noResize="1" noEditPoints="1" noAdjustHandles="1" noChangeArrowheads="1" noChangeShapeType="1" noTextEdit="1"/>
              </p:cNvSpPr>
              <p:nvPr/>
            </p:nvSpPr>
            <p:spPr>
              <a:xfrm>
                <a:off x="7433854" y="4311797"/>
                <a:ext cx="1049711" cy="686663"/>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B4CC10D0-B640-F909-D37C-1DA83541D20B}"/>
                  </a:ext>
                </a:extLst>
              </p:cNvPr>
              <p:cNvSpPr txBox="1"/>
              <p:nvPr/>
            </p:nvSpPr>
            <p:spPr>
              <a:xfrm>
                <a:off x="9080555" y="4276851"/>
                <a:ext cx="2025042" cy="7337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𝑚</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𝑟</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𝑣</m:t>
                                    </m:r>
                                  </m:e>
                                </m:acc>
                              </m:e>
                            </m:mr>
                          </m:m>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b="0" i="1" smtClean="0">
                                    <a:latin typeface="Cambria Math" panose="02040503050406030204" pitchFamily="18" charset="0"/>
                                  </a:rPr>
                                  <m:t>0</m:t>
                                </m:r>
                              </m:e>
                            </m:mr>
                            <m:mr>
                              <m:e>
                                <m:r>
                                  <a:rPr lang="de-DE" b="0" i="1" smtClean="0">
                                    <a:latin typeface="Cambria Math" panose="02040503050406030204" pitchFamily="18" charset="0"/>
                                  </a:rPr>
                                  <m:t>𝑣</m:t>
                                </m:r>
                              </m:e>
                            </m:mr>
                            <m:mr>
                              <m:e>
                                <m:r>
                                  <a:rPr lang="de-DE" b="0" i="1" smtClean="0">
                                    <a:latin typeface="Cambria Math" panose="02040503050406030204" pitchFamily="18" charset="0"/>
                                  </a:rPr>
                                  <m:t>𝑎</m:t>
                                </m:r>
                              </m:e>
                            </m:mr>
                          </m:m>
                        </m:e>
                      </m:d>
                    </m:oMath>
                  </m:oMathPara>
                </a14:m>
                <a:endParaRPr lang="de-DE" dirty="0"/>
              </a:p>
            </p:txBody>
          </p:sp>
        </mc:Choice>
        <mc:Fallback xmlns="">
          <p:sp>
            <p:nvSpPr>
              <p:cNvPr id="18" name="Textfeld 17">
                <a:extLst>
                  <a:ext uri="{FF2B5EF4-FFF2-40B4-BE49-F238E27FC236}">
                    <a16:creationId xmlns:a16="http://schemas.microsoft.com/office/drawing/2014/main" id="{B4CC10D0-B640-F909-D37C-1DA83541D20B}"/>
                  </a:ext>
                </a:extLst>
              </p:cNvPr>
              <p:cNvSpPr txBox="1">
                <a:spLocks noRot="1" noChangeAspect="1" noMove="1" noResize="1" noEditPoints="1" noAdjustHandles="1" noChangeArrowheads="1" noChangeShapeType="1" noTextEdit="1"/>
              </p:cNvSpPr>
              <p:nvPr/>
            </p:nvSpPr>
            <p:spPr>
              <a:xfrm>
                <a:off x="9080555" y="4276851"/>
                <a:ext cx="2025042" cy="733791"/>
              </a:xfrm>
              <a:prstGeom prst="rect">
                <a:avLst/>
              </a:prstGeom>
              <a:blipFill>
                <a:blip r:embed="rId5"/>
                <a:stretch>
                  <a:fillRect/>
                </a:stretch>
              </a:blipFill>
            </p:spPr>
            <p:txBody>
              <a:bodyPr/>
              <a:lstStyle/>
              <a:p>
                <a:r>
                  <a:rPr lang="de-DE">
                    <a:noFill/>
                  </a:rPr>
                  <a:t> </a:t>
                </a:r>
              </a:p>
            </p:txBody>
          </p:sp>
        </mc:Fallback>
      </mc:AlternateContent>
      <p:sp>
        <p:nvSpPr>
          <p:cNvPr id="19" name="Freihandform: Form 18">
            <a:extLst>
              <a:ext uri="{FF2B5EF4-FFF2-40B4-BE49-F238E27FC236}">
                <a16:creationId xmlns:a16="http://schemas.microsoft.com/office/drawing/2014/main" id="{324CF956-41F9-9EED-0C4E-9E4DA44E15EA}"/>
              </a:ext>
            </a:extLst>
          </p:cNvPr>
          <p:cNvSpPr/>
          <p:nvPr/>
        </p:nvSpPr>
        <p:spPr>
          <a:xfrm>
            <a:off x="8266853" y="4813512"/>
            <a:ext cx="2386676" cy="715694"/>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86676"/>
              <a:gd name="connsiteY0" fmla="*/ 255188 h 492915"/>
              <a:gd name="connsiteX1" fmla="*/ 1362231 w 2386676"/>
              <a:gd name="connsiteY1" fmla="*/ 485568 h 492915"/>
              <a:gd name="connsiteX2" fmla="*/ 2386676 w 2386676"/>
              <a:gd name="connsiteY2" fmla="*/ 0 h 492915"/>
              <a:gd name="connsiteX0" fmla="*/ 0 w 2368203"/>
              <a:gd name="connsiteY0" fmla="*/ 310606 h 548333"/>
              <a:gd name="connsiteX1" fmla="*/ 1362231 w 2368203"/>
              <a:gd name="connsiteY1" fmla="*/ 540986 h 548333"/>
              <a:gd name="connsiteX2" fmla="*/ 2368203 w 2368203"/>
              <a:gd name="connsiteY2" fmla="*/ 0 h 548333"/>
              <a:gd name="connsiteX0" fmla="*/ 0 w 2386676"/>
              <a:gd name="connsiteY0" fmla="*/ 292133 h 529860"/>
              <a:gd name="connsiteX1" fmla="*/ 1362231 w 2386676"/>
              <a:gd name="connsiteY1" fmla="*/ 522513 h 529860"/>
              <a:gd name="connsiteX2" fmla="*/ 2386676 w 2386676"/>
              <a:gd name="connsiteY2" fmla="*/ 0 h 529860"/>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11429"/>
              <a:gd name="connsiteX1" fmla="*/ 1362231 w 2386676"/>
              <a:gd name="connsiteY1" fmla="*/ 697610 h 711429"/>
              <a:gd name="connsiteX2" fmla="*/ 2386676 w 2386676"/>
              <a:gd name="connsiteY2" fmla="*/ 0 h 711429"/>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Lst>
            <a:ahLst/>
            <a:cxnLst>
              <a:cxn ang="0">
                <a:pos x="connsiteX0" y="connsiteY0"/>
              </a:cxn>
              <a:cxn ang="0">
                <a:pos x="connsiteX1" y="connsiteY1"/>
              </a:cxn>
              <a:cxn ang="0">
                <a:pos x="connsiteX2" y="connsiteY2"/>
              </a:cxn>
            </a:cxnLst>
            <a:rect l="l" t="t" r="r" b="b"/>
            <a:pathLst>
              <a:path w="2386676" h="715694">
                <a:moveTo>
                  <a:pt x="0" y="292133"/>
                </a:moveTo>
                <a:cubicBezTo>
                  <a:pt x="304753" y="563581"/>
                  <a:pt x="664433" y="781082"/>
                  <a:pt x="1362231" y="697610"/>
                </a:cubicBezTo>
                <a:cubicBezTo>
                  <a:pt x="2068773" y="605391"/>
                  <a:pt x="2135064" y="276549"/>
                  <a:pt x="2386676" y="0"/>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Freihandform: Form 19">
            <a:extLst>
              <a:ext uri="{FF2B5EF4-FFF2-40B4-BE49-F238E27FC236}">
                <a16:creationId xmlns:a16="http://schemas.microsoft.com/office/drawing/2014/main" id="{17711FDB-8A79-2FFD-9894-2DBD404114C3}"/>
              </a:ext>
            </a:extLst>
          </p:cNvPr>
          <p:cNvSpPr/>
          <p:nvPr/>
        </p:nvSpPr>
        <p:spPr>
          <a:xfrm>
            <a:off x="8239139" y="3217057"/>
            <a:ext cx="3372007" cy="1699482"/>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610929"/>
              <a:gd name="connsiteX1" fmla="*/ 1066667 w 2460567"/>
              <a:gd name="connsiteY1" fmla="*/ 479762 h 610929"/>
              <a:gd name="connsiteX2" fmla="*/ 2460567 w 2460567"/>
              <a:gd name="connsiteY2" fmla="*/ 539139 h 61092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17158"/>
              <a:gd name="connsiteX1" fmla="*/ 1066667 w 2460567"/>
              <a:gd name="connsiteY1" fmla="*/ 479762 h 717158"/>
              <a:gd name="connsiteX2" fmla="*/ 2460567 w 2460567"/>
              <a:gd name="connsiteY2" fmla="*/ 539139 h 717158"/>
              <a:gd name="connsiteX0" fmla="*/ 0 w 1195700"/>
              <a:gd name="connsiteY0" fmla="*/ 0 h 1621304"/>
              <a:gd name="connsiteX1" fmla="*/ 1066667 w 1195700"/>
              <a:gd name="connsiteY1" fmla="*/ 479762 h 1621304"/>
              <a:gd name="connsiteX2" fmla="*/ 1185949 w 1195700"/>
              <a:gd name="connsiteY2" fmla="*/ 1592085 h 1621304"/>
              <a:gd name="connsiteX0" fmla="*/ 0 w 1256641"/>
              <a:gd name="connsiteY0" fmla="*/ 0 h 1592085"/>
              <a:gd name="connsiteX1" fmla="*/ 1066667 w 1256641"/>
              <a:gd name="connsiteY1" fmla="*/ 479762 h 1592085"/>
              <a:gd name="connsiteX2" fmla="*/ 1185949 w 1256641"/>
              <a:gd name="connsiteY2" fmla="*/ 1592085 h 1592085"/>
              <a:gd name="connsiteX0" fmla="*/ 0 w 1200894"/>
              <a:gd name="connsiteY0" fmla="*/ 0 h 1776812"/>
              <a:gd name="connsiteX1" fmla="*/ 1066667 w 1200894"/>
              <a:gd name="connsiteY1" fmla="*/ 479762 h 1776812"/>
              <a:gd name="connsiteX2" fmla="*/ 991985 w 1200894"/>
              <a:gd name="connsiteY2" fmla="*/ 1776812 h 1776812"/>
              <a:gd name="connsiteX0" fmla="*/ 0 w 1282160"/>
              <a:gd name="connsiteY0" fmla="*/ 0 h 1776812"/>
              <a:gd name="connsiteX1" fmla="*/ 1066667 w 1282160"/>
              <a:gd name="connsiteY1" fmla="*/ 479762 h 1776812"/>
              <a:gd name="connsiteX2" fmla="*/ 991985 w 1282160"/>
              <a:gd name="connsiteY2" fmla="*/ 1776812 h 1776812"/>
              <a:gd name="connsiteX0" fmla="*/ 0 w 1274806"/>
              <a:gd name="connsiteY0" fmla="*/ 0 h 1629030"/>
              <a:gd name="connsiteX1" fmla="*/ 1066667 w 1274806"/>
              <a:gd name="connsiteY1" fmla="*/ 479762 h 1629030"/>
              <a:gd name="connsiteX2" fmla="*/ 973513 w 1274806"/>
              <a:gd name="connsiteY2" fmla="*/ 1629030 h 1629030"/>
              <a:gd name="connsiteX0" fmla="*/ 0 w 1274806"/>
              <a:gd name="connsiteY0" fmla="*/ 0 h 1712157"/>
              <a:gd name="connsiteX1" fmla="*/ 1066667 w 1274806"/>
              <a:gd name="connsiteY1" fmla="*/ 479762 h 1712157"/>
              <a:gd name="connsiteX2" fmla="*/ 973513 w 1274806"/>
              <a:gd name="connsiteY2" fmla="*/ 1712157 h 1712157"/>
              <a:gd name="connsiteX0" fmla="*/ 0 w 1338340"/>
              <a:gd name="connsiteY0" fmla="*/ 0 h 1712157"/>
              <a:gd name="connsiteX1" fmla="*/ 1066667 w 1338340"/>
              <a:gd name="connsiteY1" fmla="*/ 479762 h 1712157"/>
              <a:gd name="connsiteX2" fmla="*/ 973513 w 1338340"/>
              <a:gd name="connsiteY2" fmla="*/ 1712157 h 1712157"/>
              <a:gd name="connsiteX0" fmla="*/ 0 w 1373085"/>
              <a:gd name="connsiteY0" fmla="*/ 0 h 1712157"/>
              <a:gd name="connsiteX1" fmla="*/ 1131321 w 1373085"/>
              <a:gd name="connsiteY1" fmla="*/ 562890 h 1712157"/>
              <a:gd name="connsiteX2" fmla="*/ 973513 w 1373085"/>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40168"/>
              <a:gd name="connsiteY0" fmla="*/ 0 h 1767575"/>
              <a:gd name="connsiteX1" fmla="*/ 1269866 w 1440168"/>
              <a:gd name="connsiteY1" fmla="*/ 618308 h 1767575"/>
              <a:gd name="connsiteX2" fmla="*/ 1010458 w 1440168"/>
              <a:gd name="connsiteY2" fmla="*/ 1767575 h 1767575"/>
              <a:gd name="connsiteX0" fmla="*/ 0 w 1572912"/>
              <a:gd name="connsiteY0" fmla="*/ 0 h 1767575"/>
              <a:gd name="connsiteX1" fmla="*/ 1269866 w 1572912"/>
              <a:gd name="connsiteY1" fmla="*/ 618308 h 1767575"/>
              <a:gd name="connsiteX2" fmla="*/ 1010458 w 1572912"/>
              <a:gd name="connsiteY2" fmla="*/ 1767575 h 1767575"/>
              <a:gd name="connsiteX0" fmla="*/ 0 w 2672137"/>
              <a:gd name="connsiteY0" fmla="*/ 0 h 1757848"/>
              <a:gd name="connsiteX1" fmla="*/ 2369091 w 2672137"/>
              <a:gd name="connsiteY1" fmla="*/ 608581 h 1757848"/>
              <a:gd name="connsiteX2" fmla="*/ 2109683 w 2672137"/>
              <a:gd name="connsiteY2" fmla="*/ 1757848 h 1757848"/>
              <a:gd name="connsiteX0" fmla="*/ 0 w 3026926"/>
              <a:gd name="connsiteY0" fmla="*/ 0 h 1757848"/>
              <a:gd name="connsiteX1" fmla="*/ 2826291 w 3026926"/>
              <a:gd name="connsiteY1" fmla="*/ 754496 h 1757848"/>
              <a:gd name="connsiteX2" fmla="*/ 2109683 w 3026926"/>
              <a:gd name="connsiteY2" fmla="*/ 1757848 h 1757848"/>
              <a:gd name="connsiteX0" fmla="*/ 0 w 3242468"/>
              <a:gd name="connsiteY0" fmla="*/ 0 h 1699482"/>
              <a:gd name="connsiteX1" fmla="*/ 2826291 w 3242468"/>
              <a:gd name="connsiteY1" fmla="*/ 754496 h 1699482"/>
              <a:gd name="connsiteX2" fmla="*/ 2848985 w 3242468"/>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372007"/>
              <a:gd name="connsiteY0" fmla="*/ 0 h 1699482"/>
              <a:gd name="connsiteX1" fmla="*/ 2836019 w 3372007"/>
              <a:gd name="connsiteY1" fmla="*/ 861500 h 1699482"/>
              <a:gd name="connsiteX2" fmla="*/ 2848985 w 3372007"/>
              <a:gd name="connsiteY2" fmla="*/ 1699482 h 1699482"/>
            </a:gdLst>
            <a:ahLst/>
            <a:cxnLst>
              <a:cxn ang="0">
                <a:pos x="connsiteX0" y="connsiteY0"/>
              </a:cxn>
              <a:cxn ang="0">
                <a:pos x="connsiteX1" y="connsiteY1"/>
              </a:cxn>
              <a:cxn ang="0">
                <a:pos x="connsiteX2" y="connsiteY2"/>
              </a:cxn>
            </a:cxnLst>
            <a:rect l="l" t="t" r="r" b="b"/>
            <a:pathLst>
              <a:path w="3372007" h="1699482">
                <a:moveTo>
                  <a:pt x="0" y="0"/>
                </a:moveTo>
                <a:cubicBezTo>
                  <a:pt x="210523" y="54098"/>
                  <a:pt x="1796672" y="400813"/>
                  <a:pt x="2836019" y="861500"/>
                </a:cubicBezTo>
                <a:cubicBezTo>
                  <a:pt x="3719036" y="1223828"/>
                  <a:pt x="3356721" y="1503013"/>
                  <a:pt x="2848985" y="1699482"/>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abgerundete Ecken 23">
            <a:extLst>
              <a:ext uri="{FF2B5EF4-FFF2-40B4-BE49-F238E27FC236}">
                <a16:creationId xmlns:a16="http://schemas.microsoft.com/office/drawing/2014/main" id="{45BF53EE-44E0-E73E-201B-2366BBA96EA1}"/>
              </a:ext>
            </a:extLst>
          </p:cNvPr>
          <p:cNvSpPr/>
          <p:nvPr/>
        </p:nvSpPr>
        <p:spPr>
          <a:xfrm>
            <a:off x="1322962" y="2996118"/>
            <a:ext cx="136187" cy="1926077"/>
          </a:xfrm>
          <a:prstGeom prst="roundRect">
            <a:avLst>
              <a:gd name="adj" fmla="val 36074"/>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abgerundete Ecken 29">
            <a:extLst>
              <a:ext uri="{FF2B5EF4-FFF2-40B4-BE49-F238E27FC236}">
                <a16:creationId xmlns:a16="http://schemas.microsoft.com/office/drawing/2014/main" id="{FEB9BEA1-FFE7-DB7F-A446-E5938E4E34A8}"/>
              </a:ext>
            </a:extLst>
          </p:cNvPr>
          <p:cNvSpPr/>
          <p:nvPr/>
        </p:nvSpPr>
        <p:spPr>
          <a:xfrm>
            <a:off x="1322961" y="2779221"/>
            <a:ext cx="136187" cy="214213"/>
          </a:xfrm>
          <a:prstGeom prst="roundRect">
            <a:avLst>
              <a:gd name="adj" fmla="val 36074"/>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p:sp>
        <p:nvSpPr>
          <p:cNvPr id="9" name="Rechteck: abgerundete Ecken 8">
            <a:extLst>
              <a:ext uri="{FF2B5EF4-FFF2-40B4-BE49-F238E27FC236}">
                <a16:creationId xmlns:a16="http://schemas.microsoft.com/office/drawing/2014/main" id="{FCAAF8A5-8F59-E6FD-80A4-043E76D5F999}"/>
              </a:ext>
            </a:extLst>
          </p:cNvPr>
          <p:cNvSpPr/>
          <p:nvPr/>
        </p:nvSpPr>
        <p:spPr>
          <a:xfrm>
            <a:off x="1322960" y="2562324"/>
            <a:ext cx="136187" cy="214213"/>
          </a:xfrm>
          <a:prstGeom prst="roundRect">
            <a:avLst>
              <a:gd name="adj" fmla="val 36074"/>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p:pic>
        <p:nvPicPr>
          <p:cNvPr id="7" name="Grafik 6">
            <a:extLst>
              <a:ext uri="{FF2B5EF4-FFF2-40B4-BE49-F238E27FC236}">
                <a16:creationId xmlns:a16="http://schemas.microsoft.com/office/drawing/2014/main" id="{C5746D30-3765-86C6-DF6E-D414DF6640A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96841" y="6892142"/>
            <a:ext cx="6076817" cy="2804685"/>
          </a:xfrm>
          <a:prstGeom prst="rect">
            <a:avLst/>
          </a:prstGeom>
        </p:spPr>
      </p:pic>
      <p:sp>
        <p:nvSpPr>
          <p:cNvPr id="8" name="Rechteck: abgerundete Ecken 7">
            <a:extLst>
              <a:ext uri="{FF2B5EF4-FFF2-40B4-BE49-F238E27FC236}">
                <a16:creationId xmlns:a16="http://schemas.microsoft.com/office/drawing/2014/main" id="{5325D068-FC02-BB0C-F16F-C0253D729E34}"/>
              </a:ext>
            </a:extLst>
          </p:cNvPr>
          <p:cNvSpPr/>
          <p:nvPr/>
        </p:nvSpPr>
        <p:spPr>
          <a:xfrm>
            <a:off x="1089578" y="7948558"/>
            <a:ext cx="136187" cy="1316092"/>
          </a:xfrm>
          <a:prstGeom prst="roundRect">
            <a:avLst>
              <a:gd name="adj" fmla="val 36074"/>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640DB20F-67B0-6E4D-1306-6D6AC29BCAC4}"/>
              </a:ext>
            </a:extLst>
          </p:cNvPr>
          <p:cNvSpPr/>
          <p:nvPr/>
        </p:nvSpPr>
        <p:spPr>
          <a:xfrm>
            <a:off x="5818760" y="1027111"/>
            <a:ext cx="1623439" cy="266601"/>
          </a:xfrm>
          <a:prstGeom prst="roundRect">
            <a:avLst>
              <a:gd name="adj" fmla="val 36074"/>
            </a:avLst>
          </a:prstGeom>
          <a:solidFill>
            <a:schemeClr val="accent5">
              <a:lumMod val="60000"/>
              <a:lumOff val="4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mc:AlternateContent xmlns:mc="http://schemas.openxmlformats.org/markup-compatibility/2006" xmlns:a14="http://schemas.microsoft.com/office/drawing/2010/main">
        <mc:Choice Requires="a14">
          <p:sp>
            <p:nvSpPr>
              <p:cNvPr id="21" name="Textfeld 20">
                <a:extLst>
                  <a:ext uri="{FF2B5EF4-FFF2-40B4-BE49-F238E27FC236}">
                    <a16:creationId xmlns:a16="http://schemas.microsoft.com/office/drawing/2014/main" id="{D9FC72C8-EF8A-3390-6739-2AB8739451D0}"/>
                  </a:ext>
                </a:extLst>
              </p:cNvPr>
              <p:cNvSpPr txBox="1"/>
              <p:nvPr/>
            </p:nvSpPr>
            <p:spPr>
              <a:xfrm>
                <a:off x="7970658" y="1313254"/>
                <a:ext cx="2935162" cy="630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2400" i="1" smtClean="0">
                          <a:latin typeface="Cambria Math" panose="02040503050406030204" pitchFamily="18" charset="0"/>
                        </a:rPr>
                        <m:t>𝐹</m:t>
                      </m:r>
                      <m:r>
                        <a:rPr lang="de-DE" sz="2400" b="0" i="1" smtClean="0">
                          <a:latin typeface="Cambria Math" panose="02040503050406030204" pitchFamily="18" charset="0"/>
                        </a:rPr>
                        <m:t>=</m:t>
                      </m:r>
                      <m:r>
                        <a:rPr lang="de-DE" sz="2400" b="0" i="1" smtClean="0">
                          <a:latin typeface="Cambria Math" panose="02040503050406030204" pitchFamily="18" charset="0"/>
                        </a:rPr>
                        <m:t>𝑎</m:t>
                      </m:r>
                      <m:r>
                        <a:rPr lang="de-DE" sz="2400" b="0" i="1" smtClean="0">
                          <a:latin typeface="Cambria Math" panose="02040503050406030204" pitchFamily="18" charset="0"/>
                        </a:rPr>
                        <m:t>∗</m:t>
                      </m:r>
                      <m:r>
                        <a:rPr lang="de-DE" sz="2400" b="0" i="1" smtClean="0">
                          <a:latin typeface="Cambria Math" panose="02040503050406030204" pitchFamily="18" charset="0"/>
                        </a:rPr>
                        <m:t>𝑚</m:t>
                      </m:r>
                      <m:r>
                        <a:rPr lang="de-DE" sz="2400" i="1" smtClean="0">
                          <a:latin typeface="Cambria Math" panose="02040503050406030204" pitchFamily="18" charset="0"/>
                        </a:rPr>
                        <m:t>=</m:t>
                      </m:r>
                      <m:r>
                        <a:rPr lang="de-DE" sz="2400" i="1" smtClean="0">
                          <a:latin typeface="Cambria Math" panose="02040503050406030204" pitchFamily="18" charset="0"/>
                        </a:rPr>
                        <m:t>𝐺</m:t>
                      </m:r>
                      <m:f>
                        <m:fPr>
                          <m:ctrlPr>
                            <a:rPr lang="de-DE" sz="2400" i="1">
                              <a:latin typeface="Cambria Math" panose="02040503050406030204" pitchFamily="18" charset="0"/>
                            </a:rPr>
                          </m:ctrlPr>
                        </m:fPr>
                        <m:num>
                          <m:sSub>
                            <m:sSubPr>
                              <m:ctrlPr>
                                <a:rPr lang="de-DE" sz="2400" i="1" smtClean="0">
                                  <a:latin typeface="Cambria Math" panose="02040503050406030204" pitchFamily="18" charset="0"/>
                                </a:rPr>
                              </m:ctrlPr>
                            </m:sSubPr>
                            <m:e>
                              <m:r>
                                <a:rPr lang="de-DE" sz="2400" i="1">
                                  <a:latin typeface="Cambria Math" panose="02040503050406030204" pitchFamily="18" charset="0"/>
                                </a:rPr>
                                <m:t>𝑚</m:t>
                              </m:r>
                            </m:e>
                            <m:sub>
                              <m:r>
                                <a:rPr lang="de-DE" sz="2400" b="0" i="1" smtClean="0">
                                  <a:latin typeface="Cambria Math" panose="02040503050406030204" pitchFamily="18" charset="0"/>
                                </a:rPr>
                                <m:t>1</m:t>
                              </m:r>
                            </m:sub>
                          </m:sSub>
                          <m:sSub>
                            <m:sSubPr>
                              <m:ctrlPr>
                                <a:rPr lang="de-DE" sz="2400" i="1">
                                  <a:latin typeface="Cambria Math" panose="02040503050406030204" pitchFamily="18" charset="0"/>
                                </a:rPr>
                              </m:ctrlPr>
                            </m:sSubPr>
                            <m:e>
                              <m:r>
                                <a:rPr lang="de-DE" sz="2400" i="1">
                                  <a:latin typeface="Cambria Math" panose="02040503050406030204" pitchFamily="18" charset="0"/>
                                </a:rPr>
                                <m:t>𝑚</m:t>
                              </m:r>
                            </m:e>
                            <m:sub>
                              <m:r>
                                <a:rPr lang="de-DE" sz="2400" b="0" i="1" smtClean="0">
                                  <a:latin typeface="Cambria Math" panose="02040503050406030204" pitchFamily="18" charset="0"/>
                                </a:rPr>
                                <m:t>2</m:t>
                              </m:r>
                            </m:sub>
                          </m:sSub>
                        </m:num>
                        <m:den>
                          <m:sSup>
                            <m:sSupPr>
                              <m:ctrlPr>
                                <a:rPr lang="de-DE" sz="2400" i="1">
                                  <a:latin typeface="Cambria Math" panose="02040503050406030204" pitchFamily="18" charset="0"/>
                                </a:rPr>
                              </m:ctrlPr>
                            </m:sSupPr>
                            <m:e>
                              <m:r>
                                <a:rPr lang="de-DE" sz="2400" i="1">
                                  <a:latin typeface="Cambria Math" panose="02040503050406030204" pitchFamily="18" charset="0"/>
                                </a:rPr>
                                <m:t>𝑟</m:t>
                              </m:r>
                            </m:e>
                            <m:sup>
                              <m:r>
                                <a:rPr lang="de-DE" sz="2400" i="1">
                                  <a:latin typeface="Cambria Math" panose="02040503050406030204" pitchFamily="18" charset="0"/>
                                </a:rPr>
                                <m:t>2</m:t>
                              </m:r>
                            </m:sup>
                          </m:sSup>
                        </m:den>
                      </m:f>
                    </m:oMath>
                  </m:oMathPara>
                </a14:m>
                <a:endParaRPr lang="de-DE" sz="2400" dirty="0"/>
              </a:p>
            </p:txBody>
          </p:sp>
        </mc:Choice>
        <mc:Fallback xmlns="">
          <p:sp>
            <p:nvSpPr>
              <p:cNvPr id="21" name="Textfeld 20">
                <a:extLst>
                  <a:ext uri="{FF2B5EF4-FFF2-40B4-BE49-F238E27FC236}">
                    <a16:creationId xmlns:a16="http://schemas.microsoft.com/office/drawing/2014/main" id="{D9FC72C8-EF8A-3390-6739-2AB8739451D0}"/>
                  </a:ext>
                </a:extLst>
              </p:cNvPr>
              <p:cNvSpPr txBox="1">
                <a:spLocks noRot="1" noChangeAspect="1" noMove="1" noResize="1" noEditPoints="1" noAdjustHandles="1" noChangeArrowheads="1" noChangeShapeType="1" noTextEdit="1"/>
              </p:cNvSpPr>
              <p:nvPr/>
            </p:nvSpPr>
            <p:spPr>
              <a:xfrm>
                <a:off x="7970658" y="1313254"/>
                <a:ext cx="2935162" cy="630109"/>
              </a:xfrm>
              <a:prstGeom prst="rect">
                <a:avLst/>
              </a:prstGeom>
              <a:blipFill>
                <a:blip r:embed="rId8"/>
                <a:stretch>
                  <a:fillRect/>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C0569BB-FE3C-D009-2DA8-B69E47D78C02}"/>
              </a:ext>
            </a:extLst>
          </p:cNvPr>
          <p:cNvSpPr txBox="1"/>
          <p:nvPr/>
        </p:nvSpPr>
        <p:spPr>
          <a:xfrm>
            <a:off x="9276856" y="1992141"/>
            <a:ext cx="461665" cy="215765"/>
          </a:xfrm>
          <a:prstGeom prst="rect">
            <a:avLst/>
          </a:prstGeom>
          <a:noFill/>
        </p:spPr>
        <p:txBody>
          <a:bodyPr vert="vert" wrap="none" rtlCol="0">
            <a:spAutoFit/>
          </a:bodyPr>
          <a:lstStyle/>
          <a:p>
            <a:r>
              <a:rPr lang="de-DE" dirty="0"/>
              <a:t>»</a:t>
            </a:r>
          </a:p>
        </p:txBody>
      </p:sp>
      <p:pic>
        <p:nvPicPr>
          <p:cNvPr id="22" name="Grafik 21" descr="Ein Bild, das Schwarz, Dunkelheit enthält.&#10;&#10;KI-generierte Inhalte können fehlerhaft sein.">
            <a:extLst>
              <a:ext uri="{FF2B5EF4-FFF2-40B4-BE49-F238E27FC236}">
                <a16:creationId xmlns:a16="http://schemas.microsoft.com/office/drawing/2014/main" id="{CE54DA86-C69B-9DFF-575C-E2365B1EB68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9590" y="2517148"/>
            <a:ext cx="3275246" cy="950431"/>
          </a:xfrm>
          <a:prstGeom prst="rect">
            <a:avLst/>
          </a:prstGeom>
        </p:spPr>
      </p:pic>
      <p:sp>
        <p:nvSpPr>
          <p:cNvPr id="14" name="Rechteck: abgerundete Ecken 13">
            <a:extLst>
              <a:ext uri="{FF2B5EF4-FFF2-40B4-BE49-F238E27FC236}">
                <a16:creationId xmlns:a16="http://schemas.microsoft.com/office/drawing/2014/main" id="{402806A9-4B5F-A1F5-C150-6392B1D60A99}"/>
              </a:ext>
            </a:extLst>
          </p:cNvPr>
          <p:cNvSpPr/>
          <p:nvPr/>
        </p:nvSpPr>
        <p:spPr>
          <a:xfrm>
            <a:off x="7246307" y="7473810"/>
            <a:ext cx="4521896" cy="1221448"/>
          </a:xfrm>
          <a:prstGeom prst="roundRect">
            <a:avLst>
              <a:gd name="adj" fmla="val 36074"/>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mc:Choice xmlns:a14="http://schemas.microsoft.com/office/drawing/2010/main" Requires="a14">
          <p:sp>
            <p:nvSpPr>
              <p:cNvPr id="15" name="Textfeld 14">
                <a:extLst>
                  <a:ext uri="{FF2B5EF4-FFF2-40B4-BE49-F238E27FC236}">
                    <a16:creationId xmlns:a16="http://schemas.microsoft.com/office/drawing/2014/main" id="{D8468AE9-1A42-9B2E-115D-2E6F54B62613}"/>
                  </a:ext>
                </a:extLst>
              </p:cNvPr>
              <p:cNvSpPr txBox="1"/>
              <p:nvPr/>
            </p:nvSpPr>
            <p:spPr>
              <a:xfrm>
                <a:off x="7483290" y="7650501"/>
                <a:ext cx="4067845" cy="842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b="0" i="1" smtClean="0">
                              <a:latin typeface="Cambria Math" panose="02040503050406030204" pitchFamily="18" charset="0"/>
                            </a:rPr>
                            <m:t>𝑡</m:t>
                          </m:r>
                        </m:e>
                      </m:d>
                      <m:r>
                        <a:rPr lang="de-DE" b="0" i="1" smtClean="0">
                          <a:latin typeface="Cambria Math" panose="02040503050406030204" pitchFamily="18" charset="0"/>
                        </a:rPr>
                        <m:t>=</m:t>
                      </m:r>
                      <m:d>
                        <m:dPr>
                          <m:ctrlPr>
                            <a:rPr lang="de-DE" i="1">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i="1">
                                    <a:latin typeface="Cambria Math" panose="02040503050406030204" pitchFamily="18" charset="0"/>
                                  </a:rPr>
                                  <m:t>𝑚</m:t>
                                </m:r>
                              </m:e>
                            </m:mr>
                            <m:mr>
                              <m:e>
                                <m:r>
                                  <a:rPr lang="de-DE" b="0" i="1" smtClean="0">
                                    <a:latin typeface="Cambria Math" panose="02040503050406030204" pitchFamily="18" charset="0"/>
                                  </a:rPr>
                                  <m:t>𝑟</m:t>
                                </m:r>
                              </m:e>
                            </m:mr>
                            <m:mr>
                              <m:e>
                                <m:r>
                                  <a:rPr lang="de-DE" i="1">
                                    <a:latin typeface="Cambria Math" panose="02040503050406030204" pitchFamily="18" charset="0"/>
                                  </a:rPr>
                                  <m:t>𝑣</m:t>
                                </m:r>
                              </m:e>
                            </m:mr>
                          </m:m>
                        </m:e>
                      </m:d>
                      <m:r>
                        <a:rPr lang="de-DE" b="0" i="1" smtClean="0">
                          <a:latin typeface="Cambria Math" panose="02040503050406030204" pitchFamily="18" charset="0"/>
                        </a:rPr>
                        <m:t>=</m:t>
                      </m:r>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𝑇</m:t>
                          </m:r>
                        </m:e>
                      </m:d>
                      <m:r>
                        <a:rPr lang="de-DE" b="0" i="1" smtClean="0">
                          <a:latin typeface="Cambria Math" panose="02040503050406030204" pitchFamily="18" charset="0"/>
                        </a:rPr>
                        <m:t>+</m:t>
                      </m:r>
                      <m:nary>
                        <m:naryPr>
                          <m:limLoc m:val="undOvr"/>
                          <m:ctrlPr>
                            <a:rPr lang="de-DE" b="0" i="1" smtClean="0">
                              <a:latin typeface="Cambria Math" panose="02040503050406030204" pitchFamily="18" charset="0"/>
                            </a:rPr>
                          </m:ctrlPr>
                        </m:naryPr>
                        <m:sub>
                          <m:r>
                            <m:rPr>
                              <m:brk m:alnAt="24"/>
                            </m:rPr>
                            <a:rPr lang="de-DE" b="0" i="1" smtClean="0">
                              <a:latin typeface="Cambria Math" panose="02040503050406030204" pitchFamily="18" charset="0"/>
                            </a:rPr>
                            <m:t>𝑡</m:t>
                          </m:r>
                        </m:sub>
                        <m:sup>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i="1">
                              <a:latin typeface="Cambria Math" panose="02040503050406030204" pitchFamily="18" charset="0"/>
                            </a:rPr>
                            <m:t>𝑡</m:t>
                          </m:r>
                        </m:sup>
                        <m:e>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 </m:t>
                          </m:r>
                          <m:r>
                            <a:rPr lang="de-DE" b="0" i="1" smtClean="0">
                              <a:latin typeface="Cambria Math" panose="02040503050406030204" pitchFamily="18" charset="0"/>
                            </a:rPr>
                            <m:t>𝑑𝑌</m:t>
                          </m:r>
                        </m:e>
                      </m:nary>
                    </m:oMath>
                  </m:oMathPara>
                </a14:m>
                <a:endParaRPr lang="de-DE" dirty="0"/>
              </a:p>
            </p:txBody>
          </p:sp>
        </mc:Choice>
        <mc:Fallback>
          <p:sp>
            <p:nvSpPr>
              <p:cNvPr id="15" name="Textfeld 14">
                <a:extLst>
                  <a:ext uri="{FF2B5EF4-FFF2-40B4-BE49-F238E27FC236}">
                    <a16:creationId xmlns:a16="http://schemas.microsoft.com/office/drawing/2014/main" id="{D8468AE9-1A42-9B2E-115D-2E6F54B62613}"/>
                  </a:ext>
                </a:extLst>
              </p:cNvPr>
              <p:cNvSpPr txBox="1">
                <a:spLocks noRot="1" noChangeAspect="1" noMove="1" noResize="1" noEditPoints="1" noAdjustHandles="1" noChangeArrowheads="1" noChangeShapeType="1" noTextEdit="1"/>
              </p:cNvSpPr>
              <p:nvPr/>
            </p:nvSpPr>
            <p:spPr>
              <a:xfrm>
                <a:off x="7483290" y="7650501"/>
                <a:ext cx="4067845" cy="842475"/>
              </a:xfrm>
              <a:prstGeom prst="rect">
                <a:avLst/>
              </a:prstGeom>
              <a:blipFill>
                <a:blip r:embed="rId10"/>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16749914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0A743-26DD-1B89-64C9-5B14D332973E}"/>
            </a:ext>
          </a:extLst>
        </p:cNvPr>
        <p:cNvGrpSpPr/>
        <p:nvPr/>
      </p:nvGrpSpPr>
      <p:grpSpPr>
        <a:xfrm>
          <a:off x="0" y="0"/>
          <a:ext cx="0" cy="0"/>
          <a:chOff x="0" y="0"/>
          <a:chExt cx="0" cy="0"/>
        </a:xfrm>
      </p:grpSpPr>
      <p:sp>
        <p:nvSpPr>
          <p:cNvPr id="9" name="Rechteck: abgerundete Ecken 8">
            <a:extLst>
              <a:ext uri="{FF2B5EF4-FFF2-40B4-BE49-F238E27FC236}">
                <a16:creationId xmlns:a16="http://schemas.microsoft.com/office/drawing/2014/main" id="{1AB22515-F4A9-9524-044F-F886C508973F}"/>
              </a:ext>
            </a:extLst>
          </p:cNvPr>
          <p:cNvSpPr/>
          <p:nvPr/>
        </p:nvSpPr>
        <p:spPr>
          <a:xfrm>
            <a:off x="7246307" y="4305300"/>
            <a:ext cx="4521896" cy="1221448"/>
          </a:xfrm>
          <a:prstGeom prst="roundRect">
            <a:avLst>
              <a:gd name="adj" fmla="val 36074"/>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a:extLst>
              <a:ext uri="{FF2B5EF4-FFF2-40B4-BE49-F238E27FC236}">
                <a16:creationId xmlns:a16="http://schemas.microsoft.com/office/drawing/2014/main" id="{02100E79-C6F4-8C35-7F34-C31FB0750EA4}"/>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8EA4BC35-7320-9539-98E9-53461004A4DC}"/>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DC2379FF-0185-E0A6-94CB-971CC504475E}"/>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97871CB9-5155-5B98-B69B-220B8F5E1B36}"/>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78730E45-5D62-310E-2470-6675EC5C04FA}"/>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C6F15962-1F37-7ADD-D69C-364BFD211D15}"/>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8035D9B4-C0F6-228E-0E79-4AC3A71419BF}"/>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B394266A-610A-74F4-D1C3-AA4E2E649CD9}"/>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B0C4E554-0E68-4DCC-105E-E25F87154FE6}"/>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6" name="Grafik 5">
            <a:extLst>
              <a:ext uri="{FF2B5EF4-FFF2-40B4-BE49-F238E27FC236}">
                <a16:creationId xmlns:a16="http://schemas.microsoft.com/office/drawing/2014/main" id="{4E1A8AAF-E111-C59A-93AD-9ACEE70F5F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6841" y="1862942"/>
            <a:ext cx="6076817" cy="2804685"/>
          </a:xfrm>
          <a:prstGeom prst="rect">
            <a:avLst/>
          </a:prstGeom>
        </p:spPr>
      </p:pic>
      <p:sp>
        <p:nvSpPr>
          <p:cNvPr id="10" name="Titel 7">
            <a:extLst>
              <a:ext uri="{FF2B5EF4-FFF2-40B4-BE49-F238E27FC236}">
                <a16:creationId xmlns:a16="http://schemas.microsoft.com/office/drawing/2014/main" id="{D3BAC580-56DC-297C-F88F-ECA0A5DD681E}"/>
              </a:ext>
            </a:extLst>
          </p:cNvPr>
          <p:cNvSpPr>
            <a:spLocks noGrp="1"/>
          </p:cNvSpPr>
          <p:nvPr>
            <p:ph type="title"/>
          </p:nvPr>
        </p:nvSpPr>
        <p:spPr>
          <a:xfrm>
            <a:off x="4524367" y="-1185077"/>
            <a:ext cx="3091942" cy="1009563"/>
          </a:xfrm>
        </p:spPr>
        <p:txBody>
          <a:bodyPr/>
          <a:lstStyle/>
          <a:p>
            <a:r>
              <a:rPr lang="de-DE" dirty="0"/>
              <a:t>Simulation</a:t>
            </a:r>
          </a:p>
        </p:txBody>
      </p:sp>
      <mc:AlternateContent xmlns:mc="http://schemas.openxmlformats.org/markup-compatibility/2006">
        <mc:Choice xmlns:a14="http://schemas.microsoft.com/office/drawing/2010/main" Requires="a14">
          <p:sp>
            <p:nvSpPr>
              <p:cNvPr id="13" name="Textfeld 12">
                <a:extLst>
                  <a:ext uri="{FF2B5EF4-FFF2-40B4-BE49-F238E27FC236}">
                    <a16:creationId xmlns:a16="http://schemas.microsoft.com/office/drawing/2014/main" id="{8104BE15-E3B9-432D-06EA-FD06AABCF8AF}"/>
                  </a:ext>
                </a:extLst>
              </p:cNvPr>
              <p:cNvSpPr txBox="1"/>
              <p:nvPr/>
            </p:nvSpPr>
            <p:spPr>
              <a:xfrm>
                <a:off x="7483290" y="4481991"/>
                <a:ext cx="4067845" cy="842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b="0" i="1" smtClean="0">
                              <a:latin typeface="Cambria Math" panose="02040503050406030204" pitchFamily="18" charset="0"/>
                            </a:rPr>
                            <m:t>𝑡</m:t>
                          </m:r>
                        </m:e>
                      </m:d>
                      <m:r>
                        <a:rPr lang="de-DE" b="0" i="1" smtClean="0">
                          <a:latin typeface="Cambria Math" panose="02040503050406030204" pitchFamily="18" charset="0"/>
                        </a:rPr>
                        <m:t>=</m:t>
                      </m:r>
                      <m:d>
                        <m:dPr>
                          <m:ctrlPr>
                            <a:rPr lang="de-DE" i="1">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i="1">
                                    <a:latin typeface="Cambria Math" panose="02040503050406030204" pitchFamily="18" charset="0"/>
                                  </a:rPr>
                                  <m:t>𝑚</m:t>
                                </m:r>
                              </m:e>
                            </m:mr>
                            <m:mr>
                              <m:e>
                                <m:r>
                                  <a:rPr lang="de-DE" b="0" i="1" smtClean="0">
                                    <a:latin typeface="Cambria Math" panose="02040503050406030204" pitchFamily="18" charset="0"/>
                                  </a:rPr>
                                  <m:t>𝑟</m:t>
                                </m:r>
                              </m:e>
                            </m:mr>
                            <m:mr>
                              <m:e>
                                <m:r>
                                  <a:rPr lang="de-DE" i="1">
                                    <a:latin typeface="Cambria Math" panose="02040503050406030204" pitchFamily="18" charset="0"/>
                                  </a:rPr>
                                  <m:t>𝑣</m:t>
                                </m:r>
                              </m:e>
                            </m:mr>
                          </m:m>
                        </m:e>
                      </m:d>
                      <m:r>
                        <a:rPr lang="de-DE" b="0" i="1" smtClean="0">
                          <a:latin typeface="Cambria Math" panose="02040503050406030204" pitchFamily="18" charset="0"/>
                        </a:rPr>
                        <m:t>=</m:t>
                      </m:r>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𝑇</m:t>
                          </m:r>
                        </m:e>
                      </m:d>
                      <m:r>
                        <a:rPr lang="de-DE" b="0" i="1" smtClean="0">
                          <a:latin typeface="Cambria Math" panose="02040503050406030204" pitchFamily="18" charset="0"/>
                        </a:rPr>
                        <m:t>+</m:t>
                      </m:r>
                      <m:nary>
                        <m:naryPr>
                          <m:limLoc m:val="undOvr"/>
                          <m:ctrlPr>
                            <a:rPr lang="de-DE" b="0" i="1" smtClean="0">
                              <a:latin typeface="Cambria Math" panose="02040503050406030204" pitchFamily="18" charset="0"/>
                            </a:rPr>
                          </m:ctrlPr>
                        </m:naryPr>
                        <m:sub>
                          <m:r>
                            <m:rPr>
                              <m:brk m:alnAt="24"/>
                            </m:rPr>
                            <a:rPr lang="de-DE" b="0" i="1" smtClean="0">
                              <a:latin typeface="Cambria Math" panose="02040503050406030204" pitchFamily="18" charset="0"/>
                            </a:rPr>
                            <m:t>𝑡</m:t>
                          </m:r>
                        </m:sub>
                        <m:sup>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i="1">
                              <a:latin typeface="Cambria Math" panose="02040503050406030204" pitchFamily="18" charset="0"/>
                            </a:rPr>
                            <m:t>𝑡</m:t>
                          </m:r>
                        </m:sup>
                        <m:e>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 </m:t>
                          </m:r>
                          <m:r>
                            <a:rPr lang="de-DE" b="0" i="1" smtClean="0">
                              <a:latin typeface="Cambria Math" panose="02040503050406030204" pitchFamily="18" charset="0"/>
                            </a:rPr>
                            <m:t>𝑑𝑌</m:t>
                          </m:r>
                        </m:e>
                      </m:nary>
                    </m:oMath>
                  </m:oMathPara>
                </a14:m>
                <a:endParaRPr lang="de-DE" dirty="0"/>
              </a:p>
            </p:txBody>
          </p:sp>
        </mc:Choice>
        <mc:Fallback>
          <p:sp>
            <p:nvSpPr>
              <p:cNvPr id="13" name="Textfeld 12">
                <a:extLst>
                  <a:ext uri="{FF2B5EF4-FFF2-40B4-BE49-F238E27FC236}">
                    <a16:creationId xmlns:a16="http://schemas.microsoft.com/office/drawing/2014/main" id="{8104BE15-E3B9-432D-06EA-FD06AABCF8AF}"/>
                  </a:ext>
                </a:extLst>
              </p:cNvPr>
              <p:cNvSpPr txBox="1">
                <a:spLocks noRot="1" noChangeAspect="1" noMove="1" noResize="1" noEditPoints="1" noAdjustHandles="1" noChangeArrowheads="1" noChangeShapeType="1" noTextEdit="1"/>
              </p:cNvSpPr>
              <p:nvPr/>
            </p:nvSpPr>
            <p:spPr>
              <a:xfrm>
                <a:off x="7483290" y="4481991"/>
                <a:ext cx="4067845" cy="842475"/>
              </a:xfrm>
              <a:prstGeom prst="rect">
                <a:avLst/>
              </a:prstGeom>
              <a:blipFill>
                <a:blip r:embed="rId3"/>
                <a:stretch>
                  <a:fillRect/>
                </a:stretch>
              </a:blipFill>
            </p:spPr>
            <p:txBody>
              <a:bodyPr/>
              <a:lstStyle/>
              <a:p>
                <a:r>
                  <a:rPr lang="de-DE">
                    <a:noFill/>
                  </a:rPr>
                  <a:t> </a:t>
                </a:r>
              </a:p>
            </p:txBody>
          </p:sp>
        </mc:Fallback>
      </mc:AlternateContent>
      <p:sp>
        <p:nvSpPr>
          <p:cNvPr id="15" name="Rechteck: abgerundete Ecken 14">
            <a:extLst>
              <a:ext uri="{FF2B5EF4-FFF2-40B4-BE49-F238E27FC236}">
                <a16:creationId xmlns:a16="http://schemas.microsoft.com/office/drawing/2014/main" id="{675B55B0-D5B1-6EEC-BFB7-43BDF8496D45}"/>
              </a:ext>
            </a:extLst>
          </p:cNvPr>
          <p:cNvSpPr/>
          <p:nvPr/>
        </p:nvSpPr>
        <p:spPr>
          <a:xfrm>
            <a:off x="1089578" y="2919358"/>
            <a:ext cx="136187" cy="1316092"/>
          </a:xfrm>
          <a:prstGeom prst="roundRect">
            <a:avLst>
              <a:gd name="adj" fmla="val 36074"/>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8DD2782D-385F-BD13-8496-641C98DD23D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8010" y="-4570550"/>
            <a:ext cx="6878407" cy="4503194"/>
          </a:xfrm>
          <a:prstGeom prst="rect">
            <a:avLst/>
          </a:prstGeom>
        </p:spPr>
      </p:pic>
      <p:sp>
        <p:nvSpPr>
          <p:cNvPr id="16" name="Rechteck: abgerundete Ecken 15">
            <a:extLst>
              <a:ext uri="{FF2B5EF4-FFF2-40B4-BE49-F238E27FC236}">
                <a16:creationId xmlns:a16="http://schemas.microsoft.com/office/drawing/2014/main" id="{EB7F6DAF-C256-C0C3-ABAC-E05FC4CC151D}"/>
              </a:ext>
            </a:extLst>
          </p:cNvPr>
          <p:cNvSpPr/>
          <p:nvPr/>
        </p:nvSpPr>
        <p:spPr>
          <a:xfrm>
            <a:off x="1322962" y="-2547194"/>
            <a:ext cx="136187" cy="1926077"/>
          </a:xfrm>
          <a:prstGeom prst="roundRect">
            <a:avLst>
              <a:gd name="adj" fmla="val 36074"/>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abgerundete Ecken 16">
            <a:extLst>
              <a:ext uri="{FF2B5EF4-FFF2-40B4-BE49-F238E27FC236}">
                <a16:creationId xmlns:a16="http://schemas.microsoft.com/office/drawing/2014/main" id="{8A8776C0-F34E-754C-4C89-F1AEE3554808}"/>
              </a:ext>
            </a:extLst>
          </p:cNvPr>
          <p:cNvSpPr/>
          <p:nvPr/>
        </p:nvSpPr>
        <p:spPr>
          <a:xfrm>
            <a:off x="1322961" y="-2764091"/>
            <a:ext cx="136187" cy="214213"/>
          </a:xfrm>
          <a:prstGeom prst="roundRect">
            <a:avLst>
              <a:gd name="adj" fmla="val 36074"/>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p:sp>
        <p:nvSpPr>
          <p:cNvPr id="18" name="Rechteck: abgerundete Ecken 17">
            <a:extLst>
              <a:ext uri="{FF2B5EF4-FFF2-40B4-BE49-F238E27FC236}">
                <a16:creationId xmlns:a16="http://schemas.microsoft.com/office/drawing/2014/main" id="{D253714F-4221-3EFE-C6DC-38750B8769B8}"/>
              </a:ext>
            </a:extLst>
          </p:cNvPr>
          <p:cNvSpPr/>
          <p:nvPr/>
        </p:nvSpPr>
        <p:spPr>
          <a:xfrm>
            <a:off x="1322960" y="-2980988"/>
            <a:ext cx="136187" cy="214213"/>
          </a:xfrm>
          <a:prstGeom prst="roundRect">
            <a:avLst>
              <a:gd name="adj" fmla="val 36074"/>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accent2">
                  <a:lumMod val="60000"/>
                  <a:lumOff val="40000"/>
                </a:schemeClr>
              </a:solidFill>
            </a:endParaRPr>
          </a:p>
        </p:txBody>
      </p:sp>
      <p:sp>
        <p:nvSpPr>
          <p:cNvPr id="19" name="Rechteck: abgerundete Ecken 18">
            <a:extLst>
              <a:ext uri="{FF2B5EF4-FFF2-40B4-BE49-F238E27FC236}">
                <a16:creationId xmlns:a16="http://schemas.microsoft.com/office/drawing/2014/main" id="{6264B000-F62E-9870-B781-E0B044C5A54D}"/>
              </a:ext>
            </a:extLst>
          </p:cNvPr>
          <p:cNvSpPr/>
          <p:nvPr/>
        </p:nvSpPr>
        <p:spPr>
          <a:xfrm>
            <a:off x="9863936" y="2561655"/>
            <a:ext cx="1193021" cy="309964"/>
          </a:xfrm>
          <a:prstGeom prst="roundRect">
            <a:avLst>
              <a:gd name="adj" fmla="val 36074"/>
            </a:avLst>
          </a:prstGeom>
          <a:solidFill>
            <a:schemeClr val="accent1">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abgerundete Ecken 19">
            <a:extLst>
              <a:ext uri="{FF2B5EF4-FFF2-40B4-BE49-F238E27FC236}">
                <a16:creationId xmlns:a16="http://schemas.microsoft.com/office/drawing/2014/main" id="{259CC906-E020-2FFB-286D-5066DD564E43}"/>
              </a:ext>
            </a:extLst>
          </p:cNvPr>
          <p:cNvSpPr/>
          <p:nvPr/>
        </p:nvSpPr>
        <p:spPr>
          <a:xfrm>
            <a:off x="8124000" y="3324954"/>
            <a:ext cx="2733117" cy="620499"/>
          </a:xfrm>
          <a:prstGeom prst="roundRect">
            <a:avLst>
              <a:gd name="adj" fmla="val 36074"/>
            </a:avLst>
          </a:prstGeom>
          <a:solidFill>
            <a:schemeClr val="accent2">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FAF07D5B-D432-BC72-6D3A-011460DC1511}"/>
                  </a:ext>
                </a:extLst>
              </p:cNvPr>
              <p:cNvSpPr txBox="1"/>
              <p:nvPr/>
            </p:nvSpPr>
            <p:spPr>
              <a:xfrm>
                <a:off x="7433854" y="2638291"/>
                <a:ext cx="1049711" cy="6866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𝑌</m:t>
                          </m:r>
                        </m:e>
                        <m:sub>
                          <m:r>
                            <a:rPr lang="de-DE" b="0" i="1" smtClean="0">
                              <a:latin typeface="Cambria Math" panose="02040503050406030204" pitchFamily="18" charset="0"/>
                            </a:rPr>
                            <m:t>𝑜</m:t>
                          </m:r>
                        </m:sub>
                      </m:sSub>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r>
                                  <m:rPr>
                                    <m:brk m:alnAt="7"/>
                                  </m:rPr>
                                  <a:rPr lang="de-DE" b="0" i="1" smtClean="0">
                                    <a:latin typeface="Cambria Math" panose="02040503050406030204" pitchFamily="18" charset="0"/>
                                  </a:rPr>
                                  <m:t>𝑚</m:t>
                                </m:r>
                              </m:e>
                            </m:mr>
                            <m:mr>
                              <m:e>
                                <m:r>
                                  <a:rPr lang="de-DE" b="0" i="1" smtClean="0">
                                    <a:latin typeface="Cambria Math" panose="02040503050406030204" pitchFamily="18" charset="0"/>
                                  </a:rPr>
                                  <m:t>𝑟</m:t>
                                </m:r>
                              </m:e>
                            </m:mr>
                            <m:mr>
                              <m:e>
                                <m:r>
                                  <a:rPr lang="de-DE" b="0" i="1" smtClean="0">
                                    <a:latin typeface="Cambria Math" panose="02040503050406030204" pitchFamily="18" charset="0"/>
                                  </a:rPr>
                                  <m:t>𝑣</m:t>
                                </m:r>
                              </m:e>
                            </m:mr>
                          </m:m>
                        </m:e>
                      </m:d>
                    </m:oMath>
                  </m:oMathPara>
                </a14:m>
                <a:endParaRPr lang="de-DE" dirty="0"/>
              </a:p>
            </p:txBody>
          </p:sp>
        </mc:Choice>
        <mc:Fallback xmlns="">
          <p:sp>
            <p:nvSpPr>
              <p:cNvPr id="23" name="Textfeld 22">
                <a:extLst>
                  <a:ext uri="{FF2B5EF4-FFF2-40B4-BE49-F238E27FC236}">
                    <a16:creationId xmlns:a16="http://schemas.microsoft.com/office/drawing/2014/main" id="{FAF07D5B-D432-BC72-6D3A-011460DC1511}"/>
                  </a:ext>
                </a:extLst>
              </p:cNvPr>
              <p:cNvSpPr txBox="1">
                <a:spLocks noRot="1" noChangeAspect="1" noMove="1" noResize="1" noEditPoints="1" noAdjustHandles="1" noChangeArrowheads="1" noChangeShapeType="1" noTextEdit="1"/>
              </p:cNvSpPr>
              <p:nvPr/>
            </p:nvSpPr>
            <p:spPr>
              <a:xfrm>
                <a:off x="7433854" y="2638291"/>
                <a:ext cx="1049711" cy="686663"/>
              </a:xfrm>
              <a:prstGeom prst="rect">
                <a:avLst/>
              </a:prstGeom>
              <a:blipFill>
                <a:blip r:embed="rId9"/>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A5A19110-088E-7781-7381-92D9D2BE3896}"/>
                  </a:ext>
                </a:extLst>
              </p:cNvPr>
              <p:cNvSpPr txBox="1"/>
              <p:nvPr/>
            </p:nvSpPr>
            <p:spPr>
              <a:xfrm>
                <a:off x="9080555" y="2603345"/>
                <a:ext cx="2025042" cy="7337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𝑚</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𝑟</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𝑣</m:t>
                                    </m:r>
                                  </m:e>
                                </m:acc>
                              </m:e>
                            </m:mr>
                          </m:m>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b="0" i="1" smtClean="0">
                                    <a:latin typeface="Cambria Math" panose="02040503050406030204" pitchFamily="18" charset="0"/>
                                  </a:rPr>
                                  <m:t>0</m:t>
                                </m:r>
                              </m:e>
                            </m:mr>
                            <m:mr>
                              <m:e>
                                <m:r>
                                  <a:rPr lang="de-DE" b="0" i="1" smtClean="0">
                                    <a:latin typeface="Cambria Math" panose="02040503050406030204" pitchFamily="18" charset="0"/>
                                  </a:rPr>
                                  <m:t>𝑣</m:t>
                                </m:r>
                              </m:e>
                            </m:mr>
                            <m:mr>
                              <m:e>
                                <m:r>
                                  <a:rPr lang="de-DE" b="0" i="1" smtClean="0">
                                    <a:latin typeface="Cambria Math" panose="02040503050406030204" pitchFamily="18" charset="0"/>
                                  </a:rPr>
                                  <m:t>𝑎</m:t>
                                </m:r>
                              </m:e>
                            </m:mr>
                          </m:m>
                        </m:e>
                      </m:d>
                    </m:oMath>
                  </m:oMathPara>
                </a14:m>
                <a:endParaRPr lang="de-DE" dirty="0"/>
              </a:p>
            </p:txBody>
          </p:sp>
        </mc:Choice>
        <mc:Fallback xmlns="">
          <p:sp>
            <p:nvSpPr>
              <p:cNvPr id="24" name="Textfeld 23">
                <a:extLst>
                  <a:ext uri="{FF2B5EF4-FFF2-40B4-BE49-F238E27FC236}">
                    <a16:creationId xmlns:a16="http://schemas.microsoft.com/office/drawing/2014/main" id="{A5A19110-088E-7781-7381-92D9D2BE3896}"/>
                  </a:ext>
                </a:extLst>
              </p:cNvPr>
              <p:cNvSpPr txBox="1">
                <a:spLocks noRot="1" noChangeAspect="1" noMove="1" noResize="1" noEditPoints="1" noAdjustHandles="1" noChangeArrowheads="1" noChangeShapeType="1" noTextEdit="1"/>
              </p:cNvSpPr>
              <p:nvPr/>
            </p:nvSpPr>
            <p:spPr>
              <a:xfrm>
                <a:off x="9080555" y="2603345"/>
                <a:ext cx="2025042" cy="733791"/>
              </a:xfrm>
              <a:prstGeom prst="rect">
                <a:avLst/>
              </a:prstGeom>
              <a:blipFill>
                <a:blip r:embed="rId10"/>
                <a:stretch>
                  <a:fillRect/>
                </a:stretch>
              </a:blipFill>
            </p:spPr>
            <p:txBody>
              <a:bodyPr/>
              <a:lstStyle/>
              <a:p>
                <a:r>
                  <a:rPr lang="de-DE">
                    <a:noFill/>
                  </a:rPr>
                  <a:t> </a:t>
                </a:r>
              </a:p>
            </p:txBody>
          </p:sp>
        </mc:Fallback>
      </mc:AlternateContent>
      <p:sp>
        <p:nvSpPr>
          <p:cNvPr id="29" name="Freihandform: Form 28">
            <a:extLst>
              <a:ext uri="{FF2B5EF4-FFF2-40B4-BE49-F238E27FC236}">
                <a16:creationId xmlns:a16="http://schemas.microsoft.com/office/drawing/2014/main" id="{93F5AD86-C7D0-3F53-C186-EA7F05FDFD6E}"/>
              </a:ext>
            </a:extLst>
          </p:cNvPr>
          <p:cNvSpPr/>
          <p:nvPr/>
        </p:nvSpPr>
        <p:spPr>
          <a:xfrm>
            <a:off x="8266853" y="3140006"/>
            <a:ext cx="2386676" cy="715694"/>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86676"/>
              <a:gd name="connsiteY0" fmla="*/ 255188 h 492915"/>
              <a:gd name="connsiteX1" fmla="*/ 1362231 w 2386676"/>
              <a:gd name="connsiteY1" fmla="*/ 485568 h 492915"/>
              <a:gd name="connsiteX2" fmla="*/ 2386676 w 2386676"/>
              <a:gd name="connsiteY2" fmla="*/ 0 h 492915"/>
              <a:gd name="connsiteX0" fmla="*/ 0 w 2368203"/>
              <a:gd name="connsiteY0" fmla="*/ 310606 h 548333"/>
              <a:gd name="connsiteX1" fmla="*/ 1362231 w 2368203"/>
              <a:gd name="connsiteY1" fmla="*/ 540986 h 548333"/>
              <a:gd name="connsiteX2" fmla="*/ 2368203 w 2368203"/>
              <a:gd name="connsiteY2" fmla="*/ 0 h 548333"/>
              <a:gd name="connsiteX0" fmla="*/ 0 w 2386676"/>
              <a:gd name="connsiteY0" fmla="*/ 292133 h 529860"/>
              <a:gd name="connsiteX1" fmla="*/ 1362231 w 2386676"/>
              <a:gd name="connsiteY1" fmla="*/ 522513 h 529860"/>
              <a:gd name="connsiteX2" fmla="*/ 2386676 w 2386676"/>
              <a:gd name="connsiteY2" fmla="*/ 0 h 529860"/>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11429"/>
              <a:gd name="connsiteX1" fmla="*/ 1362231 w 2386676"/>
              <a:gd name="connsiteY1" fmla="*/ 697610 h 711429"/>
              <a:gd name="connsiteX2" fmla="*/ 2386676 w 2386676"/>
              <a:gd name="connsiteY2" fmla="*/ 0 h 711429"/>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Lst>
            <a:ahLst/>
            <a:cxnLst>
              <a:cxn ang="0">
                <a:pos x="connsiteX0" y="connsiteY0"/>
              </a:cxn>
              <a:cxn ang="0">
                <a:pos x="connsiteX1" y="connsiteY1"/>
              </a:cxn>
              <a:cxn ang="0">
                <a:pos x="connsiteX2" y="connsiteY2"/>
              </a:cxn>
            </a:cxnLst>
            <a:rect l="l" t="t" r="r" b="b"/>
            <a:pathLst>
              <a:path w="2386676" h="715694">
                <a:moveTo>
                  <a:pt x="0" y="292133"/>
                </a:moveTo>
                <a:cubicBezTo>
                  <a:pt x="304753" y="563581"/>
                  <a:pt x="664433" y="781082"/>
                  <a:pt x="1362231" y="697610"/>
                </a:cubicBezTo>
                <a:cubicBezTo>
                  <a:pt x="2068773" y="605391"/>
                  <a:pt x="2135064" y="276549"/>
                  <a:pt x="2386676" y="0"/>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Freihandform: Form 29">
            <a:extLst>
              <a:ext uri="{FF2B5EF4-FFF2-40B4-BE49-F238E27FC236}">
                <a16:creationId xmlns:a16="http://schemas.microsoft.com/office/drawing/2014/main" id="{1BDEB070-FE1B-C57F-E65A-7C948924EFE1}"/>
              </a:ext>
            </a:extLst>
          </p:cNvPr>
          <p:cNvSpPr/>
          <p:nvPr/>
        </p:nvSpPr>
        <p:spPr>
          <a:xfrm>
            <a:off x="8239139" y="1543551"/>
            <a:ext cx="3372007" cy="1699482"/>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610929"/>
              <a:gd name="connsiteX1" fmla="*/ 1066667 w 2460567"/>
              <a:gd name="connsiteY1" fmla="*/ 479762 h 610929"/>
              <a:gd name="connsiteX2" fmla="*/ 2460567 w 2460567"/>
              <a:gd name="connsiteY2" fmla="*/ 539139 h 61092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17158"/>
              <a:gd name="connsiteX1" fmla="*/ 1066667 w 2460567"/>
              <a:gd name="connsiteY1" fmla="*/ 479762 h 717158"/>
              <a:gd name="connsiteX2" fmla="*/ 2460567 w 2460567"/>
              <a:gd name="connsiteY2" fmla="*/ 539139 h 717158"/>
              <a:gd name="connsiteX0" fmla="*/ 0 w 1195700"/>
              <a:gd name="connsiteY0" fmla="*/ 0 h 1621304"/>
              <a:gd name="connsiteX1" fmla="*/ 1066667 w 1195700"/>
              <a:gd name="connsiteY1" fmla="*/ 479762 h 1621304"/>
              <a:gd name="connsiteX2" fmla="*/ 1185949 w 1195700"/>
              <a:gd name="connsiteY2" fmla="*/ 1592085 h 1621304"/>
              <a:gd name="connsiteX0" fmla="*/ 0 w 1256641"/>
              <a:gd name="connsiteY0" fmla="*/ 0 h 1592085"/>
              <a:gd name="connsiteX1" fmla="*/ 1066667 w 1256641"/>
              <a:gd name="connsiteY1" fmla="*/ 479762 h 1592085"/>
              <a:gd name="connsiteX2" fmla="*/ 1185949 w 1256641"/>
              <a:gd name="connsiteY2" fmla="*/ 1592085 h 1592085"/>
              <a:gd name="connsiteX0" fmla="*/ 0 w 1200894"/>
              <a:gd name="connsiteY0" fmla="*/ 0 h 1776812"/>
              <a:gd name="connsiteX1" fmla="*/ 1066667 w 1200894"/>
              <a:gd name="connsiteY1" fmla="*/ 479762 h 1776812"/>
              <a:gd name="connsiteX2" fmla="*/ 991985 w 1200894"/>
              <a:gd name="connsiteY2" fmla="*/ 1776812 h 1776812"/>
              <a:gd name="connsiteX0" fmla="*/ 0 w 1282160"/>
              <a:gd name="connsiteY0" fmla="*/ 0 h 1776812"/>
              <a:gd name="connsiteX1" fmla="*/ 1066667 w 1282160"/>
              <a:gd name="connsiteY1" fmla="*/ 479762 h 1776812"/>
              <a:gd name="connsiteX2" fmla="*/ 991985 w 1282160"/>
              <a:gd name="connsiteY2" fmla="*/ 1776812 h 1776812"/>
              <a:gd name="connsiteX0" fmla="*/ 0 w 1274806"/>
              <a:gd name="connsiteY0" fmla="*/ 0 h 1629030"/>
              <a:gd name="connsiteX1" fmla="*/ 1066667 w 1274806"/>
              <a:gd name="connsiteY1" fmla="*/ 479762 h 1629030"/>
              <a:gd name="connsiteX2" fmla="*/ 973513 w 1274806"/>
              <a:gd name="connsiteY2" fmla="*/ 1629030 h 1629030"/>
              <a:gd name="connsiteX0" fmla="*/ 0 w 1274806"/>
              <a:gd name="connsiteY0" fmla="*/ 0 h 1712157"/>
              <a:gd name="connsiteX1" fmla="*/ 1066667 w 1274806"/>
              <a:gd name="connsiteY1" fmla="*/ 479762 h 1712157"/>
              <a:gd name="connsiteX2" fmla="*/ 973513 w 1274806"/>
              <a:gd name="connsiteY2" fmla="*/ 1712157 h 1712157"/>
              <a:gd name="connsiteX0" fmla="*/ 0 w 1338340"/>
              <a:gd name="connsiteY0" fmla="*/ 0 h 1712157"/>
              <a:gd name="connsiteX1" fmla="*/ 1066667 w 1338340"/>
              <a:gd name="connsiteY1" fmla="*/ 479762 h 1712157"/>
              <a:gd name="connsiteX2" fmla="*/ 973513 w 1338340"/>
              <a:gd name="connsiteY2" fmla="*/ 1712157 h 1712157"/>
              <a:gd name="connsiteX0" fmla="*/ 0 w 1373085"/>
              <a:gd name="connsiteY0" fmla="*/ 0 h 1712157"/>
              <a:gd name="connsiteX1" fmla="*/ 1131321 w 1373085"/>
              <a:gd name="connsiteY1" fmla="*/ 562890 h 1712157"/>
              <a:gd name="connsiteX2" fmla="*/ 973513 w 1373085"/>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40168"/>
              <a:gd name="connsiteY0" fmla="*/ 0 h 1767575"/>
              <a:gd name="connsiteX1" fmla="*/ 1269866 w 1440168"/>
              <a:gd name="connsiteY1" fmla="*/ 618308 h 1767575"/>
              <a:gd name="connsiteX2" fmla="*/ 1010458 w 1440168"/>
              <a:gd name="connsiteY2" fmla="*/ 1767575 h 1767575"/>
              <a:gd name="connsiteX0" fmla="*/ 0 w 1572912"/>
              <a:gd name="connsiteY0" fmla="*/ 0 h 1767575"/>
              <a:gd name="connsiteX1" fmla="*/ 1269866 w 1572912"/>
              <a:gd name="connsiteY1" fmla="*/ 618308 h 1767575"/>
              <a:gd name="connsiteX2" fmla="*/ 1010458 w 1572912"/>
              <a:gd name="connsiteY2" fmla="*/ 1767575 h 1767575"/>
              <a:gd name="connsiteX0" fmla="*/ 0 w 2672137"/>
              <a:gd name="connsiteY0" fmla="*/ 0 h 1757848"/>
              <a:gd name="connsiteX1" fmla="*/ 2369091 w 2672137"/>
              <a:gd name="connsiteY1" fmla="*/ 608581 h 1757848"/>
              <a:gd name="connsiteX2" fmla="*/ 2109683 w 2672137"/>
              <a:gd name="connsiteY2" fmla="*/ 1757848 h 1757848"/>
              <a:gd name="connsiteX0" fmla="*/ 0 w 3026926"/>
              <a:gd name="connsiteY0" fmla="*/ 0 h 1757848"/>
              <a:gd name="connsiteX1" fmla="*/ 2826291 w 3026926"/>
              <a:gd name="connsiteY1" fmla="*/ 754496 h 1757848"/>
              <a:gd name="connsiteX2" fmla="*/ 2109683 w 3026926"/>
              <a:gd name="connsiteY2" fmla="*/ 1757848 h 1757848"/>
              <a:gd name="connsiteX0" fmla="*/ 0 w 3242468"/>
              <a:gd name="connsiteY0" fmla="*/ 0 h 1699482"/>
              <a:gd name="connsiteX1" fmla="*/ 2826291 w 3242468"/>
              <a:gd name="connsiteY1" fmla="*/ 754496 h 1699482"/>
              <a:gd name="connsiteX2" fmla="*/ 2848985 w 3242468"/>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372007"/>
              <a:gd name="connsiteY0" fmla="*/ 0 h 1699482"/>
              <a:gd name="connsiteX1" fmla="*/ 2836019 w 3372007"/>
              <a:gd name="connsiteY1" fmla="*/ 861500 h 1699482"/>
              <a:gd name="connsiteX2" fmla="*/ 2848985 w 3372007"/>
              <a:gd name="connsiteY2" fmla="*/ 1699482 h 1699482"/>
            </a:gdLst>
            <a:ahLst/>
            <a:cxnLst>
              <a:cxn ang="0">
                <a:pos x="connsiteX0" y="connsiteY0"/>
              </a:cxn>
              <a:cxn ang="0">
                <a:pos x="connsiteX1" y="connsiteY1"/>
              </a:cxn>
              <a:cxn ang="0">
                <a:pos x="connsiteX2" y="connsiteY2"/>
              </a:cxn>
            </a:cxnLst>
            <a:rect l="l" t="t" r="r" b="b"/>
            <a:pathLst>
              <a:path w="3372007" h="1699482">
                <a:moveTo>
                  <a:pt x="0" y="0"/>
                </a:moveTo>
                <a:cubicBezTo>
                  <a:pt x="210523" y="54098"/>
                  <a:pt x="1796672" y="400813"/>
                  <a:pt x="2836019" y="861500"/>
                </a:cubicBezTo>
                <a:cubicBezTo>
                  <a:pt x="3719036" y="1223828"/>
                  <a:pt x="3356721" y="1503013"/>
                  <a:pt x="2848985" y="1699482"/>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1" name="Grafik 30">
            <a:extLst>
              <a:ext uri="{FF2B5EF4-FFF2-40B4-BE49-F238E27FC236}">
                <a16:creationId xmlns:a16="http://schemas.microsoft.com/office/drawing/2014/main" id="{BAF47A95-F4C5-6335-71B5-F456F21EDC5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27469" y="6907953"/>
            <a:ext cx="8124002" cy="6382172"/>
          </a:xfrm>
          <a:prstGeom prst="rect">
            <a:avLst/>
          </a:prstGeom>
        </p:spPr>
      </p:pic>
      <p:sp>
        <p:nvSpPr>
          <p:cNvPr id="12" name="Rechteck: abgerundete Ecken 23">
            <a:extLst>
              <a:ext uri="{FF2B5EF4-FFF2-40B4-BE49-F238E27FC236}">
                <a16:creationId xmlns:a16="http://schemas.microsoft.com/office/drawing/2014/main" id="{0B4F44B5-3B7D-2696-8DEC-D0E41879E692}"/>
              </a:ext>
            </a:extLst>
          </p:cNvPr>
          <p:cNvSpPr/>
          <p:nvPr/>
        </p:nvSpPr>
        <p:spPr>
          <a:xfrm>
            <a:off x="7811763" y="725384"/>
            <a:ext cx="3357590" cy="1186626"/>
          </a:xfrm>
          <a:prstGeom prst="roundRect">
            <a:avLst>
              <a:gd name="adj" fmla="val 36074"/>
            </a:avLst>
          </a:prstGeom>
          <a:solidFill>
            <a:schemeClr val="accent3">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2" name="Grafik 31" descr="Ein Bild, das Schwarz, Dunkelheit enthält.">
            <a:extLst>
              <a:ext uri="{FF2B5EF4-FFF2-40B4-BE49-F238E27FC236}">
                <a16:creationId xmlns:a16="http://schemas.microsoft.com/office/drawing/2014/main" id="{1FB8BE96-7E90-D2EA-8C9F-87624D8EBD6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879590" y="850273"/>
            <a:ext cx="3275246" cy="950431"/>
          </a:xfrm>
          <a:prstGeom prst="rect">
            <a:avLst/>
          </a:prstGeom>
        </p:spPr>
      </p:pic>
      <mc:AlternateContent xmlns:mc="http://schemas.openxmlformats.org/markup-compatibility/2006" xmlns:a14="http://schemas.microsoft.com/office/drawing/2010/main">
        <mc:Choice Requires="a14">
          <p:sp>
            <p:nvSpPr>
              <p:cNvPr id="33" name="Textfeld 32">
                <a:extLst>
                  <a:ext uri="{FF2B5EF4-FFF2-40B4-BE49-F238E27FC236}">
                    <a16:creationId xmlns:a16="http://schemas.microsoft.com/office/drawing/2014/main" id="{9F46C0C0-253F-4F2E-6037-FA36094EDCAE}"/>
                  </a:ext>
                </a:extLst>
              </p:cNvPr>
              <p:cNvSpPr txBox="1"/>
              <p:nvPr/>
            </p:nvSpPr>
            <p:spPr>
              <a:xfrm>
                <a:off x="7970658" y="-1067089"/>
                <a:ext cx="2935162" cy="630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2400" i="1" smtClean="0">
                          <a:latin typeface="Cambria Math" panose="02040503050406030204" pitchFamily="18" charset="0"/>
                        </a:rPr>
                        <m:t>𝐹</m:t>
                      </m:r>
                      <m:r>
                        <a:rPr lang="de-DE" sz="2400" b="0" i="1" smtClean="0">
                          <a:latin typeface="Cambria Math" panose="02040503050406030204" pitchFamily="18" charset="0"/>
                        </a:rPr>
                        <m:t>=</m:t>
                      </m:r>
                      <m:r>
                        <a:rPr lang="de-DE" sz="2400" b="0" i="1" smtClean="0">
                          <a:latin typeface="Cambria Math" panose="02040503050406030204" pitchFamily="18" charset="0"/>
                        </a:rPr>
                        <m:t>𝑎</m:t>
                      </m:r>
                      <m:r>
                        <a:rPr lang="de-DE" sz="2400" b="0" i="1" smtClean="0">
                          <a:latin typeface="Cambria Math" panose="02040503050406030204" pitchFamily="18" charset="0"/>
                        </a:rPr>
                        <m:t>∗</m:t>
                      </m:r>
                      <m:r>
                        <a:rPr lang="de-DE" sz="2400" b="0" i="1" smtClean="0">
                          <a:latin typeface="Cambria Math" panose="02040503050406030204" pitchFamily="18" charset="0"/>
                        </a:rPr>
                        <m:t>𝑚</m:t>
                      </m:r>
                      <m:r>
                        <a:rPr lang="de-DE" sz="2400" i="1" smtClean="0">
                          <a:latin typeface="Cambria Math" panose="02040503050406030204" pitchFamily="18" charset="0"/>
                        </a:rPr>
                        <m:t>=</m:t>
                      </m:r>
                      <m:r>
                        <a:rPr lang="de-DE" sz="2400" i="1" smtClean="0">
                          <a:latin typeface="Cambria Math" panose="02040503050406030204" pitchFamily="18" charset="0"/>
                        </a:rPr>
                        <m:t>𝐺</m:t>
                      </m:r>
                      <m:f>
                        <m:fPr>
                          <m:ctrlPr>
                            <a:rPr lang="de-DE" sz="2400" i="1">
                              <a:latin typeface="Cambria Math" panose="02040503050406030204" pitchFamily="18" charset="0"/>
                            </a:rPr>
                          </m:ctrlPr>
                        </m:fPr>
                        <m:num>
                          <m:sSub>
                            <m:sSubPr>
                              <m:ctrlPr>
                                <a:rPr lang="de-DE" sz="2400" i="1" smtClean="0">
                                  <a:latin typeface="Cambria Math" panose="02040503050406030204" pitchFamily="18" charset="0"/>
                                </a:rPr>
                              </m:ctrlPr>
                            </m:sSubPr>
                            <m:e>
                              <m:r>
                                <a:rPr lang="de-DE" sz="2400" i="1">
                                  <a:latin typeface="Cambria Math" panose="02040503050406030204" pitchFamily="18" charset="0"/>
                                </a:rPr>
                                <m:t>𝑚</m:t>
                              </m:r>
                            </m:e>
                            <m:sub>
                              <m:r>
                                <a:rPr lang="de-DE" sz="2400" b="0" i="1" smtClean="0">
                                  <a:latin typeface="Cambria Math" panose="02040503050406030204" pitchFamily="18" charset="0"/>
                                </a:rPr>
                                <m:t>1</m:t>
                              </m:r>
                            </m:sub>
                          </m:sSub>
                          <m:sSub>
                            <m:sSubPr>
                              <m:ctrlPr>
                                <a:rPr lang="de-DE" sz="2400" i="1">
                                  <a:latin typeface="Cambria Math" panose="02040503050406030204" pitchFamily="18" charset="0"/>
                                </a:rPr>
                              </m:ctrlPr>
                            </m:sSubPr>
                            <m:e>
                              <m:r>
                                <a:rPr lang="de-DE" sz="2400" i="1">
                                  <a:latin typeface="Cambria Math" panose="02040503050406030204" pitchFamily="18" charset="0"/>
                                </a:rPr>
                                <m:t>𝑚</m:t>
                              </m:r>
                            </m:e>
                            <m:sub>
                              <m:r>
                                <a:rPr lang="de-DE" sz="2400" b="0" i="1" smtClean="0">
                                  <a:latin typeface="Cambria Math" panose="02040503050406030204" pitchFamily="18" charset="0"/>
                                </a:rPr>
                                <m:t>2</m:t>
                              </m:r>
                            </m:sub>
                          </m:sSub>
                        </m:num>
                        <m:den>
                          <m:sSup>
                            <m:sSupPr>
                              <m:ctrlPr>
                                <a:rPr lang="de-DE" sz="2400" i="1">
                                  <a:latin typeface="Cambria Math" panose="02040503050406030204" pitchFamily="18" charset="0"/>
                                </a:rPr>
                              </m:ctrlPr>
                            </m:sSupPr>
                            <m:e>
                              <m:r>
                                <a:rPr lang="de-DE" sz="2400" i="1">
                                  <a:latin typeface="Cambria Math" panose="02040503050406030204" pitchFamily="18" charset="0"/>
                                </a:rPr>
                                <m:t>𝑟</m:t>
                              </m:r>
                            </m:e>
                            <m:sup>
                              <m:r>
                                <a:rPr lang="de-DE" sz="2400" i="1">
                                  <a:latin typeface="Cambria Math" panose="02040503050406030204" pitchFamily="18" charset="0"/>
                                </a:rPr>
                                <m:t>2</m:t>
                              </m:r>
                            </m:sup>
                          </m:sSup>
                        </m:den>
                      </m:f>
                    </m:oMath>
                  </m:oMathPara>
                </a14:m>
                <a:endParaRPr lang="de-DE" sz="2400" dirty="0"/>
              </a:p>
            </p:txBody>
          </p:sp>
        </mc:Choice>
        <mc:Fallback xmlns="">
          <p:sp>
            <p:nvSpPr>
              <p:cNvPr id="33" name="Textfeld 32">
                <a:extLst>
                  <a:ext uri="{FF2B5EF4-FFF2-40B4-BE49-F238E27FC236}">
                    <a16:creationId xmlns:a16="http://schemas.microsoft.com/office/drawing/2014/main" id="{9F46C0C0-253F-4F2E-6037-FA36094EDCAE}"/>
                  </a:ext>
                </a:extLst>
              </p:cNvPr>
              <p:cNvSpPr txBox="1">
                <a:spLocks noRot="1" noChangeAspect="1" noMove="1" noResize="1" noEditPoints="1" noAdjustHandles="1" noChangeArrowheads="1" noChangeShapeType="1" noTextEdit="1"/>
              </p:cNvSpPr>
              <p:nvPr/>
            </p:nvSpPr>
            <p:spPr>
              <a:xfrm>
                <a:off x="7970658" y="-1067089"/>
                <a:ext cx="2935162" cy="630109"/>
              </a:xfrm>
              <a:prstGeom prst="rect">
                <a:avLst/>
              </a:prstGeom>
              <a:blipFill>
                <a:blip r:embed="rId13"/>
                <a:stretch>
                  <a:fillRect/>
                </a:stretch>
              </a:blipFill>
            </p:spPr>
            <p:txBody>
              <a:bodyPr/>
              <a:lstStyle/>
              <a:p>
                <a:r>
                  <a:rPr lang="de-DE">
                    <a:noFill/>
                  </a:rPr>
                  <a:t> </a:t>
                </a:r>
              </a:p>
            </p:txBody>
          </p:sp>
        </mc:Fallback>
      </mc:AlternateContent>
      <p:sp>
        <p:nvSpPr>
          <p:cNvPr id="34" name="Textfeld 33">
            <a:extLst>
              <a:ext uri="{FF2B5EF4-FFF2-40B4-BE49-F238E27FC236}">
                <a16:creationId xmlns:a16="http://schemas.microsoft.com/office/drawing/2014/main" id="{CCE37D4A-67C2-D70D-4DD8-25FCA5FAFB96}"/>
              </a:ext>
            </a:extLst>
          </p:cNvPr>
          <p:cNvSpPr txBox="1"/>
          <p:nvPr/>
        </p:nvSpPr>
        <p:spPr>
          <a:xfrm>
            <a:off x="9276856" y="-388202"/>
            <a:ext cx="461665" cy="215765"/>
          </a:xfrm>
          <a:prstGeom prst="rect">
            <a:avLst/>
          </a:prstGeom>
          <a:noFill/>
        </p:spPr>
        <p:txBody>
          <a:bodyPr vert="vert" wrap="none" rtlCol="0">
            <a:spAutoFit/>
          </a:bodyPr>
          <a:lstStyle/>
          <a:p>
            <a:r>
              <a:rPr lang="de-DE" dirty="0"/>
              <a:t>»</a:t>
            </a:r>
          </a:p>
        </p:txBody>
      </p:sp>
    </p:spTree>
    <p:extLst>
      <p:ext uri="{BB962C8B-B14F-4D97-AF65-F5344CB8AC3E}">
        <p14:creationId xmlns:p14="http://schemas.microsoft.com/office/powerpoint/2010/main" val="1197156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BC675-3E8B-F566-AE5F-B8976405CE14}"/>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8086D5B8-04C7-1ABC-0447-D95E2C02ADF7}"/>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72951DFF-DC31-90C3-8D04-38F428B5B030}"/>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0E9C0B7B-6EBB-E2C6-EEBD-1A498F6CFD9A}"/>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FE8D4259-F32C-30B9-96A0-6663E4AA6A55}"/>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CEC1DE8D-16FF-9194-32EE-9D1DB5854712}"/>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11B35FEF-3E40-1C4D-E89D-E4220C69E01B}"/>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DDDC3681-E1F4-C298-F314-78FD2D4E14C5}"/>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1AB3CF18-9CD9-563C-EEDE-73E32D513FE8}"/>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47CA333A-F79E-3FCB-AF1D-76B500A73B7A}"/>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7" name="Grafik 6">
            <a:extLst>
              <a:ext uri="{FF2B5EF4-FFF2-40B4-BE49-F238E27FC236}">
                <a16:creationId xmlns:a16="http://schemas.microsoft.com/office/drawing/2014/main" id="{B076A22E-922C-713C-D674-6AA22200B0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27469" y="-63423"/>
            <a:ext cx="8124002" cy="6382172"/>
          </a:xfrm>
          <a:prstGeom prst="rect">
            <a:avLst/>
          </a:prstGeom>
        </p:spPr>
      </p:pic>
      <p:pic>
        <p:nvPicPr>
          <p:cNvPr id="9" name="Grafik 8">
            <a:extLst>
              <a:ext uri="{FF2B5EF4-FFF2-40B4-BE49-F238E27FC236}">
                <a16:creationId xmlns:a16="http://schemas.microsoft.com/office/drawing/2014/main" id="{9192CD6B-E2CA-0EF4-02D7-44B5E53B175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6841" y="-4042558"/>
            <a:ext cx="6076817" cy="2804685"/>
          </a:xfrm>
          <a:prstGeom prst="rect">
            <a:avLst/>
          </a:prstGeom>
        </p:spPr>
      </p:pic>
      <p:sp>
        <p:nvSpPr>
          <p:cNvPr id="12" name="Rechteck: abgerundete Ecken 11">
            <a:extLst>
              <a:ext uri="{FF2B5EF4-FFF2-40B4-BE49-F238E27FC236}">
                <a16:creationId xmlns:a16="http://schemas.microsoft.com/office/drawing/2014/main" id="{1C3FF999-7A5D-ACE3-CEDD-95BA4DC049D8}"/>
              </a:ext>
            </a:extLst>
          </p:cNvPr>
          <p:cNvSpPr/>
          <p:nvPr/>
        </p:nvSpPr>
        <p:spPr>
          <a:xfrm>
            <a:off x="1089578" y="-2986142"/>
            <a:ext cx="136187" cy="1316092"/>
          </a:xfrm>
          <a:prstGeom prst="roundRect">
            <a:avLst>
              <a:gd name="adj" fmla="val 36074"/>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9DDAE136-3FFB-E303-512E-CCBE2A706654}"/>
              </a:ext>
            </a:extLst>
          </p:cNvPr>
          <p:cNvSpPr/>
          <p:nvPr/>
        </p:nvSpPr>
        <p:spPr>
          <a:xfrm>
            <a:off x="9863936" y="-3343845"/>
            <a:ext cx="1193021" cy="309964"/>
          </a:xfrm>
          <a:prstGeom prst="roundRect">
            <a:avLst>
              <a:gd name="adj" fmla="val 36074"/>
            </a:avLst>
          </a:prstGeom>
          <a:solidFill>
            <a:schemeClr val="accent1">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abgerundete Ecken 13">
            <a:extLst>
              <a:ext uri="{FF2B5EF4-FFF2-40B4-BE49-F238E27FC236}">
                <a16:creationId xmlns:a16="http://schemas.microsoft.com/office/drawing/2014/main" id="{3F41FE00-E7FB-19B3-7201-5B381A3E7230}"/>
              </a:ext>
            </a:extLst>
          </p:cNvPr>
          <p:cNvSpPr/>
          <p:nvPr/>
        </p:nvSpPr>
        <p:spPr>
          <a:xfrm>
            <a:off x="8124000" y="-2580546"/>
            <a:ext cx="2733117" cy="620499"/>
          </a:xfrm>
          <a:prstGeom prst="roundRect">
            <a:avLst>
              <a:gd name="adj" fmla="val 36074"/>
            </a:avLst>
          </a:prstGeom>
          <a:solidFill>
            <a:schemeClr val="accent2">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6039288-130D-BCA3-8577-624DF311D75B}"/>
                  </a:ext>
                </a:extLst>
              </p:cNvPr>
              <p:cNvSpPr txBox="1"/>
              <p:nvPr/>
            </p:nvSpPr>
            <p:spPr>
              <a:xfrm>
                <a:off x="7433854" y="-3267209"/>
                <a:ext cx="1049711" cy="6866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𝑌</m:t>
                          </m:r>
                        </m:e>
                        <m:sub>
                          <m:r>
                            <a:rPr lang="de-DE" b="0" i="1" smtClean="0">
                              <a:latin typeface="Cambria Math" panose="02040503050406030204" pitchFamily="18" charset="0"/>
                            </a:rPr>
                            <m:t>𝑜</m:t>
                          </m:r>
                        </m:sub>
                      </m:sSub>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r>
                                  <m:rPr>
                                    <m:brk m:alnAt="7"/>
                                  </m:rPr>
                                  <a:rPr lang="de-DE" b="0" i="1" smtClean="0">
                                    <a:latin typeface="Cambria Math" panose="02040503050406030204" pitchFamily="18" charset="0"/>
                                  </a:rPr>
                                  <m:t>𝑚</m:t>
                                </m:r>
                              </m:e>
                            </m:mr>
                            <m:mr>
                              <m:e>
                                <m:r>
                                  <a:rPr lang="de-DE" b="0" i="1" smtClean="0">
                                    <a:latin typeface="Cambria Math" panose="02040503050406030204" pitchFamily="18" charset="0"/>
                                  </a:rPr>
                                  <m:t>𝑟</m:t>
                                </m:r>
                              </m:e>
                            </m:mr>
                            <m:mr>
                              <m:e>
                                <m:r>
                                  <a:rPr lang="de-DE" b="0" i="1" smtClean="0">
                                    <a:latin typeface="Cambria Math" panose="02040503050406030204" pitchFamily="18" charset="0"/>
                                  </a:rPr>
                                  <m:t>𝑣</m:t>
                                </m:r>
                              </m:e>
                            </m:mr>
                          </m:m>
                        </m:e>
                      </m:d>
                    </m:oMath>
                  </m:oMathPara>
                </a14:m>
                <a:endParaRPr lang="de-DE" dirty="0"/>
              </a:p>
            </p:txBody>
          </p:sp>
        </mc:Choice>
        <mc:Fallback xmlns="">
          <p:sp>
            <p:nvSpPr>
              <p:cNvPr id="17" name="Textfeld 16">
                <a:extLst>
                  <a:ext uri="{FF2B5EF4-FFF2-40B4-BE49-F238E27FC236}">
                    <a16:creationId xmlns:a16="http://schemas.microsoft.com/office/drawing/2014/main" id="{D6039288-130D-BCA3-8577-624DF311D75B}"/>
                  </a:ext>
                </a:extLst>
              </p:cNvPr>
              <p:cNvSpPr txBox="1">
                <a:spLocks noRot="1" noChangeAspect="1" noMove="1" noResize="1" noEditPoints="1" noAdjustHandles="1" noChangeArrowheads="1" noChangeShapeType="1" noTextEdit="1"/>
              </p:cNvSpPr>
              <p:nvPr/>
            </p:nvSpPr>
            <p:spPr>
              <a:xfrm>
                <a:off x="7433854" y="-3267209"/>
                <a:ext cx="1049711" cy="686663"/>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D5AFFAC1-B502-3EC9-8DC9-CE69D86C769E}"/>
                  </a:ext>
                </a:extLst>
              </p:cNvPr>
              <p:cNvSpPr txBox="1"/>
              <p:nvPr/>
            </p:nvSpPr>
            <p:spPr>
              <a:xfrm>
                <a:off x="9080555" y="-3302155"/>
                <a:ext cx="2025042" cy="7337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b="0" i="1" smtClean="0">
                                  <a:latin typeface="Cambria Math" panose="02040503050406030204" pitchFamily="18" charset="0"/>
                                </a:rPr>
                              </m:ctrlPr>
                            </m:mP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𝑚</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𝑟</m:t>
                                    </m:r>
                                  </m:e>
                                </m:acc>
                              </m:e>
                            </m:mr>
                            <m:m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𝑣</m:t>
                                    </m:r>
                                  </m:e>
                                </m:acc>
                              </m:e>
                            </m:mr>
                          </m:m>
                        </m:e>
                      </m:d>
                      <m:r>
                        <a:rPr lang="de-DE" b="0" i="1" smtClean="0">
                          <a:latin typeface="Cambria Math" panose="02040503050406030204" pitchFamily="18" charset="0"/>
                        </a:rPr>
                        <m:t>=</m:t>
                      </m:r>
                      <m:d>
                        <m:dPr>
                          <m:ctrlPr>
                            <a:rPr lang="de-DE" b="0" i="1" smtClean="0">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b="0" i="1" smtClean="0">
                                    <a:latin typeface="Cambria Math" panose="02040503050406030204" pitchFamily="18" charset="0"/>
                                  </a:rPr>
                                  <m:t>0</m:t>
                                </m:r>
                              </m:e>
                            </m:mr>
                            <m:mr>
                              <m:e>
                                <m:r>
                                  <a:rPr lang="de-DE" b="0" i="1" smtClean="0">
                                    <a:latin typeface="Cambria Math" panose="02040503050406030204" pitchFamily="18" charset="0"/>
                                  </a:rPr>
                                  <m:t>𝑣</m:t>
                                </m:r>
                              </m:e>
                            </m:mr>
                            <m:mr>
                              <m:e>
                                <m:r>
                                  <a:rPr lang="de-DE" b="0" i="1" smtClean="0">
                                    <a:latin typeface="Cambria Math" panose="02040503050406030204" pitchFamily="18" charset="0"/>
                                  </a:rPr>
                                  <m:t>𝑎</m:t>
                                </m:r>
                              </m:e>
                            </m:mr>
                          </m:m>
                        </m:e>
                      </m:d>
                    </m:oMath>
                  </m:oMathPara>
                </a14:m>
                <a:endParaRPr lang="de-DE" dirty="0"/>
              </a:p>
            </p:txBody>
          </p:sp>
        </mc:Choice>
        <mc:Fallback xmlns="">
          <p:sp>
            <p:nvSpPr>
              <p:cNvPr id="18" name="Textfeld 17">
                <a:extLst>
                  <a:ext uri="{FF2B5EF4-FFF2-40B4-BE49-F238E27FC236}">
                    <a16:creationId xmlns:a16="http://schemas.microsoft.com/office/drawing/2014/main" id="{D5AFFAC1-B502-3EC9-8DC9-CE69D86C769E}"/>
                  </a:ext>
                </a:extLst>
              </p:cNvPr>
              <p:cNvSpPr txBox="1">
                <a:spLocks noRot="1" noChangeAspect="1" noMove="1" noResize="1" noEditPoints="1" noAdjustHandles="1" noChangeArrowheads="1" noChangeShapeType="1" noTextEdit="1"/>
              </p:cNvSpPr>
              <p:nvPr/>
            </p:nvSpPr>
            <p:spPr>
              <a:xfrm>
                <a:off x="9080555" y="-3302155"/>
                <a:ext cx="2025042" cy="733791"/>
              </a:xfrm>
              <a:prstGeom prst="rect">
                <a:avLst/>
              </a:prstGeom>
              <a:blipFill>
                <a:blip r:embed="rId7"/>
                <a:stretch>
                  <a:fillRect/>
                </a:stretch>
              </a:blipFill>
            </p:spPr>
            <p:txBody>
              <a:bodyPr/>
              <a:lstStyle/>
              <a:p>
                <a:r>
                  <a:rPr lang="de-DE">
                    <a:noFill/>
                  </a:rPr>
                  <a:t> </a:t>
                </a:r>
              </a:p>
            </p:txBody>
          </p:sp>
        </mc:Fallback>
      </mc:AlternateContent>
      <p:sp>
        <p:nvSpPr>
          <p:cNvPr id="19" name="Freihandform: Form 18">
            <a:extLst>
              <a:ext uri="{FF2B5EF4-FFF2-40B4-BE49-F238E27FC236}">
                <a16:creationId xmlns:a16="http://schemas.microsoft.com/office/drawing/2014/main" id="{0A1F49DE-DFBC-BEF3-2C86-F071BB89714D}"/>
              </a:ext>
            </a:extLst>
          </p:cNvPr>
          <p:cNvSpPr/>
          <p:nvPr/>
        </p:nvSpPr>
        <p:spPr>
          <a:xfrm>
            <a:off x="8266853" y="-2765494"/>
            <a:ext cx="2386676" cy="715694"/>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386676"/>
              <a:gd name="connsiteY0" fmla="*/ 255188 h 492915"/>
              <a:gd name="connsiteX1" fmla="*/ 1362231 w 2386676"/>
              <a:gd name="connsiteY1" fmla="*/ 485568 h 492915"/>
              <a:gd name="connsiteX2" fmla="*/ 2386676 w 2386676"/>
              <a:gd name="connsiteY2" fmla="*/ 0 h 492915"/>
              <a:gd name="connsiteX0" fmla="*/ 0 w 2368203"/>
              <a:gd name="connsiteY0" fmla="*/ 310606 h 548333"/>
              <a:gd name="connsiteX1" fmla="*/ 1362231 w 2368203"/>
              <a:gd name="connsiteY1" fmla="*/ 540986 h 548333"/>
              <a:gd name="connsiteX2" fmla="*/ 2368203 w 2368203"/>
              <a:gd name="connsiteY2" fmla="*/ 0 h 548333"/>
              <a:gd name="connsiteX0" fmla="*/ 0 w 2386676"/>
              <a:gd name="connsiteY0" fmla="*/ 292133 h 529860"/>
              <a:gd name="connsiteX1" fmla="*/ 1362231 w 2386676"/>
              <a:gd name="connsiteY1" fmla="*/ 522513 h 529860"/>
              <a:gd name="connsiteX2" fmla="*/ 2386676 w 2386676"/>
              <a:gd name="connsiteY2" fmla="*/ 0 h 529860"/>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00714"/>
              <a:gd name="connsiteX1" fmla="*/ 1362231 w 2386676"/>
              <a:gd name="connsiteY1" fmla="*/ 697610 h 700714"/>
              <a:gd name="connsiteX2" fmla="*/ 2386676 w 2386676"/>
              <a:gd name="connsiteY2" fmla="*/ 0 h 700714"/>
              <a:gd name="connsiteX0" fmla="*/ 0 w 2386676"/>
              <a:gd name="connsiteY0" fmla="*/ 292133 h 711429"/>
              <a:gd name="connsiteX1" fmla="*/ 1362231 w 2386676"/>
              <a:gd name="connsiteY1" fmla="*/ 697610 h 711429"/>
              <a:gd name="connsiteX2" fmla="*/ 2386676 w 2386676"/>
              <a:gd name="connsiteY2" fmla="*/ 0 h 711429"/>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 name="connsiteX0" fmla="*/ 0 w 2386676"/>
              <a:gd name="connsiteY0" fmla="*/ 292133 h 715694"/>
              <a:gd name="connsiteX1" fmla="*/ 1362231 w 2386676"/>
              <a:gd name="connsiteY1" fmla="*/ 697610 h 715694"/>
              <a:gd name="connsiteX2" fmla="*/ 2386676 w 2386676"/>
              <a:gd name="connsiteY2" fmla="*/ 0 h 715694"/>
            </a:gdLst>
            <a:ahLst/>
            <a:cxnLst>
              <a:cxn ang="0">
                <a:pos x="connsiteX0" y="connsiteY0"/>
              </a:cxn>
              <a:cxn ang="0">
                <a:pos x="connsiteX1" y="connsiteY1"/>
              </a:cxn>
              <a:cxn ang="0">
                <a:pos x="connsiteX2" y="connsiteY2"/>
              </a:cxn>
            </a:cxnLst>
            <a:rect l="l" t="t" r="r" b="b"/>
            <a:pathLst>
              <a:path w="2386676" h="715694">
                <a:moveTo>
                  <a:pt x="0" y="292133"/>
                </a:moveTo>
                <a:cubicBezTo>
                  <a:pt x="304753" y="563581"/>
                  <a:pt x="664433" y="781082"/>
                  <a:pt x="1362231" y="697610"/>
                </a:cubicBezTo>
                <a:cubicBezTo>
                  <a:pt x="2068773" y="605391"/>
                  <a:pt x="2135064" y="276549"/>
                  <a:pt x="2386676" y="0"/>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Freihandform: Form 19">
            <a:extLst>
              <a:ext uri="{FF2B5EF4-FFF2-40B4-BE49-F238E27FC236}">
                <a16:creationId xmlns:a16="http://schemas.microsoft.com/office/drawing/2014/main" id="{C82567FB-FEA4-F832-1914-E4DC59F8F439}"/>
              </a:ext>
            </a:extLst>
          </p:cNvPr>
          <p:cNvSpPr/>
          <p:nvPr/>
        </p:nvSpPr>
        <p:spPr>
          <a:xfrm>
            <a:off x="8239139" y="-4361949"/>
            <a:ext cx="3372007" cy="1699482"/>
          </a:xfrm>
          <a:custGeom>
            <a:avLst/>
            <a:gdLst>
              <a:gd name="connsiteX0" fmla="*/ 0 w 2377440"/>
              <a:gd name="connsiteY0" fmla="*/ 209006 h 526997"/>
              <a:gd name="connsiteX1" fmla="*/ 1297577 w 2377440"/>
              <a:gd name="connsiteY1" fmla="*/ 522514 h 526997"/>
              <a:gd name="connsiteX2" fmla="*/ 2377440 w 2377440"/>
              <a:gd name="connsiteY2" fmla="*/ 0 h 526997"/>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627121"/>
              <a:gd name="connsiteX1" fmla="*/ 1574668 w 2377440"/>
              <a:gd name="connsiteY1" fmla="*/ 624114 h 627121"/>
              <a:gd name="connsiteX2" fmla="*/ 2377440 w 2377440"/>
              <a:gd name="connsiteY2" fmla="*/ 0 h 627121"/>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38034"/>
              <a:gd name="connsiteX1" fmla="*/ 1445358 w 2377440"/>
              <a:gd name="connsiteY1" fmla="*/ 430150 h 438034"/>
              <a:gd name="connsiteX2" fmla="*/ 2377440 w 2377440"/>
              <a:gd name="connsiteY2" fmla="*/ 0 h 438034"/>
              <a:gd name="connsiteX0" fmla="*/ 0 w 2377440"/>
              <a:gd name="connsiteY0" fmla="*/ 209006 h 446733"/>
              <a:gd name="connsiteX1" fmla="*/ 1362231 w 2377440"/>
              <a:gd name="connsiteY1" fmla="*/ 439386 h 446733"/>
              <a:gd name="connsiteX2" fmla="*/ 2377440 w 2377440"/>
              <a:gd name="connsiteY2" fmla="*/ 0 h 446733"/>
              <a:gd name="connsiteX0" fmla="*/ 0 w 2377440"/>
              <a:gd name="connsiteY0" fmla="*/ 209006 h 446733"/>
              <a:gd name="connsiteX1" fmla="*/ 1362231 w 2377440"/>
              <a:gd name="connsiteY1" fmla="*/ 439386 h 446733"/>
              <a:gd name="connsiteX2" fmla="*/ 2377440 w 2377440"/>
              <a:gd name="connsiteY2" fmla="*/ 0 h 446733"/>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979578"/>
              <a:gd name="connsiteX1" fmla="*/ 1445358 w 2460567"/>
              <a:gd name="connsiteY1" fmla="*/ 978525 h 979578"/>
              <a:gd name="connsiteX2" fmla="*/ 2460567 w 2460567"/>
              <a:gd name="connsiteY2" fmla="*/ 539139 h 979578"/>
              <a:gd name="connsiteX0" fmla="*/ 0 w 2460567"/>
              <a:gd name="connsiteY0" fmla="*/ 0 h 610929"/>
              <a:gd name="connsiteX1" fmla="*/ 1066667 w 2460567"/>
              <a:gd name="connsiteY1" fmla="*/ 479762 h 610929"/>
              <a:gd name="connsiteX2" fmla="*/ 2460567 w 2460567"/>
              <a:gd name="connsiteY2" fmla="*/ 539139 h 61092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35019"/>
              <a:gd name="connsiteX1" fmla="*/ 1066667 w 2460567"/>
              <a:gd name="connsiteY1" fmla="*/ 479762 h 735019"/>
              <a:gd name="connsiteX2" fmla="*/ 2460567 w 2460567"/>
              <a:gd name="connsiteY2" fmla="*/ 539139 h 735019"/>
              <a:gd name="connsiteX0" fmla="*/ 0 w 2460567"/>
              <a:gd name="connsiteY0" fmla="*/ 0 h 717158"/>
              <a:gd name="connsiteX1" fmla="*/ 1066667 w 2460567"/>
              <a:gd name="connsiteY1" fmla="*/ 479762 h 717158"/>
              <a:gd name="connsiteX2" fmla="*/ 2460567 w 2460567"/>
              <a:gd name="connsiteY2" fmla="*/ 539139 h 717158"/>
              <a:gd name="connsiteX0" fmla="*/ 0 w 1195700"/>
              <a:gd name="connsiteY0" fmla="*/ 0 h 1621304"/>
              <a:gd name="connsiteX1" fmla="*/ 1066667 w 1195700"/>
              <a:gd name="connsiteY1" fmla="*/ 479762 h 1621304"/>
              <a:gd name="connsiteX2" fmla="*/ 1185949 w 1195700"/>
              <a:gd name="connsiteY2" fmla="*/ 1592085 h 1621304"/>
              <a:gd name="connsiteX0" fmla="*/ 0 w 1256641"/>
              <a:gd name="connsiteY0" fmla="*/ 0 h 1592085"/>
              <a:gd name="connsiteX1" fmla="*/ 1066667 w 1256641"/>
              <a:gd name="connsiteY1" fmla="*/ 479762 h 1592085"/>
              <a:gd name="connsiteX2" fmla="*/ 1185949 w 1256641"/>
              <a:gd name="connsiteY2" fmla="*/ 1592085 h 1592085"/>
              <a:gd name="connsiteX0" fmla="*/ 0 w 1200894"/>
              <a:gd name="connsiteY0" fmla="*/ 0 h 1776812"/>
              <a:gd name="connsiteX1" fmla="*/ 1066667 w 1200894"/>
              <a:gd name="connsiteY1" fmla="*/ 479762 h 1776812"/>
              <a:gd name="connsiteX2" fmla="*/ 991985 w 1200894"/>
              <a:gd name="connsiteY2" fmla="*/ 1776812 h 1776812"/>
              <a:gd name="connsiteX0" fmla="*/ 0 w 1282160"/>
              <a:gd name="connsiteY0" fmla="*/ 0 h 1776812"/>
              <a:gd name="connsiteX1" fmla="*/ 1066667 w 1282160"/>
              <a:gd name="connsiteY1" fmla="*/ 479762 h 1776812"/>
              <a:gd name="connsiteX2" fmla="*/ 991985 w 1282160"/>
              <a:gd name="connsiteY2" fmla="*/ 1776812 h 1776812"/>
              <a:gd name="connsiteX0" fmla="*/ 0 w 1274806"/>
              <a:gd name="connsiteY0" fmla="*/ 0 h 1629030"/>
              <a:gd name="connsiteX1" fmla="*/ 1066667 w 1274806"/>
              <a:gd name="connsiteY1" fmla="*/ 479762 h 1629030"/>
              <a:gd name="connsiteX2" fmla="*/ 973513 w 1274806"/>
              <a:gd name="connsiteY2" fmla="*/ 1629030 h 1629030"/>
              <a:gd name="connsiteX0" fmla="*/ 0 w 1274806"/>
              <a:gd name="connsiteY0" fmla="*/ 0 h 1712157"/>
              <a:gd name="connsiteX1" fmla="*/ 1066667 w 1274806"/>
              <a:gd name="connsiteY1" fmla="*/ 479762 h 1712157"/>
              <a:gd name="connsiteX2" fmla="*/ 973513 w 1274806"/>
              <a:gd name="connsiteY2" fmla="*/ 1712157 h 1712157"/>
              <a:gd name="connsiteX0" fmla="*/ 0 w 1338340"/>
              <a:gd name="connsiteY0" fmla="*/ 0 h 1712157"/>
              <a:gd name="connsiteX1" fmla="*/ 1066667 w 1338340"/>
              <a:gd name="connsiteY1" fmla="*/ 479762 h 1712157"/>
              <a:gd name="connsiteX2" fmla="*/ 973513 w 1338340"/>
              <a:gd name="connsiteY2" fmla="*/ 1712157 h 1712157"/>
              <a:gd name="connsiteX0" fmla="*/ 0 w 1373085"/>
              <a:gd name="connsiteY0" fmla="*/ 0 h 1712157"/>
              <a:gd name="connsiteX1" fmla="*/ 1131321 w 1373085"/>
              <a:gd name="connsiteY1" fmla="*/ 562890 h 1712157"/>
              <a:gd name="connsiteX2" fmla="*/ 973513 w 1373085"/>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395732"/>
              <a:gd name="connsiteY0" fmla="*/ 0 h 1712157"/>
              <a:gd name="connsiteX1" fmla="*/ 1131321 w 1395732"/>
              <a:gd name="connsiteY1" fmla="*/ 562890 h 1712157"/>
              <a:gd name="connsiteX2" fmla="*/ 973513 w 1395732"/>
              <a:gd name="connsiteY2" fmla="*/ 1712157 h 1712157"/>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32677"/>
              <a:gd name="connsiteY0" fmla="*/ 0 h 1767575"/>
              <a:gd name="connsiteX1" fmla="*/ 1168266 w 1432677"/>
              <a:gd name="connsiteY1" fmla="*/ 618308 h 1767575"/>
              <a:gd name="connsiteX2" fmla="*/ 1010458 w 1432677"/>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490656"/>
              <a:gd name="connsiteY0" fmla="*/ 0 h 1767575"/>
              <a:gd name="connsiteX1" fmla="*/ 1168266 w 1490656"/>
              <a:gd name="connsiteY1" fmla="*/ 618308 h 1767575"/>
              <a:gd name="connsiteX2" fmla="*/ 1010458 w 1490656"/>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56689"/>
              <a:gd name="connsiteY0" fmla="*/ 0 h 1767575"/>
              <a:gd name="connsiteX1" fmla="*/ 1269866 w 1556689"/>
              <a:gd name="connsiteY1" fmla="*/ 618308 h 1767575"/>
              <a:gd name="connsiteX2" fmla="*/ 1010458 w 1556689"/>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568854"/>
              <a:gd name="connsiteY0" fmla="*/ 0 h 1767575"/>
              <a:gd name="connsiteX1" fmla="*/ 1269866 w 1568854"/>
              <a:gd name="connsiteY1" fmla="*/ 618308 h 1767575"/>
              <a:gd name="connsiteX2" fmla="*/ 1010458 w 1568854"/>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76035"/>
              <a:gd name="connsiteY0" fmla="*/ 0 h 1767575"/>
              <a:gd name="connsiteX1" fmla="*/ 1269866 w 1476035"/>
              <a:gd name="connsiteY1" fmla="*/ 618308 h 1767575"/>
              <a:gd name="connsiteX2" fmla="*/ 1010458 w 1476035"/>
              <a:gd name="connsiteY2" fmla="*/ 1767575 h 1767575"/>
              <a:gd name="connsiteX0" fmla="*/ 0 w 1440168"/>
              <a:gd name="connsiteY0" fmla="*/ 0 h 1767575"/>
              <a:gd name="connsiteX1" fmla="*/ 1269866 w 1440168"/>
              <a:gd name="connsiteY1" fmla="*/ 618308 h 1767575"/>
              <a:gd name="connsiteX2" fmla="*/ 1010458 w 1440168"/>
              <a:gd name="connsiteY2" fmla="*/ 1767575 h 1767575"/>
              <a:gd name="connsiteX0" fmla="*/ 0 w 1572912"/>
              <a:gd name="connsiteY0" fmla="*/ 0 h 1767575"/>
              <a:gd name="connsiteX1" fmla="*/ 1269866 w 1572912"/>
              <a:gd name="connsiteY1" fmla="*/ 618308 h 1767575"/>
              <a:gd name="connsiteX2" fmla="*/ 1010458 w 1572912"/>
              <a:gd name="connsiteY2" fmla="*/ 1767575 h 1767575"/>
              <a:gd name="connsiteX0" fmla="*/ 0 w 2672137"/>
              <a:gd name="connsiteY0" fmla="*/ 0 h 1757848"/>
              <a:gd name="connsiteX1" fmla="*/ 2369091 w 2672137"/>
              <a:gd name="connsiteY1" fmla="*/ 608581 h 1757848"/>
              <a:gd name="connsiteX2" fmla="*/ 2109683 w 2672137"/>
              <a:gd name="connsiteY2" fmla="*/ 1757848 h 1757848"/>
              <a:gd name="connsiteX0" fmla="*/ 0 w 3026926"/>
              <a:gd name="connsiteY0" fmla="*/ 0 h 1757848"/>
              <a:gd name="connsiteX1" fmla="*/ 2826291 w 3026926"/>
              <a:gd name="connsiteY1" fmla="*/ 754496 h 1757848"/>
              <a:gd name="connsiteX2" fmla="*/ 2109683 w 3026926"/>
              <a:gd name="connsiteY2" fmla="*/ 1757848 h 1757848"/>
              <a:gd name="connsiteX0" fmla="*/ 0 w 3242468"/>
              <a:gd name="connsiteY0" fmla="*/ 0 h 1699482"/>
              <a:gd name="connsiteX1" fmla="*/ 2826291 w 3242468"/>
              <a:gd name="connsiteY1" fmla="*/ 754496 h 1699482"/>
              <a:gd name="connsiteX2" fmla="*/ 2848985 w 3242468"/>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247427"/>
              <a:gd name="connsiteY0" fmla="*/ 0 h 1699482"/>
              <a:gd name="connsiteX1" fmla="*/ 2836019 w 3247427"/>
              <a:gd name="connsiteY1" fmla="*/ 861500 h 1699482"/>
              <a:gd name="connsiteX2" fmla="*/ 2848985 w 3247427"/>
              <a:gd name="connsiteY2" fmla="*/ 1699482 h 1699482"/>
              <a:gd name="connsiteX0" fmla="*/ 0 w 3372007"/>
              <a:gd name="connsiteY0" fmla="*/ 0 h 1699482"/>
              <a:gd name="connsiteX1" fmla="*/ 2836019 w 3372007"/>
              <a:gd name="connsiteY1" fmla="*/ 861500 h 1699482"/>
              <a:gd name="connsiteX2" fmla="*/ 2848985 w 3372007"/>
              <a:gd name="connsiteY2" fmla="*/ 1699482 h 1699482"/>
            </a:gdLst>
            <a:ahLst/>
            <a:cxnLst>
              <a:cxn ang="0">
                <a:pos x="connsiteX0" y="connsiteY0"/>
              </a:cxn>
              <a:cxn ang="0">
                <a:pos x="connsiteX1" y="connsiteY1"/>
              </a:cxn>
              <a:cxn ang="0">
                <a:pos x="connsiteX2" y="connsiteY2"/>
              </a:cxn>
            </a:cxnLst>
            <a:rect l="l" t="t" r="r" b="b"/>
            <a:pathLst>
              <a:path w="3372007" h="1699482">
                <a:moveTo>
                  <a:pt x="0" y="0"/>
                </a:moveTo>
                <a:cubicBezTo>
                  <a:pt x="210523" y="54098"/>
                  <a:pt x="1796672" y="400813"/>
                  <a:pt x="2836019" y="861500"/>
                </a:cubicBezTo>
                <a:cubicBezTo>
                  <a:pt x="3719036" y="1223828"/>
                  <a:pt x="3356721" y="1503013"/>
                  <a:pt x="2848985" y="1699482"/>
                </a:cubicBezTo>
              </a:path>
            </a:pathLst>
          </a:custGeom>
          <a:noFill/>
          <a:ln>
            <a:solidFill>
              <a:schemeClr val="tx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Rechteck: abgerundete Ecken 23">
            <a:extLst>
              <a:ext uri="{FF2B5EF4-FFF2-40B4-BE49-F238E27FC236}">
                <a16:creationId xmlns:a16="http://schemas.microsoft.com/office/drawing/2014/main" id="{5ABE4258-2E22-9315-C536-FAC3B52AA40B}"/>
              </a:ext>
            </a:extLst>
          </p:cNvPr>
          <p:cNvSpPr/>
          <p:nvPr/>
        </p:nvSpPr>
        <p:spPr>
          <a:xfrm>
            <a:off x="7811763" y="-5283531"/>
            <a:ext cx="3357590" cy="1186626"/>
          </a:xfrm>
          <a:prstGeom prst="roundRect">
            <a:avLst>
              <a:gd name="adj" fmla="val 36074"/>
            </a:avLst>
          </a:prstGeom>
          <a:solidFill>
            <a:schemeClr val="accent3">
              <a:lumMod val="40000"/>
              <a:lumOff val="6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Schwarz, Dunkelheit enthält.">
            <a:extLst>
              <a:ext uri="{FF2B5EF4-FFF2-40B4-BE49-F238E27FC236}">
                <a16:creationId xmlns:a16="http://schemas.microsoft.com/office/drawing/2014/main" id="{19884F81-A1B7-ABBD-0A7B-7FBBDA048D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79590" y="-5158642"/>
            <a:ext cx="3275246" cy="950431"/>
          </a:xfrm>
          <a:prstGeom prst="rect">
            <a:avLst/>
          </a:prstGeom>
        </p:spPr>
      </p:pic>
      <p:sp>
        <p:nvSpPr>
          <p:cNvPr id="10" name="Rechteck: abgerundete Ecken 9">
            <a:extLst>
              <a:ext uri="{FF2B5EF4-FFF2-40B4-BE49-F238E27FC236}">
                <a16:creationId xmlns:a16="http://schemas.microsoft.com/office/drawing/2014/main" id="{3F7D72F9-E370-18A8-609C-77DE39B92743}"/>
              </a:ext>
            </a:extLst>
          </p:cNvPr>
          <p:cNvSpPr/>
          <p:nvPr/>
        </p:nvSpPr>
        <p:spPr>
          <a:xfrm>
            <a:off x="7246307" y="-1531995"/>
            <a:ext cx="4521896" cy="1221448"/>
          </a:xfrm>
          <a:prstGeom prst="roundRect">
            <a:avLst>
              <a:gd name="adj" fmla="val 36074"/>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mc:Choice xmlns:a14="http://schemas.microsoft.com/office/drawing/2010/main" Requires="a14">
          <p:sp>
            <p:nvSpPr>
              <p:cNvPr id="15" name="Textfeld 14">
                <a:extLst>
                  <a:ext uri="{FF2B5EF4-FFF2-40B4-BE49-F238E27FC236}">
                    <a16:creationId xmlns:a16="http://schemas.microsoft.com/office/drawing/2014/main" id="{3DB6D02C-5EAA-2256-B52F-C41E5C083AC0}"/>
                  </a:ext>
                </a:extLst>
              </p:cNvPr>
              <p:cNvSpPr txBox="1"/>
              <p:nvPr/>
            </p:nvSpPr>
            <p:spPr>
              <a:xfrm>
                <a:off x="7483290" y="-1355304"/>
                <a:ext cx="4067845" cy="842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b="0" i="1" smtClean="0">
                              <a:latin typeface="Cambria Math" panose="02040503050406030204" pitchFamily="18" charset="0"/>
                            </a:rPr>
                            <m:t>𝑡</m:t>
                          </m:r>
                        </m:e>
                      </m:d>
                      <m:r>
                        <a:rPr lang="de-DE" b="0" i="1" smtClean="0">
                          <a:latin typeface="Cambria Math" panose="02040503050406030204" pitchFamily="18" charset="0"/>
                        </a:rPr>
                        <m:t>=</m:t>
                      </m:r>
                      <m:d>
                        <m:dPr>
                          <m:ctrlPr>
                            <a:rPr lang="de-DE" i="1">
                              <a:latin typeface="Cambria Math" panose="02040503050406030204" pitchFamily="18" charset="0"/>
                            </a:rPr>
                          </m:ctrlPr>
                        </m:dPr>
                        <m:e>
                          <m:m>
                            <m:mPr>
                              <m:mcs>
                                <m:mc>
                                  <m:mcPr>
                                    <m:count m:val="1"/>
                                    <m:mcJc m:val="center"/>
                                  </m:mcPr>
                                </m:mc>
                              </m:mcs>
                              <m:ctrlPr>
                                <a:rPr lang="de-DE" i="1">
                                  <a:latin typeface="Cambria Math" panose="02040503050406030204" pitchFamily="18" charset="0"/>
                                </a:rPr>
                              </m:ctrlPr>
                            </m:mPr>
                            <m:mr>
                              <m:e>
                                <m:r>
                                  <m:rPr>
                                    <m:brk m:alnAt="7"/>
                                  </m:rPr>
                                  <a:rPr lang="de-DE" i="1">
                                    <a:latin typeface="Cambria Math" panose="02040503050406030204" pitchFamily="18" charset="0"/>
                                  </a:rPr>
                                  <m:t>𝑚</m:t>
                                </m:r>
                              </m:e>
                            </m:mr>
                            <m:mr>
                              <m:e>
                                <m:r>
                                  <a:rPr lang="de-DE" b="0" i="1" smtClean="0">
                                    <a:latin typeface="Cambria Math" panose="02040503050406030204" pitchFamily="18" charset="0"/>
                                  </a:rPr>
                                  <m:t>𝑟</m:t>
                                </m:r>
                              </m:e>
                            </m:mr>
                            <m:mr>
                              <m:e>
                                <m:r>
                                  <a:rPr lang="de-DE" i="1">
                                    <a:latin typeface="Cambria Math" panose="02040503050406030204" pitchFamily="18" charset="0"/>
                                  </a:rPr>
                                  <m:t>𝑣</m:t>
                                </m:r>
                              </m:e>
                            </m:mr>
                          </m:m>
                        </m:e>
                      </m:d>
                      <m:r>
                        <a:rPr lang="de-DE" b="0" i="1" smtClean="0">
                          <a:latin typeface="Cambria Math" panose="02040503050406030204" pitchFamily="18" charset="0"/>
                        </a:rPr>
                        <m:t>=</m:t>
                      </m:r>
                      <m:r>
                        <a:rPr lang="de-DE" b="0" i="1" smtClean="0">
                          <a:latin typeface="Cambria Math" panose="02040503050406030204" pitchFamily="18" charset="0"/>
                        </a:rPr>
                        <m:t>𝑌</m:t>
                      </m:r>
                      <m:d>
                        <m:dPr>
                          <m:ctrlPr>
                            <a:rPr lang="de-DE" b="0" i="1" smtClean="0">
                              <a:latin typeface="Cambria Math" panose="02040503050406030204" pitchFamily="18" charset="0"/>
                            </a:rPr>
                          </m:ctrlPr>
                        </m:dPr>
                        <m:e>
                          <m:r>
                            <a:rPr lang="de-DE" b="0" i="1" smtClean="0">
                              <a:latin typeface="Cambria Math" panose="02040503050406030204" pitchFamily="18" charset="0"/>
                            </a:rPr>
                            <m:t>𝑇</m:t>
                          </m:r>
                        </m:e>
                      </m:d>
                      <m:r>
                        <a:rPr lang="de-DE" b="0" i="1" smtClean="0">
                          <a:latin typeface="Cambria Math" panose="02040503050406030204" pitchFamily="18" charset="0"/>
                        </a:rPr>
                        <m:t>+</m:t>
                      </m:r>
                      <m:nary>
                        <m:naryPr>
                          <m:limLoc m:val="undOvr"/>
                          <m:ctrlPr>
                            <a:rPr lang="de-DE" b="0" i="1" smtClean="0">
                              <a:latin typeface="Cambria Math" panose="02040503050406030204" pitchFamily="18" charset="0"/>
                            </a:rPr>
                          </m:ctrlPr>
                        </m:naryPr>
                        <m:sub>
                          <m:r>
                            <m:rPr>
                              <m:brk m:alnAt="24"/>
                            </m:rPr>
                            <a:rPr lang="de-DE" b="0" i="1" smtClean="0">
                              <a:latin typeface="Cambria Math" panose="02040503050406030204" pitchFamily="18" charset="0"/>
                            </a:rPr>
                            <m:t>𝑡</m:t>
                          </m:r>
                        </m:sub>
                        <m:sup>
                          <m:r>
                            <a:rPr lang="de-DE" b="0" i="1" smtClean="0">
                              <a:latin typeface="Cambria Math" panose="02040503050406030204" pitchFamily="18" charset="0"/>
                            </a:rPr>
                            <m:t>𝑡</m:t>
                          </m:r>
                          <m:r>
                            <a:rPr lang="de-DE" b="0" i="1" smtClean="0">
                              <a:latin typeface="Cambria Math" panose="02040503050406030204" pitchFamily="18" charset="0"/>
                            </a:rPr>
                            <m:t>+</m:t>
                          </m:r>
                          <m:r>
                            <m:rPr>
                              <m:sty m:val="p"/>
                            </m:rPr>
                            <a:rPr lang="de-DE">
                              <a:latin typeface="Cambria Math" panose="02040503050406030204" pitchFamily="18" charset="0"/>
                            </a:rPr>
                            <m:t>Δ</m:t>
                          </m:r>
                          <m:r>
                            <a:rPr lang="de-DE" i="1">
                              <a:latin typeface="Cambria Math" panose="02040503050406030204" pitchFamily="18" charset="0"/>
                            </a:rPr>
                            <m:t>𝑡</m:t>
                          </m:r>
                        </m:sup>
                        <m:e>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𝑌</m:t>
                              </m:r>
                            </m:e>
                          </m:d>
                          <m:r>
                            <a:rPr lang="de-DE" b="0" i="1" smtClean="0">
                              <a:latin typeface="Cambria Math" panose="02040503050406030204" pitchFamily="18" charset="0"/>
                            </a:rPr>
                            <m:t> </m:t>
                          </m:r>
                          <m:r>
                            <a:rPr lang="de-DE" b="0" i="1" smtClean="0">
                              <a:latin typeface="Cambria Math" panose="02040503050406030204" pitchFamily="18" charset="0"/>
                            </a:rPr>
                            <m:t>𝑑𝑌</m:t>
                          </m:r>
                        </m:e>
                      </m:nary>
                    </m:oMath>
                  </m:oMathPara>
                </a14:m>
                <a:endParaRPr lang="de-DE" dirty="0"/>
              </a:p>
            </p:txBody>
          </p:sp>
        </mc:Choice>
        <mc:Fallback>
          <p:sp>
            <p:nvSpPr>
              <p:cNvPr id="15" name="Textfeld 14">
                <a:extLst>
                  <a:ext uri="{FF2B5EF4-FFF2-40B4-BE49-F238E27FC236}">
                    <a16:creationId xmlns:a16="http://schemas.microsoft.com/office/drawing/2014/main" id="{3DB6D02C-5EAA-2256-B52F-C41E5C083AC0}"/>
                  </a:ext>
                </a:extLst>
              </p:cNvPr>
              <p:cNvSpPr txBox="1">
                <a:spLocks noRot="1" noChangeAspect="1" noMove="1" noResize="1" noEditPoints="1" noAdjustHandles="1" noChangeArrowheads="1" noChangeShapeType="1" noTextEdit="1"/>
              </p:cNvSpPr>
              <p:nvPr/>
            </p:nvSpPr>
            <p:spPr>
              <a:xfrm>
                <a:off x="7483290" y="-1355304"/>
                <a:ext cx="4067845" cy="842475"/>
              </a:xfrm>
              <a:prstGeom prst="rect">
                <a:avLst/>
              </a:prstGeom>
              <a:blipFill>
                <a:blip r:embed="rId9"/>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2435549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645B9-99DA-3251-0B95-98F69676B028}"/>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995D66A0-E8A2-D2A3-2099-B84CFE85FF05}"/>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D0483371-387A-13D4-3911-EBCF7790CF27}"/>
              </a:ext>
            </a:extLst>
          </p:cNvPr>
          <p:cNvSpPr/>
          <p:nvPr/>
        </p:nvSpPr>
        <p:spPr>
          <a:xfrm>
            <a:off x="6095999" y="6258318"/>
            <a:ext cx="6096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C181BADD-197E-9E5E-4030-00ADE09468E6}"/>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444479A3-1192-9C97-528D-07DF34F9BEAE}"/>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38ADB0F2-7FD7-9093-9189-7C6135230B3D}"/>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5BB9F606-D91F-4FC8-D874-32A86A5DA2D6}"/>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C85BEDA0-045B-018A-EB1F-C9CAF56998C2}"/>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B2861EE7-573D-6EB7-D891-21B5A3DD3019}"/>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478F58DA-8FCB-2319-4A00-0A6B4F43B4EC}"/>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9" name="simulation_trim_24fps_noaudio">
            <a:hlinkClick r:id="" action="ppaction://media"/>
            <a:extLst>
              <a:ext uri="{FF2B5EF4-FFF2-40B4-BE49-F238E27FC236}">
                <a16:creationId xmlns:a16="http://schemas.microsoft.com/office/drawing/2014/main" id="{A91198AB-737F-35E6-F725-FA63E55FB433}"/>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b="4564"/>
          <a:stretch>
            <a:fillRect/>
          </a:stretch>
        </p:blipFill>
        <p:spPr>
          <a:xfrm>
            <a:off x="448642" y="91774"/>
            <a:ext cx="11294714" cy="6063332"/>
          </a:xfrm>
          <a:prstGeom prst="roundRect">
            <a:avLst>
              <a:gd name="adj" fmla="val 1157"/>
            </a:avLst>
          </a:prstGeom>
          <a:effectLst>
            <a:outerShdw blurRad="635000" sx="110000" sy="110000" algn="ctr" rotWithShape="0">
              <a:prstClr val="black">
                <a:alpha val="40000"/>
              </a:prstClr>
            </a:outerShdw>
          </a:effectLst>
        </p:spPr>
      </p:pic>
      <p:sp>
        <p:nvSpPr>
          <p:cNvPr id="12" name="Titel 7">
            <a:extLst>
              <a:ext uri="{FF2B5EF4-FFF2-40B4-BE49-F238E27FC236}">
                <a16:creationId xmlns:a16="http://schemas.microsoft.com/office/drawing/2014/main" id="{AC788D5A-25A6-BD14-95BA-703BE55368CF}"/>
              </a:ext>
            </a:extLst>
          </p:cNvPr>
          <p:cNvSpPr>
            <a:spLocks noGrp="1"/>
          </p:cNvSpPr>
          <p:nvPr>
            <p:ph type="title"/>
          </p:nvPr>
        </p:nvSpPr>
        <p:spPr>
          <a:xfrm>
            <a:off x="4337740" y="-1228195"/>
            <a:ext cx="3509988" cy="1009563"/>
          </a:xfrm>
        </p:spPr>
        <p:txBody>
          <a:bodyPr/>
          <a:lstStyle/>
          <a:p>
            <a:r>
              <a:rPr lang="de-DE" dirty="0"/>
              <a:t>Vorhersagen</a:t>
            </a:r>
          </a:p>
        </p:txBody>
      </p:sp>
    </p:spTree>
    <p:extLst>
      <p:ext uri="{BB962C8B-B14F-4D97-AF65-F5344CB8AC3E}">
        <p14:creationId xmlns:p14="http://schemas.microsoft.com/office/powerpoint/2010/main" val="31266332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8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771F3-3C81-E29A-7DCE-67BD2AD283C9}"/>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9E1E19A5-50F7-FBF3-6A1E-281C32122623}"/>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3924B103-E2A5-9468-FEBB-AC99052F1D1D}"/>
              </a:ext>
            </a:extLst>
          </p:cNvPr>
          <p:cNvSpPr/>
          <p:nvPr/>
        </p:nvSpPr>
        <p:spPr>
          <a:xfrm>
            <a:off x="8123999" y="6258318"/>
            <a:ext cx="406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4A44C419-C70B-1DA4-4DDD-FEC65A16CB57}"/>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D4476C08-3E4E-23D2-1CA2-E94DAF9ADC0C}"/>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A26A4B75-F90D-1350-C9E5-4FDE236B9917}"/>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02E87DAF-5996-48EB-B192-9C8FE81B5702}"/>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45C5385B-5026-18E0-66C3-ABCAE336896E}"/>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F8DE115F-13C5-1E20-1497-5DDF1CF28CF2}"/>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2F3CBAEB-D464-3662-20A1-28859AE2C20D}"/>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8" name="Titel 7">
            <a:extLst>
              <a:ext uri="{FF2B5EF4-FFF2-40B4-BE49-F238E27FC236}">
                <a16:creationId xmlns:a16="http://schemas.microsoft.com/office/drawing/2014/main" id="{8D9ACBA3-D4DC-5E09-46D0-817FCE118F5E}"/>
              </a:ext>
            </a:extLst>
          </p:cNvPr>
          <p:cNvSpPr>
            <a:spLocks noGrp="1"/>
          </p:cNvSpPr>
          <p:nvPr>
            <p:ph type="title"/>
          </p:nvPr>
        </p:nvSpPr>
        <p:spPr>
          <a:xfrm>
            <a:off x="4480086" y="261561"/>
            <a:ext cx="3225297" cy="1252218"/>
          </a:xfrm>
        </p:spPr>
        <p:txBody>
          <a:bodyPr/>
          <a:lstStyle/>
          <a:p>
            <a:r>
              <a:rPr lang="de-DE" sz="2800" dirty="0"/>
              <a:t>Vorhersagen</a:t>
            </a:r>
            <a:br>
              <a:rPr lang="de-DE" sz="2800" dirty="0"/>
            </a:br>
            <a:r>
              <a:rPr lang="de-DE" sz="1800" dirty="0"/>
              <a:t>Langzeitstudien</a:t>
            </a:r>
            <a:endParaRPr lang="de-DE" dirty="0"/>
          </a:p>
        </p:txBody>
      </p:sp>
      <p:sp>
        <p:nvSpPr>
          <p:cNvPr id="10" name="Inhaltsplatzhalter 5">
            <a:extLst>
              <a:ext uri="{FF2B5EF4-FFF2-40B4-BE49-F238E27FC236}">
                <a16:creationId xmlns:a16="http://schemas.microsoft.com/office/drawing/2014/main" id="{444F6529-9288-0A8B-3A2D-C2B1056D5F47}"/>
              </a:ext>
            </a:extLst>
          </p:cNvPr>
          <p:cNvSpPr txBox="1">
            <a:spLocks/>
          </p:cNvSpPr>
          <p:nvPr/>
        </p:nvSpPr>
        <p:spPr>
          <a:xfrm>
            <a:off x="838200" y="1825625"/>
            <a:ext cx="10515600" cy="399414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Laskar 2008</a:t>
            </a:r>
          </a:p>
          <a:p>
            <a:pPr lvl="1"/>
            <a:r>
              <a:rPr lang="de-DE" dirty="0"/>
              <a:t>Statistische Wahrscheinlichkeiten für Instabilitäten</a:t>
            </a:r>
          </a:p>
          <a:p>
            <a:pPr lvl="1"/>
            <a:r>
              <a:rPr lang="de-DE" dirty="0"/>
              <a:t>Einfluss von relativistischen Effekten</a:t>
            </a:r>
          </a:p>
          <a:p>
            <a:pPr lvl="1"/>
            <a:r>
              <a:rPr lang="de-DE" dirty="0"/>
              <a:t>1001 Durchführen</a:t>
            </a:r>
          </a:p>
          <a:p>
            <a:r>
              <a:rPr lang="de-DE" dirty="0"/>
              <a:t>Laskar 2012</a:t>
            </a:r>
          </a:p>
          <a:p>
            <a:pPr lvl="1"/>
            <a:r>
              <a:rPr lang="de-DE" dirty="0"/>
              <a:t>Erklärt historischen Kontext</a:t>
            </a:r>
          </a:p>
          <a:p>
            <a:pPr lvl="1"/>
            <a:r>
              <a:rPr lang="de-DE" dirty="0"/>
              <a:t>Zusammenfassung früherer Studien und deren Aussagen</a:t>
            </a:r>
          </a:p>
          <a:p>
            <a:r>
              <a:rPr lang="de-DE" dirty="0"/>
              <a:t>Brown &amp; Rein 2020</a:t>
            </a:r>
          </a:p>
          <a:p>
            <a:pPr lvl="1"/>
            <a:r>
              <a:rPr lang="de-DE" dirty="0"/>
              <a:t>Öffentlicher Datensatz zu 96 Durchführungen</a:t>
            </a:r>
          </a:p>
          <a:p>
            <a:pPr lvl="1"/>
            <a:r>
              <a:rPr lang="de-DE" dirty="0"/>
              <a:t>Volle N-Körper-Integration mit Open-Source-Tools</a:t>
            </a:r>
          </a:p>
        </p:txBody>
      </p:sp>
    </p:spTree>
    <p:extLst>
      <p:ext uri="{BB962C8B-B14F-4D97-AF65-F5344CB8AC3E}">
        <p14:creationId xmlns:p14="http://schemas.microsoft.com/office/powerpoint/2010/main" val="2822790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B4267-6482-E85D-A0A3-2945ACA48BD9}"/>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773E4502-78B9-1F9C-6144-DA62592021A5}"/>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1EC32409-7157-DF20-593E-44723089321C}"/>
              </a:ext>
            </a:extLst>
          </p:cNvPr>
          <p:cNvSpPr/>
          <p:nvPr/>
        </p:nvSpPr>
        <p:spPr>
          <a:xfrm>
            <a:off x="8123999" y="6258318"/>
            <a:ext cx="406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DE3F0D30-A17D-BEA9-3001-67EEA55099BF}"/>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20060E94-EC11-0194-72CE-947CE6AEE703}"/>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176F84BE-DFA9-5ACF-B6B0-0E843C48B2C4}"/>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1C099BA4-EEAA-8706-2FD5-BB4F0DBE81FB}"/>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3AC1EF95-1B15-95AB-7BFF-15087A61BC16}"/>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80DF3F29-9AF6-0DD7-5C90-159CC31A696E}"/>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32F9C5E4-9596-8609-E3B1-8C770B173890}"/>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8" name="Titel 7">
            <a:extLst>
              <a:ext uri="{FF2B5EF4-FFF2-40B4-BE49-F238E27FC236}">
                <a16:creationId xmlns:a16="http://schemas.microsoft.com/office/drawing/2014/main" id="{05225347-0AF1-3AD6-9F03-283FEB853F4C}"/>
              </a:ext>
            </a:extLst>
          </p:cNvPr>
          <p:cNvSpPr>
            <a:spLocks noGrp="1"/>
          </p:cNvSpPr>
          <p:nvPr>
            <p:ph type="title"/>
          </p:nvPr>
        </p:nvSpPr>
        <p:spPr>
          <a:xfrm>
            <a:off x="4158945" y="276482"/>
            <a:ext cx="3874107" cy="1252218"/>
          </a:xfrm>
        </p:spPr>
        <p:txBody>
          <a:bodyPr/>
          <a:lstStyle/>
          <a:p>
            <a:r>
              <a:rPr lang="de-DE" sz="2800" dirty="0"/>
              <a:t>Vorhersagen</a:t>
            </a:r>
            <a:br>
              <a:rPr lang="de-DE" dirty="0"/>
            </a:br>
            <a:r>
              <a:rPr lang="de-DE" sz="1800" dirty="0"/>
              <a:t>Innere &amp; Äußere Planeten</a:t>
            </a:r>
            <a:endParaRPr lang="de-DE" dirty="0"/>
          </a:p>
        </p:txBody>
      </p:sp>
      <p:pic>
        <p:nvPicPr>
          <p:cNvPr id="6" name="Grafik 5">
            <a:extLst>
              <a:ext uri="{FF2B5EF4-FFF2-40B4-BE49-F238E27FC236}">
                <a16:creationId xmlns:a16="http://schemas.microsoft.com/office/drawing/2014/main" id="{0C396FD3-EFDC-687D-3D0F-E65CF547571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96280" y="2597763"/>
            <a:ext cx="9192908" cy="2452093"/>
          </a:xfrm>
          <a:prstGeom prst="rect">
            <a:avLst/>
          </a:prstGeom>
        </p:spPr>
      </p:pic>
      <p:sp>
        <p:nvSpPr>
          <p:cNvPr id="3" name="Textfeld 2">
            <a:extLst>
              <a:ext uri="{FF2B5EF4-FFF2-40B4-BE49-F238E27FC236}">
                <a16:creationId xmlns:a16="http://schemas.microsoft.com/office/drawing/2014/main" id="{1AAE1B29-5DAB-C081-9874-723E44853BE3}"/>
              </a:ext>
            </a:extLst>
          </p:cNvPr>
          <p:cNvSpPr txBox="1"/>
          <p:nvPr/>
        </p:nvSpPr>
        <p:spPr>
          <a:xfrm>
            <a:off x="7834723" y="5861942"/>
            <a:ext cx="4338047" cy="307777"/>
          </a:xfrm>
          <a:prstGeom prst="rect">
            <a:avLst/>
          </a:prstGeom>
          <a:noFill/>
        </p:spPr>
        <p:txBody>
          <a:bodyPr wrap="none" rtlCol="0">
            <a:spAutoFit/>
          </a:bodyPr>
          <a:lstStyle/>
          <a:p>
            <a:r>
              <a:rPr lang="de-DE" sz="1400" dirty="0"/>
              <a:t>Abb. 5: Innere und Äußere Planeten; Laskar 2008</a:t>
            </a:r>
          </a:p>
        </p:txBody>
      </p:sp>
    </p:spTree>
    <p:extLst>
      <p:ext uri="{BB962C8B-B14F-4D97-AF65-F5344CB8AC3E}">
        <p14:creationId xmlns:p14="http://schemas.microsoft.com/office/powerpoint/2010/main" val="4667987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6EA2E-20A6-1666-C7B6-59EFD871C1B4}"/>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6E7327B5-B4F7-5EFE-B551-AD67700C9D4C}"/>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19DA3B49-5797-E607-D513-A9A055F1DBF0}"/>
              </a:ext>
            </a:extLst>
          </p:cNvPr>
          <p:cNvSpPr/>
          <p:nvPr/>
        </p:nvSpPr>
        <p:spPr>
          <a:xfrm>
            <a:off x="8123999" y="6258318"/>
            <a:ext cx="406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12D9D205-F42D-5AE1-5F26-8D4087E3382A}"/>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042AB498-8D9A-603E-766E-E562C44E7218}"/>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D8A80797-D075-3D07-2399-A827ECDE4F20}"/>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B5651D43-A90C-45FA-8593-D03918143C82}"/>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803E1703-B6C3-41E6-23B3-534DA1874776}"/>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5EBC861C-BA81-B54D-A395-8D503D97CD63}"/>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24E40EA2-5900-D690-BC12-D667FF898218}"/>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8" name="Titel 7">
            <a:extLst>
              <a:ext uri="{FF2B5EF4-FFF2-40B4-BE49-F238E27FC236}">
                <a16:creationId xmlns:a16="http://schemas.microsoft.com/office/drawing/2014/main" id="{37DB5C80-2F66-8D6D-2A4B-E9D2848DA6D2}"/>
              </a:ext>
            </a:extLst>
          </p:cNvPr>
          <p:cNvSpPr>
            <a:spLocks noGrp="1"/>
          </p:cNvSpPr>
          <p:nvPr>
            <p:ph type="title"/>
          </p:nvPr>
        </p:nvSpPr>
        <p:spPr>
          <a:xfrm>
            <a:off x="4480085" y="304431"/>
            <a:ext cx="3225297" cy="1252218"/>
          </a:xfrm>
        </p:spPr>
        <p:txBody>
          <a:bodyPr/>
          <a:lstStyle/>
          <a:p>
            <a:r>
              <a:rPr lang="de-DE" sz="2800" dirty="0"/>
              <a:t>Vorhersagen</a:t>
            </a:r>
            <a:br>
              <a:rPr lang="de-DE" dirty="0"/>
            </a:br>
            <a:r>
              <a:rPr lang="de-DE" sz="1800" dirty="0"/>
              <a:t>Merkur</a:t>
            </a:r>
            <a:endParaRPr lang="de-DE" dirty="0"/>
          </a:p>
        </p:txBody>
      </p: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6FB51924-3336-FE5C-409E-E075877F74AA}"/>
                  </a:ext>
                </a:extLst>
              </p:cNvPr>
              <p:cNvSpPr txBox="1"/>
              <p:nvPr/>
            </p:nvSpPr>
            <p:spPr>
              <a:xfrm>
                <a:off x="1125656" y="5096463"/>
                <a:ext cx="4288482"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𝑒</m:t>
                      </m:r>
                      <m:r>
                        <a:rPr lang="de-DE" b="0" i="1" smtClean="0">
                          <a:latin typeface="Cambria Math" panose="02040503050406030204" pitchFamily="18" charset="0"/>
                          <a:ea typeface="Cambria Math" panose="02040503050406030204" pitchFamily="18" charset="0"/>
                        </a:rPr>
                        <m:t>≳0.75 →</m:t>
                      </m:r>
                      <m:r>
                        <a:rPr lang="de-DE" b="0" i="1" smtClean="0">
                          <a:latin typeface="Cambria Math" panose="02040503050406030204" pitchFamily="18" charset="0"/>
                          <a:ea typeface="Cambria Math" panose="02040503050406030204" pitchFamily="18" charset="0"/>
                        </a:rPr>
                        <m:t>𝐺𝑒𝑓𝑎h𝑟</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𝐾𝑜𝑙𝑙𝑖𝑠𝑖𝑜𝑛</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𝑚𝑖𝑡</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𝑉𝑒𝑛𝑢𝑠</m:t>
                      </m:r>
                    </m:oMath>
                    <m:oMath xmlns:m="http://schemas.openxmlformats.org/officeDocument/2006/math">
                      <m:r>
                        <a:rPr lang="de-DE" b="0" i="1" smtClean="0">
                          <a:latin typeface="Cambria Math" panose="02040503050406030204" pitchFamily="18" charset="0"/>
                          <a:ea typeface="Cambria Math" panose="02040503050406030204" pitchFamily="18" charset="0"/>
                        </a:rPr>
                        <m:t>𝑒</m:t>
                      </m:r>
                      <m:r>
                        <a:rPr lang="de-DE" i="1">
                          <a:latin typeface="Cambria Math" panose="02040503050406030204" pitchFamily="18" charset="0"/>
                          <a:ea typeface="Cambria Math" panose="02040503050406030204" pitchFamily="18" charset="0"/>
                        </a:rPr>
                        <m:t>≳</m:t>
                      </m:r>
                      <m:r>
                        <a:rPr lang="de-DE" b="0" i="1" smtClean="0">
                          <a:latin typeface="Cambria Math" panose="02040503050406030204" pitchFamily="18" charset="0"/>
                          <a:ea typeface="Cambria Math" panose="02040503050406030204" pitchFamily="18" charset="0"/>
                        </a:rPr>
                        <m:t>0.95 →</m:t>
                      </m:r>
                      <m:r>
                        <a:rPr lang="de-DE" b="0" i="1" smtClean="0">
                          <a:latin typeface="Cambria Math" panose="02040503050406030204" pitchFamily="18" charset="0"/>
                          <a:ea typeface="Cambria Math" panose="02040503050406030204" pitchFamily="18" charset="0"/>
                        </a:rPr>
                        <m:t>𝐺𝑒𝑓𝑎h𝑟</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𝐾𝑜𝑙𝑙𝑖𝑠𝑖𝑜𝑛</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𝑚𝑖𝑡</m:t>
                      </m:r>
                      <m:r>
                        <a:rPr lang="de-DE" b="0" i="1" smtClean="0">
                          <a:latin typeface="Cambria Math" panose="02040503050406030204" pitchFamily="18" charset="0"/>
                          <a:ea typeface="Cambria Math" panose="02040503050406030204" pitchFamily="18" charset="0"/>
                        </a:rPr>
                        <m:t> </m:t>
                      </m:r>
                      <m:r>
                        <a:rPr lang="de-DE" b="0" i="1" smtClean="0">
                          <a:latin typeface="Cambria Math" panose="02040503050406030204" pitchFamily="18" charset="0"/>
                          <a:ea typeface="Cambria Math" panose="02040503050406030204" pitchFamily="18" charset="0"/>
                        </a:rPr>
                        <m:t>𝑆𝑜𝑛𝑛𝑒</m:t>
                      </m:r>
                    </m:oMath>
                    <m:oMath xmlns:m="http://schemas.openxmlformats.org/officeDocument/2006/math">
                      <m:r>
                        <a:rPr lang="de-DE" b="0" i="1" smtClean="0">
                          <a:latin typeface="Cambria Math" panose="02040503050406030204" pitchFamily="18" charset="0"/>
                          <a:ea typeface="Cambria Math" panose="02040503050406030204" pitchFamily="18" charset="0"/>
                        </a:rPr>
                        <m:t>𝑒</m:t>
                      </m:r>
                      <m:r>
                        <a:rPr lang="de-DE" b="0" i="1" smtClean="0">
                          <a:latin typeface="Cambria Math" panose="02040503050406030204" pitchFamily="18" charset="0"/>
                          <a:ea typeface="Cambria Math" panose="02040503050406030204" pitchFamily="18" charset="0"/>
                        </a:rPr>
                        <m:t>&gt;1       →</m:t>
                      </m:r>
                      <m:r>
                        <a:rPr lang="de-DE" b="0" i="1" smtClean="0">
                          <a:latin typeface="Cambria Math" panose="02040503050406030204" pitchFamily="18" charset="0"/>
                          <a:ea typeface="Cambria Math" panose="02040503050406030204" pitchFamily="18" charset="0"/>
                        </a:rPr>
                        <m:t>𝑅𝑎𝑢𝑠𝑤𝑢𝑟𝑓</m:t>
                      </m:r>
                    </m:oMath>
                  </m:oMathPara>
                </a14:m>
                <a:endParaRPr lang="de-DE" b="0" dirty="0">
                  <a:ea typeface="Cambria Math" panose="02040503050406030204" pitchFamily="18" charset="0"/>
                </a:endParaRPr>
              </a:p>
            </p:txBody>
          </p:sp>
        </mc:Choice>
        <mc:Fallback xmlns="">
          <p:sp>
            <p:nvSpPr>
              <p:cNvPr id="16" name="Textfeld 15">
                <a:extLst>
                  <a:ext uri="{FF2B5EF4-FFF2-40B4-BE49-F238E27FC236}">
                    <a16:creationId xmlns:a16="http://schemas.microsoft.com/office/drawing/2014/main" id="{6FB51924-3336-FE5C-409E-E075877F74AA}"/>
                  </a:ext>
                </a:extLst>
              </p:cNvPr>
              <p:cNvSpPr txBox="1">
                <a:spLocks noRot="1" noChangeAspect="1" noMove="1" noResize="1" noEditPoints="1" noAdjustHandles="1" noChangeArrowheads="1" noChangeShapeType="1" noTextEdit="1"/>
              </p:cNvSpPr>
              <p:nvPr/>
            </p:nvSpPr>
            <p:spPr>
              <a:xfrm>
                <a:off x="1125656" y="5096463"/>
                <a:ext cx="4288482" cy="830997"/>
              </a:xfrm>
              <a:prstGeom prst="rect">
                <a:avLst/>
              </a:prstGeom>
              <a:blipFill>
                <a:blip r:embed="rId2"/>
                <a:stretch>
                  <a:fillRect b="-11765"/>
                </a:stretch>
              </a:blipFill>
            </p:spPr>
            <p:txBody>
              <a:bodyPr/>
              <a:lstStyle/>
              <a:p>
                <a:r>
                  <a:rPr lang="de-DE">
                    <a:noFill/>
                  </a:rPr>
                  <a:t> </a:t>
                </a:r>
              </a:p>
            </p:txBody>
          </p:sp>
        </mc:Fallback>
      </mc:AlternateContent>
      <p:pic>
        <p:nvPicPr>
          <p:cNvPr id="13" name="Grafik 12">
            <a:extLst>
              <a:ext uri="{FF2B5EF4-FFF2-40B4-BE49-F238E27FC236}">
                <a16:creationId xmlns:a16="http://schemas.microsoft.com/office/drawing/2014/main" id="{A2BEE5D9-76C6-6BDC-98C6-737E56DA550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3787" y="1720159"/>
            <a:ext cx="12164424" cy="3248752"/>
          </a:xfrm>
          <a:prstGeom prst="rect">
            <a:avLst/>
          </a:prstGeom>
        </p:spPr>
      </p:pic>
      <p:sp>
        <p:nvSpPr>
          <p:cNvPr id="3" name="Textfeld 2">
            <a:extLst>
              <a:ext uri="{FF2B5EF4-FFF2-40B4-BE49-F238E27FC236}">
                <a16:creationId xmlns:a16="http://schemas.microsoft.com/office/drawing/2014/main" id="{E14FBBA4-4AAC-B706-7D45-9D73D77B918F}"/>
              </a:ext>
            </a:extLst>
          </p:cNvPr>
          <p:cNvSpPr txBox="1"/>
          <p:nvPr/>
        </p:nvSpPr>
        <p:spPr>
          <a:xfrm>
            <a:off x="7980591" y="5898276"/>
            <a:ext cx="4211409" cy="307777"/>
          </a:xfrm>
          <a:prstGeom prst="rect">
            <a:avLst/>
          </a:prstGeom>
          <a:noFill/>
        </p:spPr>
        <p:txBody>
          <a:bodyPr wrap="none" rtlCol="0">
            <a:spAutoFit/>
          </a:bodyPr>
          <a:lstStyle/>
          <a:p>
            <a:r>
              <a:rPr lang="de-DE" sz="1400" dirty="0"/>
              <a:t>Abb. 6: Laskar Diagramme der inneren Planeten</a:t>
            </a:r>
          </a:p>
        </p:txBody>
      </p:sp>
    </p:spTree>
    <p:extLst>
      <p:ext uri="{BB962C8B-B14F-4D97-AF65-F5344CB8AC3E}">
        <p14:creationId xmlns:p14="http://schemas.microsoft.com/office/powerpoint/2010/main" val="27133969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352D-3C12-9A08-F3C9-5F5043BAB679}"/>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B13F54DA-F557-A97B-B660-A6B2A17C09AC}"/>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C80B4187-2E41-5E87-24CB-70EDF9D43533}"/>
              </a:ext>
            </a:extLst>
          </p:cNvPr>
          <p:cNvSpPr/>
          <p:nvPr/>
        </p:nvSpPr>
        <p:spPr>
          <a:xfrm>
            <a:off x="8123999" y="6258318"/>
            <a:ext cx="4068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81C5F39C-FF32-CF34-832D-F95E83503F2D}"/>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5F0957E9-3DA0-1437-DFC7-597680590548}"/>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7EFAB452-DF61-9823-2672-515067490B50}"/>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9184D845-CCEF-A7E6-0402-3C78FDB182EE}"/>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7BCCF25C-3927-CA75-A858-5489898D80CE}"/>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93312068-01CE-8749-BFD8-DC0481D496D3}"/>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5100AABD-ACEB-29ED-F064-0FBFB0BF1844}"/>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pic>
        <p:nvPicPr>
          <p:cNvPr id="6" name="Grafik 5">
            <a:extLst>
              <a:ext uri="{FF2B5EF4-FFF2-40B4-BE49-F238E27FC236}">
                <a16:creationId xmlns:a16="http://schemas.microsoft.com/office/drawing/2014/main" id="{3E8EE7D2-3480-FB44-6A21-5A59254EE0ED}"/>
              </a:ext>
            </a:extLst>
          </p:cNvPr>
          <p:cNvPicPr>
            <a:picLocks noChangeAspect="1"/>
          </p:cNvPicPr>
          <p:nvPr/>
        </p:nvPicPr>
        <p:blipFill>
          <a:blip r:embed="rId2"/>
          <a:stretch>
            <a:fillRect/>
          </a:stretch>
        </p:blipFill>
        <p:spPr>
          <a:xfrm>
            <a:off x="1964820" y="1829419"/>
            <a:ext cx="8193179" cy="4059310"/>
          </a:xfrm>
          <a:prstGeom prst="rect">
            <a:avLst/>
          </a:prstGeom>
        </p:spPr>
      </p:pic>
      <p:sp>
        <p:nvSpPr>
          <p:cNvPr id="3" name="Textfeld 2">
            <a:extLst>
              <a:ext uri="{FF2B5EF4-FFF2-40B4-BE49-F238E27FC236}">
                <a16:creationId xmlns:a16="http://schemas.microsoft.com/office/drawing/2014/main" id="{91996949-F95D-F392-1190-2BAA15E83387}"/>
              </a:ext>
            </a:extLst>
          </p:cNvPr>
          <p:cNvSpPr txBox="1"/>
          <p:nvPr/>
        </p:nvSpPr>
        <p:spPr>
          <a:xfrm>
            <a:off x="8190218" y="5898248"/>
            <a:ext cx="4020652" cy="307777"/>
          </a:xfrm>
          <a:prstGeom prst="rect">
            <a:avLst/>
          </a:prstGeom>
          <a:noFill/>
        </p:spPr>
        <p:txBody>
          <a:bodyPr wrap="none" rtlCol="0">
            <a:spAutoFit/>
          </a:bodyPr>
          <a:lstStyle/>
          <a:p>
            <a:r>
              <a:rPr lang="de-DE" sz="1400" dirty="0"/>
              <a:t>Abb. 7: Exzentrizitäten der nächsten 250 Myr</a:t>
            </a:r>
          </a:p>
        </p:txBody>
      </p:sp>
      <p:sp>
        <p:nvSpPr>
          <p:cNvPr id="10" name="Titel 7">
            <a:extLst>
              <a:ext uri="{FF2B5EF4-FFF2-40B4-BE49-F238E27FC236}">
                <a16:creationId xmlns:a16="http://schemas.microsoft.com/office/drawing/2014/main" id="{0547609B-68EC-FC5F-8F27-F94F1E0DD135}"/>
              </a:ext>
            </a:extLst>
          </p:cNvPr>
          <p:cNvSpPr>
            <a:spLocks noGrp="1"/>
          </p:cNvSpPr>
          <p:nvPr>
            <p:ph type="title"/>
          </p:nvPr>
        </p:nvSpPr>
        <p:spPr>
          <a:xfrm>
            <a:off x="4480085" y="304431"/>
            <a:ext cx="3225297" cy="1252218"/>
          </a:xfrm>
        </p:spPr>
        <p:txBody>
          <a:bodyPr/>
          <a:lstStyle/>
          <a:p>
            <a:r>
              <a:rPr lang="de-DE" sz="2800" dirty="0"/>
              <a:t>Vorhersagen</a:t>
            </a:r>
            <a:br>
              <a:rPr lang="de-DE" dirty="0"/>
            </a:br>
            <a:r>
              <a:rPr lang="de-DE" sz="1800" dirty="0"/>
              <a:t>Merkur</a:t>
            </a:r>
            <a:endParaRPr lang="de-DE" dirty="0"/>
          </a:p>
        </p:txBody>
      </p:sp>
    </p:spTree>
    <p:extLst>
      <p:ext uri="{BB962C8B-B14F-4D97-AF65-F5344CB8AC3E}">
        <p14:creationId xmlns:p14="http://schemas.microsoft.com/office/powerpoint/2010/main" val="812742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63FF-77BE-C13A-AC92-3641CE1C153C}"/>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AB73672B-F5B5-79BB-804B-AB6369C5960C}"/>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9129C966-2EF7-8136-A1BE-ED21EFE21499}"/>
              </a:ext>
            </a:extLst>
          </p:cNvPr>
          <p:cNvSpPr/>
          <p:nvPr/>
        </p:nvSpPr>
        <p:spPr>
          <a:xfrm>
            <a:off x="10157999" y="6258318"/>
            <a:ext cx="2034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4E3116B-4054-3E06-B4CC-7E2B9773E07C}"/>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3BB49228-6FFB-AFB8-4C60-D385F589A715}"/>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D4196D76-BA19-87D9-8D6A-6C1EB48DA3DB}"/>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0B6D02CD-64CE-9973-079A-A839A55F6D32}"/>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95C8AC85-F1B5-FE9D-C833-106F813F031C}"/>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694C35BB-A4ED-9AF9-A9CA-A6B077E3BE8B}"/>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2293B8E1-605C-9A20-728D-8CB4AFB2ACD5}"/>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6" name="Inhaltsplatzhalter 5">
            <a:extLst>
              <a:ext uri="{FF2B5EF4-FFF2-40B4-BE49-F238E27FC236}">
                <a16:creationId xmlns:a16="http://schemas.microsoft.com/office/drawing/2014/main" id="{F3E3B730-F22D-2C15-217A-3ED202163584}"/>
              </a:ext>
            </a:extLst>
          </p:cNvPr>
          <p:cNvSpPr>
            <a:spLocks noGrp="1"/>
          </p:cNvSpPr>
          <p:nvPr>
            <p:ph idx="1"/>
          </p:nvPr>
        </p:nvSpPr>
        <p:spPr>
          <a:xfrm>
            <a:off x="838200" y="1825625"/>
            <a:ext cx="6762750" cy="3994149"/>
          </a:xfrm>
        </p:spPr>
        <p:txBody>
          <a:bodyPr/>
          <a:lstStyle/>
          <a:p>
            <a:endParaRPr lang="de-DE" dirty="0"/>
          </a:p>
          <a:p>
            <a:r>
              <a:rPr lang="de-DE" dirty="0"/>
              <a:t>Wasserstoffbrennende Phase endet in ≈ 5 (±0,5) Gyr</a:t>
            </a:r>
          </a:p>
          <a:p>
            <a:pPr lvl="1"/>
            <a:r>
              <a:rPr lang="de-DE" dirty="0"/>
              <a:t>Vollständige Verbrauch von Wasserstoffatomen</a:t>
            </a:r>
          </a:p>
          <a:p>
            <a:pPr lvl="1"/>
            <a:r>
              <a:rPr lang="de-DE" dirty="0"/>
              <a:t>Maximum von vielen Simulationen</a:t>
            </a:r>
          </a:p>
          <a:p>
            <a:r>
              <a:rPr lang="de-DE" dirty="0"/>
              <a:t>Anstieg des Radius auf ≈ 0,75 AE</a:t>
            </a:r>
          </a:p>
          <a:p>
            <a:pPr lvl="1"/>
            <a:r>
              <a:rPr lang="de-DE" dirty="0"/>
              <a:t>Entspricht der Umlaufbahn von Venus</a:t>
            </a:r>
          </a:p>
          <a:p>
            <a:r>
              <a:rPr lang="de-DE" dirty="0"/>
              <a:t>Verliert über Sonnenwinde ca. 28% ihrer Masse</a:t>
            </a:r>
          </a:p>
          <a:p>
            <a:pPr lvl="1"/>
            <a:endParaRPr lang="de-DE" dirty="0"/>
          </a:p>
        </p:txBody>
      </p:sp>
      <p:sp>
        <p:nvSpPr>
          <p:cNvPr id="8" name="Titel 7">
            <a:extLst>
              <a:ext uri="{FF2B5EF4-FFF2-40B4-BE49-F238E27FC236}">
                <a16:creationId xmlns:a16="http://schemas.microsoft.com/office/drawing/2014/main" id="{E91C1DD0-00DB-35BF-0B08-24B61D8AA286}"/>
              </a:ext>
            </a:extLst>
          </p:cNvPr>
          <p:cNvSpPr>
            <a:spLocks noGrp="1"/>
          </p:cNvSpPr>
          <p:nvPr>
            <p:ph type="title"/>
          </p:nvPr>
        </p:nvSpPr>
        <p:spPr>
          <a:xfrm>
            <a:off x="3120230" y="263782"/>
            <a:ext cx="5945007" cy="1252218"/>
          </a:xfrm>
        </p:spPr>
        <p:txBody>
          <a:bodyPr/>
          <a:lstStyle/>
          <a:p>
            <a:r>
              <a:rPr lang="de-DE" sz="2800" dirty="0"/>
              <a:t>Weitere Zukunftsaussichten</a:t>
            </a:r>
            <a:br>
              <a:rPr lang="de-DE" dirty="0"/>
            </a:br>
            <a:r>
              <a:rPr lang="de-DE" sz="1800" dirty="0"/>
              <a:t>Tod der Sonne – Sonne als Roter Riese</a:t>
            </a:r>
            <a:endParaRPr lang="de-DE" dirty="0"/>
          </a:p>
        </p:txBody>
      </p:sp>
      <p:pic>
        <p:nvPicPr>
          <p:cNvPr id="16" name="Grafik 15">
            <a:extLst>
              <a:ext uri="{FF2B5EF4-FFF2-40B4-BE49-F238E27FC236}">
                <a16:creationId xmlns:a16="http://schemas.microsoft.com/office/drawing/2014/main" id="{72474F49-C20F-137B-694E-24F9DD6562F3}"/>
              </a:ext>
            </a:extLst>
          </p:cNvPr>
          <p:cNvPicPr>
            <a:picLocks noChangeAspect="1"/>
          </p:cNvPicPr>
          <p:nvPr/>
        </p:nvPicPr>
        <p:blipFill>
          <a:blip r:embed="rId3">
            <a:extLst>
              <a:ext uri="{28A0092B-C50C-407E-A947-70E740481C1C}">
                <a14:useLocalDpi xmlns:a14="http://schemas.microsoft.com/office/drawing/2010/main" val="0"/>
              </a:ext>
            </a:extLst>
          </a:blip>
          <a:srcRect t="16168"/>
          <a:stretch>
            <a:fillRect/>
          </a:stretch>
        </p:blipFill>
        <p:spPr>
          <a:xfrm>
            <a:off x="5548023" y="2993728"/>
            <a:ext cx="6977352" cy="3006821"/>
          </a:xfrm>
          <a:prstGeom prst="rect">
            <a:avLst/>
          </a:prstGeom>
        </p:spPr>
      </p:pic>
      <p:sp>
        <p:nvSpPr>
          <p:cNvPr id="7" name="Textfeld 6">
            <a:extLst>
              <a:ext uri="{FF2B5EF4-FFF2-40B4-BE49-F238E27FC236}">
                <a16:creationId xmlns:a16="http://schemas.microsoft.com/office/drawing/2014/main" id="{DFA09245-1D6D-2797-7389-8E349A0F3E27}"/>
              </a:ext>
            </a:extLst>
          </p:cNvPr>
          <p:cNvSpPr txBox="1"/>
          <p:nvPr/>
        </p:nvSpPr>
        <p:spPr>
          <a:xfrm>
            <a:off x="9268510" y="5894047"/>
            <a:ext cx="2869696" cy="307777"/>
          </a:xfrm>
          <a:prstGeom prst="rect">
            <a:avLst/>
          </a:prstGeom>
          <a:noFill/>
        </p:spPr>
        <p:txBody>
          <a:bodyPr wrap="none" rtlCol="0">
            <a:spAutoFit/>
          </a:bodyPr>
          <a:lstStyle/>
          <a:p>
            <a:r>
              <a:rPr lang="de-DE" sz="1400" dirty="0"/>
              <a:t>Abb. 8: Lebenszyklus der Sonne</a:t>
            </a:r>
          </a:p>
        </p:txBody>
      </p:sp>
    </p:spTree>
    <p:extLst>
      <p:ext uri="{BB962C8B-B14F-4D97-AF65-F5344CB8AC3E}">
        <p14:creationId xmlns:p14="http://schemas.microsoft.com/office/powerpoint/2010/main" val="19961509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9830-4ACC-D9E1-BF4F-CB8E343739E2}"/>
            </a:ext>
          </a:extLst>
        </p:cNvPr>
        <p:cNvGrpSpPr/>
        <p:nvPr/>
      </p:nvGrpSpPr>
      <p:grpSpPr>
        <a:xfrm>
          <a:off x="0" y="0"/>
          <a:ext cx="0" cy="0"/>
          <a:chOff x="0" y="0"/>
          <a:chExt cx="0" cy="0"/>
        </a:xfrm>
      </p:grpSpPr>
      <p:sp>
        <p:nvSpPr>
          <p:cNvPr id="36" name="Rechteck 35">
            <a:extLst>
              <a:ext uri="{FF2B5EF4-FFF2-40B4-BE49-F238E27FC236}">
                <a16:creationId xmlns:a16="http://schemas.microsoft.com/office/drawing/2014/main" id="{ED8CF3CC-6E3E-95DB-AB39-008AA1583ACB}"/>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288937E1-FC8B-0A6D-97AC-FD7C66224BC4}"/>
              </a:ext>
            </a:extLst>
          </p:cNvPr>
          <p:cNvSpPr/>
          <p:nvPr/>
        </p:nvSpPr>
        <p:spPr>
          <a:xfrm>
            <a:off x="10157999" y="6258318"/>
            <a:ext cx="2034001"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6A340C5E-90B5-2526-C368-C307EEE28EF1}"/>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5" name="Rechteck 24">
            <a:extLst>
              <a:ext uri="{FF2B5EF4-FFF2-40B4-BE49-F238E27FC236}">
                <a16:creationId xmlns:a16="http://schemas.microsoft.com/office/drawing/2014/main" id="{42316DD9-57D3-7D96-106C-E08EC4E73A8D}"/>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6" name="Rechteck 25">
            <a:extLst>
              <a:ext uri="{FF2B5EF4-FFF2-40B4-BE49-F238E27FC236}">
                <a16:creationId xmlns:a16="http://schemas.microsoft.com/office/drawing/2014/main" id="{28A8AFA4-9A6C-E298-5F06-D437566C4E0C}"/>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7" name="Rechteck 26">
            <a:extLst>
              <a:ext uri="{FF2B5EF4-FFF2-40B4-BE49-F238E27FC236}">
                <a16:creationId xmlns:a16="http://schemas.microsoft.com/office/drawing/2014/main" id="{90007CF5-399E-3012-1A9F-6A60C17D2691}"/>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8" name="Rechteck 27">
            <a:extLst>
              <a:ext uri="{FF2B5EF4-FFF2-40B4-BE49-F238E27FC236}">
                <a16:creationId xmlns:a16="http://schemas.microsoft.com/office/drawing/2014/main" id="{A9B9BF0A-4F33-34DF-CC3F-8B610BAE7720}"/>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2" name="Rechteck 1">
            <a:extLst>
              <a:ext uri="{FF2B5EF4-FFF2-40B4-BE49-F238E27FC236}">
                <a16:creationId xmlns:a16="http://schemas.microsoft.com/office/drawing/2014/main" id="{9885CEBC-D1C4-2ACA-539D-9CEB1A06A950}"/>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5" name="Rechteck 4">
            <a:extLst>
              <a:ext uri="{FF2B5EF4-FFF2-40B4-BE49-F238E27FC236}">
                <a16:creationId xmlns:a16="http://schemas.microsoft.com/office/drawing/2014/main" id="{CE590A6A-F09C-1C4C-27D5-A58A4A395888}"/>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mc:AlternateContent xmlns:mc="http://schemas.openxmlformats.org/markup-compatibility/2006" xmlns:a14="http://schemas.microsoft.com/office/drawing/2010/main">
        <mc:Choice Requires="a14">
          <p:sp>
            <p:nvSpPr>
              <p:cNvPr id="6" name="Inhaltsplatzhalter 5">
                <a:extLst>
                  <a:ext uri="{FF2B5EF4-FFF2-40B4-BE49-F238E27FC236}">
                    <a16:creationId xmlns:a16="http://schemas.microsoft.com/office/drawing/2014/main" id="{956E922D-BA50-C781-60C8-0E98A158ED82}"/>
                  </a:ext>
                </a:extLst>
              </p:cNvPr>
              <p:cNvSpPr>
                <a:spLocks noGrp="1"/>
              </p:cNvSpPr>
              <p:nvPr>
                <p:ph idx="1"/>
              </p:nvPr>
            </p:nvSpPr>
            <p:spPr>
              <a:xfrm>
                <a:off x="838200" y="1825625"/>
                <a:ext cx="7459494" cy="3994149"/>
              </a:xfrm>
            </p:spPr>
            <p:txBody>
              <a:bodyPr/>
              <a:lstStyle/>
              <a:p>
                <a:r>
                  <a:rPr lang="de-DE" dirty="0"/>
                  <a:t>Lyapunov-Zeiten von 100 – 100.000 Jahren</a:t>
                </a:r>
              </a:p>
              <a:p>
                <a:r>
                  <a:rPr lang="de-DE" dirty="0"/>
                  <a:t>Für die Erde gefährliche Objekte früh genug erkannt</a:t>
                </a:r>
              </a:p>
              <a:p>
                <a:r>
                  <a:rPr lang="de-DE" dirty="0"/>
                  <a:t>Kollisionen mit Planeten können Simulationen verfälschen</a:t>
                </a:r>
              </a:p>
              <a:p>
                <a:endParaRPr lang="de-DE" dirty="0"/>
              </a:p>
              <a:p>
                <a:r>
                  <a:rPr lang="de-DE" dirty="0"/>
                  <a:t>Einschlaghäufigkeiten</a:t>
                </a:r>
              </a:p>
              <a:p>
                <a:pPr lvl="1"/>
                <a14:m>
                  <m:oMath xmlns:m="http://schemas.openxmlformats.org/officeDocument/2006/math">
                    <m:r>
                      <a:rPr lang="de-DE">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𝑑</m:t>
                        </m:r>
                      </m:e>
                      <m:sub>
                        <m:r>
                          <a:rPr lang="de-DE" b="0" i="1" smtClean="0">
                            <a:latin typeface="Cambria Math" panose="02040503050406030204" pitchFamily="18" charset="0"/>
                          </a:rPr>
                          <m:t>𝑂𝑏𝑗𝑒𝑘𝑡</m:t>
                        </m:r>
                      </m:sub>
                    </m:sSub>
                    <m:r>
                      <a:rPr lang="de-DE" i="1">
                        <a:latin typeface="Cambria Math" panose="02040503050406030204" pitchFamily="18" charset="0"/>
                        <a:ea typeface="Cambria Math" panose="02040503050406030204" pitchFamily="18" charset="0"/>
                      </a:rPr>
                      <m:t>≥</m:t>
                    </m:r>
                    <m:r>
                      <a:rPr lang="de-DE" b="0" i="1" smtClean="0">
                        <a:latin typeface="Cambria Math" panose="02040503050406030204" pitchFamily="18" charset="0"/>
                      </a:rPr>
                      <m:t>1</m:t>
                    </m:r>
                    <m:r>
                      <a:rPr lang="de-DE" b="0" i="1" smtClean="0">
                        <a:latin typeface="Cambria Math" panose="02040503050406030204" pitchFamily="18" charset="0"/>
                      </a:rPr>
                      <m:t>𝑘𝑚</m:t>
                    </m:r>
                    <m:r>
                      <a:rPr lang="de-DE" b="0" i="1" smtClean="0">
                        <a:latin typeface="Cambria Math" panose="02040503050406030204" pitchFamily="18" charset="0"/>
                      </a:rPr>
                      <m:t>"</m:t>
                    </m:r>
                  </m:oMath>
                </a14:m>
                <a:r>
                  <a:rPr lang="de-DE" dirty="0"/>
                  <a:t> ca. alle 0,5 Myr</a:t>
                </a:r>
              </a:p>
              <a:p>
                <a:pPr lvl="1"/>
                <a14:m>
                  <m:oMath xmlns:m="http://schemas.openxmlformats.org/officeDocument/2006/math">
                    <m:r>
                      <a:rPr lang="de-DE">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𝑑</m:t>
                        </m:r>
                      </m:e>
                      <m:sub>
                        <m:r>
                          <a:rPr lang="de-DE" i="1">
                            <a:latin typeface="Cambria Math" panose="02040503050406030204" pitchFamily="18" charset="0"/>
                          </a:rPr>
                          <m:t>𝑂𝑏𝑗𝑒𝑘𝑡</m:t>
                        </m:r>
                      </m:sub>
                    </m:sSub>
                    <m:r>
                      <a:rPr lang="de-DE" b="0" i="1" smtClean="0">
                        <a:latin typeface="Cambria Math" panose="02040503050406030204" pitchFamily="18" charset="0"/>
                        <a:ea typeface="Cambria Math" panose="02040503050406030204" pitchFamily="18" charset="0"/>
                      </a:rPr>
                      <m:t>≈5</m:t>
                    </m:r>
                    <m:r>
                      <a:rPr lang="de-DE" i="1">
                        <a:latin typeface="Cambria Math" panose="02040503050406030204" pitchFamily="18" charset="0"/>
                      </a:rPr>
                      <m:t>𝑘𝑚</m:t>
                    </m:r>
                    <m:r>
                      <a:rPr lang="de-DE" i="1">
                        <a:latin typeface="Cambria Math" panose="02040503050406030204" pitchFamily="18" charset="0"/>
                      </a:rPr>
                      <m:t>"</m:t>
                    </m:r>
                  </m:oMath>
                </a14:m>
                <a:r>
                  <a:rPr lang="de-DE" dirty="0"/>
                  <a:t> ca. alle 20 Myr</a:t>
                </a:r>
              </a:p>
              <a:p>
                <a:pPr lvl="1"/>
                <a14:m>
                  <m:oMath xmlns:m="http://schemas.openxmlformats.org/officeDocument/2006/math">
                    <m:r>
                      <a:rPr lang="de-DE">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𝑑</m:t>
                        </m:r>
                      </m:e>
                      <m:sub>
                        <m:r>
                          <a:rPr lang="de-DE" i="1">
                            <a:latin typeface="Cambria Math" panose="02040503050406030204" pitchFamily="18" charset="0"/>
                          </a:rPr>
                          <m:t>𝑂𝑏𝑗𝑒𝑘𝑡</m:t>
                        </m:r>
                      </m:sub>
                    </m:sSub>
                    <m:r>
                      <a:rPr lang="de-DE" i="1" smtClean="0">
                        <a:latin typeface="Cambria Math" panose="02040503050406030204" pitchFamily="18" charset="0"/>
                        <a:ea typeface="Cambria Math" panose="02040503050406030204" pitchFamily="18" charset="0"/>
                      </a:rPr>
                      <m:t>≈</m:t>
                    </m:r>
                    <m:r>
                      <a:rPr lang="de-DE" i="1">
                        <a:latin typeface="Cambria Math" panose="02040503050406030204" pitchFamily="18" charset="0"/>
                      </a:rPr>
                      <m:t>1</m:t>
                    </m:r>
                    <m:r>
                      <a:rPr lang="de-DE" b="0" i="1" smtClean="0">
                        <a:latin typeface="Cambria Math" panose="02040503050406030204" pitchFamily="18" charset="0"/>
                      </a:rPr>
                      <m:t>0</m:t>
                    </m:r>
                    <m:r>
                      <a:rPr lang="de-DE" i="1">
                        <a:latin typeface="Cambria Math" panose="02040503050406030204" pitchFamily="18" charset="0"/>
                      </a:rPr>
                      <m:t>𝑘𝑚</m:t>
                    </m:r>
                    <m:r>
                      <a:rPr lang="de-DE" i="1">
                        <a:latin typeface="Cambria Math" panose="02040503050406030204" pitchFamily="18" charset="0"/>
                      </a:rPr>
                      <m:t>"</m:t>
                    </m:r>
                  </m:oMath>
                </a14:m>
                <a:r>
                  <a:rPr lang="de-DE" dirty="0"/>
                  <a:t> ca. alle 100 Myr</a:t>
                </a:r>
              </a:p>
            </p:txBody>
          </p:sp>
        </mc:Choice>
        <mc:Fallback xmlns="">
          <p:sp>
            <p:nvSpPr>
              <p:cNvPr id="6" name="Inhaltsplatzhalter 5">
                <a:extLst>
                  <a:ext uri="{FF2B5EF4-FFF2-40B4-BE49-F238E27FC236}">
                    <a16:creationId xmlns:a16="http://schemas.microsoft.com/office/drawing/2014/main" id="{956E922D-BA50-C781-60C8-0E98A158ED82}"/>
                  </a:ext>
                </a:extLst>
              </p:cNvPr>
              <p:cNvSpPr>
                <a:spLocks noGrp="1" noRot="1" noChangeAspect="1" noMove="1" noResize="1" noEditPoints="1" noAdjustHandles="1" noChangeArrowheads="1" noChangeShapeType="1" noTextEdit="1"/>
              </p:cNvSpPr>
              <p:nvPr>
                <p:ph idx="1"/>
              </p:nvPr>
            </p:nvSpPr>
            <p:spPr>
              <a:xfrm>
                <a:off x="838200" y="1825625"/>
                <a:ext cx="7459494" cy="3994149"/>
              </a:xfrm>
              <a:blipFill>
                <a:blip r:embed="rId3"/>
                <a:stretch>
                  <a:fillRect l="-736"/>
                </a:stretch>
              </a:blipFill>
            </p:spPr>
            <p:txBody>
              <a:bodyPr/>
              <a:lstStyle/>
              <a:p>
                <a:r>
                  <a:rPr lang="de-DE">
                    <a:noFill/>
                  </a:rPr>
                  <a:t> </a:t>
                </a:r>
              </a:p>
            </p:txBody>
          </p:sp>
        </mc:Fallback>
      </mc:AlternateContent>
      <p:sp>
        <p:nvSpPr>
          <p:cNvPr id="8" name="Titel 7">
            <a:extLst>
              <a:ext uri="{FF2B5EF4-FFF2-40B4-BE49-F238E27FC236}">
                <a16:creationId xmlns:a16="http://schemas.microsoft.com/office/drawing/2014/main" id="{AB0AC5D2-DB6F-2D31-5F42-1FD66F1F5C5E}"/>
              </a:ext>
            </a:extLst>
          </p:cNvPr>
          <p:cNvSpPr>
            <a:spLocks noGrp="1"/>
          </p:cNvSpPr>
          <p:nvPr>
            <p:ph type="title"/>
          </p:nvPr>
        </p:nvSpPr>
        <p:spPr>
          <a:xfrm>
            <a:off x="3120230" y="285179"/>
            <a:ext cx="5945007" cy="1252218"/>
          </a:xfrm>
        </p:spPr>
        <p:txBody>
          <a:bodyPr/>
          <a:lstStyle/>
          <a:p>
            <a:r>
              <a:rPr lang="de-DE" sz="2800" dirty="0"/>
              <a:t>Weitere Zukunftsaussichten</a:t>
            </a:r>
            <a:br>
              <a:rPr lang="de-DE" dirty="0"/>
            </a:br>
            <a:r>
              <a:rPr lang="de-DE" sz="1800" dirty="0"/>
              <a:t>Asteroiden und Kometen</a:t>
            </a:r>
            <a:endParaRPr lang="de-DE" dirty="0"/>
          </a:p>
        </p:txBody>
      </p:sp>
      <p:pic>
        <p:nvPicPr>
          <p:cNvPr id="7" name="Grafik 6">
            <a:extLst>
              <a:ext uri="{FF2B5EF4-FFF2-40B4-BE49-F238E27FC236}">
                <a16:creationId xmlns:a16="http://schemas.microsoft.com/office/drawing/2014/main" id="{F58588FD-78E8-3C93-5D80-559F617024C5}"/>
              </a:ext>
            </a:extLst>
          </p:cNvPr>
          <p:cNvPicPr>
            <a:picLocks noChangeAspect="1"/>
          </p:cNvPicPr>
          <p:nvPr/>
        </p:nvPicPr>
        <p:blipFill>
          <a:blip r:embed="rId4">
            <a:extLst>
              <a:ext uri="{28A0092B-C50C-407E-A947-70E740481C1C}">
                <a14:useLocalDpi xmlns:a14="http://schemas.microsoft.com/office/drawing/2010/main" val="0"/>
              </a:ext>
            </a:extLst>
          </a:blip>
          <a:srcRect t="-223" b="140"/>
          <a:stretch>
            <a:fillRect/>
          </a:stretch>
        </p:blipFill>
        <p:spPr>
          <a:xfrm>
            <a:off x="8297644" y="1605063"/>
            <a:ext cx="3784599" cy="4215255"/>
          </a:xfrm>
          <a:prstGeom prst="roundRect">
            <a:avLst>
              <a:gd name="adj" fmla="val 8865"/>
            </a:avLst>
          </a:prstGeom>
          <a:effectLst>
            <a:outerShdw blurRad="381000" algn="ctr" rotWithShape="0">
              <a:prstClr val="black">
                <a:alpha val="50000"/>
              </a:prstClr>
            </a:outerShdw>
          </a:effectLst>
        </p:spPr>
      </p:pic>
      <p:sp>
        <p:nvSpPr>
          <p:cNvPr id="9" name="Textfeld 8">
            <a:extLst>
              <a:ext uri="{FF2B5EF4-FFF2-40B4-BE49-F238E27FC236}">
                <a16:creationId xmlns:a16="http://schemas.microsoft.com/office/drawing/2014/main" id="{6E3D4170-6CBE-BF53-6E1F-809F809A5630}"/>
              </a:ext>
            </a:extLst>
          </p:cNvPr>
          <p:cNvSpPr txBox="1"/>
          <p:nvPr/>
        </p:nvSpPr>
        <p:spPr>
          <a:xfrm>
            <a:off x="8537727" y="5882472"/>
            <a:ext cx="3304431" cy="307777"/>
          </a:xfrm>
          <a:prstGeom prst="rect">
            <a:avLst/>
          </a:prstGeom>
          <a:noFill/>
        </p:spPr>
        <p:txBody>
          <a:bodyPr wrap="none" rtlCol="0">
            <a:spAutoFit/>
          </a:bodyPr>
          <a:lstStyle/>
          <a:p>
            <a:r>
              <a:rPr lang="de-DE" sz="1400" dirty="0"/>
              <a:t>Abb. 9: Asteroidengürtel &amp; Positionen</a:t>
            </a:r>
          </a:p>
        </p:txBody>
      </p:sp>
    </p:spTree>
    <p:extLst>
      <p:ext uri="{BB962C8B-B14F-4D97-AF65-F5344CB8AC3E}">
        <p14:creationId xmlns:p14="http://schemas.microsoft.com/office/powerpoint/2010/main" val="7242452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6EA63D92-276B-B129-0397-EC1050305126}"/>
              </a:ext>
            </a:extLst>
          </p:cNvPr>
          <p:cNvSpPr>
            <a:spLocks noGrp="1"/>
          </p:cNvSpPr>
          <p:nvPr>
            <p:ph idx="1"/>
          </p:nvPr>
        </p:nvSpPr>
        <p:spPr>
          <a:xfrm>
            <a:off x="834934" y="1648141"/>
            <a:ext cx="10515600" cy="4351338"/>
          </a:xfrm>
        </p:spPr>
        <p:txBody>
          <a:bodyPr>
            <a:normAutofit/>
          </a:bodyPr>
          <a:lstStyle/>
          <a:p>
            <a:pPr marL="0" indent="0" algn="ctr">
              <a:buNone/>
            </a:pPr>
            <a:r>
              <a:rPr lang="de-DE" sz="2400" b="1" dirty="0"/>
              <a:t>Wo liegen die Grenzen der Vorhersagbarkeit?</a:t>
            </a:r>
          </a:p>
        </p:txBody>
      </p:sp>
      <p:sp>
        <p:nvSpPr>
          <p:cNvPr id="4" name="Titel 3">
            <a:extLst>
              <a:ext uri="{FF2B5EF4-FFF2-40B4-BE49-F238E27FC236}">
                <a16:creationId xmlns:a16="http://schemas.microsoft.com/office/drawing/2014/main" id="{0750EBFA-1ACA-26C4-FA90-831ACB731C46}"/>
              </a:ext>
            </a:extLst>
          </p:cNvPr>
          <p:cNvSpPr>
            <a:spLocks noGrp="1"/>
          </p:cNvSpPr>
          <p:nvPr>
            <p:ph type="title"/>
          </p:nvPr>
        </p:nvSpPr>
        <p:spPr>
          <a:xfrm>
            <a:off x="5115433" y="390242"/>
            <a:ext cx="1954602" cy="1009563"/>
          </a:xfrm>
        </p:spPr>
        <p:txBody>
          <a:bodyPr/>
          <a:lstStyle/>
          <a:p>
            <a:r>
              <a:rPr lang="de-DE" dirty="0"/>
              <a:t>Fazit</a:t>
            </a:r>
          </a:p>
        </p:txBody>
      </p:sp>
      <p:sp>
        <p:nvSpPr>
          <p:cNvPr id="5" name="Rechteck 4">
            <a:extLst>
              <a:ext uri="{FF2B5EF4-FFF2-40B4-BE49-F238E27FC236}">
                <a16:creationId xmlns:a16="http://schemas.microsoft.com/office/drawing/2014/main" id="{FD785BEA-3016-2774-B1E3-6966928CA434}"/>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hteck 5">
            <a:extLst>
              <a:ext uri="{FF2B5EF4-FFF2-40B4-BE49-F238E27FC236}">
                <a16:creationId xmlns:a16="http://schemas.microsoft.com/office/drawing/2014/main" id="{206AABFB-ACEF-DD32-6AC0-642722EBE2F9}"/>
              </a:ext>
            </a:extLst>
          </p:cNvPr>
          <p:cNvSpPr/>
          <p:nvPr/>
        </p:nvSpPr>
        <p:spPr>
          <a:xfrm>
            <a:off x="12219433" y="6258318"/>
            <a:ext cx="45719"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r Verbinder 6">
            <a:extLst>
              <a:ext uri="{FF2B5EF4-FFF2-40B4-BE49-F238E27FC236}">
                <a16:creationId xmlns:a16="http://schemas.microsoft.com/office/drawing/2014/main" id="{156B912E-6B99-DD51-7C7F-D2211DC22BC9}"/>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8" name="Rechteck 7">
            <a:extLst>
              <a:ext uri="{FF2B5EF4-FFF2-40B4-BE49-F238E27FC236}">
                <a16:creationId xmlns:a16="http://schemas.microsoft.com/office/drawing/2014/main" id="{67B89B15-AA5A-D839-E7EE-A95E03F5DCF5}"/>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9" name="Rechteck 8">
            <a:extLst>
              <a:ext uri="{FF2B5EF4-FFF2-40B4-BE49-F238E27FC236}">
                <a16:creationId xmlns:a16="http://schemas.microsoft.com/office/drawing/2014/main" id="{3D9D048F-2E18-EA22-EFBD-CDA5D8DF4DD6}"/>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10" name="Rechteck 9">
            <a:extLst>
              <a:ext uri="{FF2B5EF4-FFF2-40B4-BE49-F238E27FC236}">
                <a16:creationId xmlns:a16="http://schemas.microsoft.com/office/drawing/2014/main" id="{91D00EE0-82D4-1C67-4C3F-0DC119915125}"/>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11" name="Rechteck 10">
            <a:extLst>
              <a:ext uri="{FF2B5EF4-FFF2-40B4-BE49-F238E27FC236}">
                <a16:creationId xmlns:a16="http://schemas.microsoft.com/office/drawing/2014/main" id="{BF6AACD0-DE92-B171-CAD8-55F864B86EFC}"/>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12" name="Rechteck 11">
            <a:extLst>
              <a:ext uri="{FF2B5EF4-FFF2-40B4-BE49-F238E27FC236}">
                <a16:creationId xmlns:a16="http://schemas.microsoft.com/office/drawing/2014/main" id="{44B75071-CCB1-CBDB-E27F-2C1CAFC622AB}"/>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13" name="Rechteck 12">
            <a:extLst>
              <a:ext uri="{FF2B5EF4-FFF2-40B4-BE49-F238E27FC236}">
                <a16:creationId xmlns:a16="http://schemas.microsoft.com/office/drawing/2014/main" id="{149DD0AE-11AA-56A0-F9E8-08FBF3FBD667}"/>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cxnSp>
        <p:nvCxnSpPr>
          <p:cNvPr id="3" name="Gerader Verbinder 2">
            <a:extLst>
              <a:ext uri="{FF2B5EF4-FFF2-40B4-BE49-F238E27FC236}">
                <a16:creationId xmlns:a16="http://schemas.microsoft.com/office/drawing/2014/main" id="{2D7D46F7-C1AE-AE51-10F9-0F567212E962}"/>
              </a:ext>
            </a:extLst>
          </p:cNvPr>
          <p:cNvCxnSpPr>
            <a:cxnSpLocks/>
          </p:cNvCxnSpPr>
          <p:nvPr/>
        </p:nvCxnSpPr>
        <p:spPr>
          <a:xfrm>
            <a:off x="-12600466" y="1957172"/>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14" name="Gerader Verbinder 13">
            <a:extLst>
              <a:ext uri="{FF2B5EF4-FFF2-40B4-BE49-F238E27FC236}">
                <a16:creationId xmlns:a16="http://schemas.microsoft.com/office/drawing/2014/main" id="{4B3542AA-18C8-FF77-EC52-024D4178C66B}"/>
              </a:ext>
            </a:extLst>
          </p:cNvPr>
          <p:cNvCxnSpPr>
            <a:cxnSpLocks/>
          </p:cNvCxnSpPr>
          <p:nvPr/>
        </p:nvCxnSpPr>
        <p:spPr>
          <a:xfrm>
            <a:off x="6095999" y="7354672"/>
            <a:ext cx="0" cy="429577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48043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1827C-DE22-783A-6512-6BEFF00FACB3}"/>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517BB86-1BFC-D178-5AEB-11EA8A40C8A0}"/>
              </a:ext>
            </a:extLst>
          </p:cNvPr>
          <p:cNvSpPr>
            <a:spLocks noGrp="1"/>
          </p:cNvSpPr>
          <p:nvPr>
            <p:ph type="title"/>
          </p:nvPr>
        </p:nvSpPr>
        <p:spPr>
          <a:xfrm>
            <a:off x="3025260" y="263782"/>
            <a:ext cx="6141479" cy="1252218"/>
          </a:xfrm>
        </p:spPr>
        <p:txBody>
          <a:bodyPr/>
          <a:lstStyle/>
          <a:p>
            <a:r>
              <a:rPr lang="de-DE" sz="2800" dirty="0"/>
              <a:t>Fazit</a:t>
            </a:r>
            <a:br>
              <a:rPr lang="de-DE" sz="2800" dirty="0"/>
            </a:br>
            <a:r>
              <a:rPr lang="de-DE" sz="1800" dirty="0"/>
              <a:t>Wo liegen die Grenzen der Vorhersagbarkeit?</a:t>
            </a:r>
            <a:endParaRPr lang="de-DE" dirty="0"/>
          </a:p>
        </p:txBody>
      </p:sp>
      <p:sp>
        <p:nvSpPr>
          <p:cNvPr id="5" name="Rechteck 4">
            <a:extLst>
              <a:ext uri="{FF2B5EF4-FFF2-40B4-BE49-F238E27FC236}">
                <a16:creationId xmlns:a16="http://schemas.microsoft.com/office/drawing/2014/main" id="{95AB6F77-D0D3-7FC8-17D8-C60DBCE40A86}"/>
              </a:ext>
            </a:extLst>
          </p:cNvPr>
          <p:cNvSpPr/>
          <p:nvPr/>
        </p:nvSpPr>
        <p:spPr>
          <a:xfrm>
            <a:off x="-1" y="6258315"/>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hteck 5">
            <a:extLst>
              <a:ext uri="{FF2B5EF4-FFF2-40B4-BE49-F238E27FC236}">
                <a16:creationId xmlns:a16="http://schemas.microsoft.com/office/drawing/2014/main" id="{1D611568-9165-6333-5702-5BE17B39D5FC}"/>
              </a:ext>
            </a:extLst>
          </p:cNvPr>
          <p:cNvSpPr/>
          <p:nvPr/>
        </p:nvSpPr>
        <p:spPr>
          <a:xfrm>
            <a:off x="12219433" y="6258318"/>
            <a:ext cx="45719"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r Verbinder 6">
            <a:extLst>
              <a:ext uri="{FF2B5EF4-FFF2-40B4-BE49-F238E27FC236}">
                <a16:creationId xmlns:a16="http://schemas.microsoft.com/office/drawing/2014/main" id="{BD7FE816-C54A-61A0-12B7-56CDCB8C2400}"/>
              </a:ext>
            </a:extLst>
          </p:cNvPr>
          <p:cNvCxnSpPr>
            <a:cxnSpLocks/>
          </p:cNvCxnSpPr>
          <p:nvPr/>
        </p:nvCxnSpPr>
        <p:spPr>
          <a:xfrm>
            <a:off x="0" y="6252947"/>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8" name="Rechteck 7">
            <a:extLst>
              <a:ext uri="{FF2B5EF4-FFF2-40B4-BE49-F238E27FC236}">
                <a16:creationId xmlns:a16="http://schemas.microsoft.com/office/drawing/2014/main" id="{081A12D1-1DC9-EE98-D6CA-D1832C8C59DD}"/>
              </a:ext>
            </a:extLst>
          </p:cNvPr>
          <p:cNvSpPr/>
          <p:nvPr/>
        </p:nvSpPr>
        <p:spPr>
          <a:xfrm>
            <a:off x="4061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9" name="Rechteck 8">
            <a:extLst>
              <a:ext uri="{FF2B5EF4-FFF2-40B4-BE49-F238E27FC236}">
                <a16:creationId xmlns:a16="http://schemas.microsoft.com/office/drawing/2014/main" id="{7195C8A5-9F6D-FDD5-4644-4AE80DBB3C54}"/>
              </a:ext>
            </a:extLst>
          </p:cNvPr>
          <p:cNvSpPr/>
          <p:nvPr/>
        </p:nvSpPr>
        <p:spPr>
          <a:xfrm>
            <a:off x="6095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10" name="Rechteck 9">
            <a:extLst>
              <a:ext uri="{FF2B5EF4-FFF2-40B4-BE49-F238E27FC236}">
                <a16:creationId xmlns:a16="http://schemas.microsoft.com/office/drawing/2014/main" id="{711EB0BE-C984-FBF6-9DC8-829D62F82C85}"/>
              </a:ext>
            </a:extLst>
          </p:cNvPr>
          <p:cNvSpPr/>
          <p:nvPr/>
        </p:nvSpPr>
        <p:spPr>
          <a:xfrm>
            <a:off x="8124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11" name="Rechteck 10">
            <a:extLst>
              <a:ext uri="{FF2B5EF4-FFF2-40B4-BE49-F238E27FC236}">
                <a16:creationId xmlns:a16="http://schemas.microsoft.com/office/drawing/2014/main" id="{87E3230F-1595-F2E1-852B-45F74515D841}"/>
              </a:ext>
            </a:extLst>
          </p:cNvPr>
          <p:cNvSpPr/>
          <p:nvPr/>
        </p:nvSpPr>
        <p:spPr>
          <a:xfrm>
            <a:off x="10158000"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12" name="Rechteck 11">
            <a:extLst>
              <a:ext uri="{FF2B5EF4-FFF2-40B4-BE49-F238E27FC236}">
                <a16:creationId xmlns:a16="http://schemas.microsoft.com/office/drawing/2014/main" id="{FF219C8B-2394-8A0A-2A3C-344FD52A61CC}"/>
              </a:ext>
            </a:extLst>
          </p:cNvPr>
          <p:cNvSpPr/>
          <p:nvPr/>
        </p:nvSpPr>
        <p:spPr>
          <a:xfrm>
            <a:off x="-1"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13" name="Rechteck 12">
            <a:extLst>
              <a:ext uri="{FF2B5EF4-FFF2-40B4-BE49-F238E27FC236}">
                <a16:creationId xmlns:a16="http://schemas.microsoft.com/office/drawing/2014/main" id="{65EB959F-9FDE-D899-E1BA-58BAB3EAF478}"/>
              </a:ext>
            </a:extLst>
          </p:cNvPr>
          <p:cNvSpPr/>
          <p:nvPr/>
        </p:nvSpPr>
        <p:spPr>
          <a:xfrm>
            <a:off x="2033999" y="6258315"/>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
        <p:nvSpPr>
          <p:cNvPr id="17" name="Inhaltsplatzhalter 5">
            <a:extLst>
              <a:ext uri="{FF2B5EF4-FFF2-40B4-BE49-F238E27FC236}">
                <a16:creationId xmlns:a16="http://schemas.microsoft.com/office/drawing/2014/main" id="{DC7151F4-9BD9-969F-6EFB-B34407F20BC6}"/>
              </a:ext>
            </a:extLst>
          </p:cNvPr>
          <p:cNvSpPr>
            <a:spLocks noGrp="1"/>
          </p:cNvSpPr>
          <p:nvPr>
            <p:ph idx="1"/>
          </p:nvPr>
        </p:nvSpPr>
        <p:spPr>
          <a:xfrm>
            <a:off x="292100" y="2228429"/>
            <a:ext cx="5524496" cy="3638966"/>
          </a:xfrm>
        </p:spPr>
        <p:txBody>
          <a:bodyPr anchor="ctr"/>
          <a:lstStyle/>
          <a:p>
            <a:pPr marL="0" indent="0" algn="ctr">
              <a:buNone/>
            </a:pPr>
            <a:r>
              <a:rPr lang="de-DE" b="1" dirty="0"/>
              <a:t>Nächste ≈ 100 Millionen Jahre</a:t>
            </a:r>
          </a:p>
          <a:p>
            <a:pPr marL="0" indent="0" algn="ctr">
              <a:buNone/>
            </a:pPr>
            <a:endParaRPr lang="de-DE" dirty="0"/>
          </a:p>
          <a:p>
            <a:r>
              <a:rPr lang="de-DE" sz="1800" dirty="0"/>
              <a:t>Quasiperiodische Planetenbahnen</a:t>
            </a:r>
          </a:p>
          <a:p>
            <a:pPr lvl="1"/>
            <a:r>
              <a:rPr lang="de-DE" sz="1600" dirty="0"/>
              <a:t>Keine Kollisionen &amp; Auswürfe</a:t>
            </a:r>
          </a:p>
          <a:p>
            <a:r>
              <a:rPr lang="de-DE" sz="1800" dirty="0"/>
              <a:t>Unsicherheiten von Asteroiden &amp; Kometen</a:t>
            </a:r>
          </a:p>
          <a:p>
            <a:pPr lvl="1"/>
            <a:r>
              <a:rPr lang="de-DE" sz="1600" dirty="0"/>
              <a:t>Allerdings &gt; 96% aller NEAs bereits bekannt</a:t>
            </a:r>
          </a:p>
          <a:p>
            <a:pPr lvl="1"/>
            <a:r>
              <a:rPr lang="de-DE" sz="1600" dirty="0"/>
              <a:t>Ablenkbar und Berechenbar</a:t>
            </a:r>
          </a:p>
        </p:txBody>
      </p:sp>
      <p:cxnSp>
        <p:nvCxnSpPr>
          <p:cNvPr id="18" name="Gerader Verbinder 17">
            <a:extLst>
              <a:ext uri="{FF2B5EF4-FFF2-40B4-BE49-F238E27FC236}">
                <a16:creationId xmlns:a16="http://schemas.microsoft.com/office/drawing/2014/main" id="{7693E8C9-DDF9-0AA5-EED0-D1283F0833DB}"/>
              </a:ext>
            </a:extLst>
          </p:cNvPr>
          <p:cNvCxnSpPr>
            <a:cxnSpLocks/>
          </p:cNvCxnSpPr>
          <p:nvPr/>
        </p:nvCxnSpPr>
        <p:spPr>
          <a:xfrm>
            <a:off x="6095999" y="1842872"/>
            <a:ext cx="0" cy="441007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9" name="Inhaltsplatzhalter 5">
            <a:extLst>
              <a:ext uri="{FF2B5EF4-FFF2-40B4-BE49-F238E27FC236}">
                <a16:creationId xmlns:a16="http://schemas.microsoft.com/office/drawing/2014/main" id="{288177A8-3766-CBE8-CCD9-B2A1ADEB1814}"/>
              </a:ext>
            </a:extLst>
          </p:cNvPr>
          <p:cNvSpPr txBox="1">
            <a:spLocks/>
          </p:cNvSpPr>
          <p:nvPr/>
        </p:nvSpPr>
        <p:spPr>
          <a:xfrm>
            <a:off x="6464303" y="2228426"/>
            <a:ext cx="5333995" cy="363896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e-DE" b="1" dirty="0"/>
              <a:t>100 Millionen – 5 Milliarden Jahre</a:t>
            </a:r>
          </a:p>
          <a:p>
            <a:pPr marL="0" indent="0" algn="ctr">
              <a:buNone/>
            </a:pPr>
            <a:endParaRPr lang="de-DE" dirty="0"/>
          </a:p>
          <a:p>
            <a:r>
              <a:rPr lang="de-DE" sz="1800" dirty="0"/>
              <a:t>Chaotische Effekte</a:t>
            </a:r>
          </a:p>
          <a:p>
            <a:pPr lvl="1"/>
            <a:r>
              <a:rPr lang="de-DE" sz="1600" dirty="0"/>
              <a:t>Nur noch statistische Aussagen möglich</a:t>
            </a:r>
          </a:p>
          <a:p>
            <a:pPr lvl="1"/>
            <a:r>
              <a:rPr lang="de-DE" sz="1600" dirty="0"/>
              <a:t>0,38mm Änderung</a:t>
            </a:r>
            <a:br>
              <a:rPr lang="de-DE" sz="1600" dirty="0"/>
            </a:br>
            <a:r>
              <a:rPr lang="de-DE" sz="1600" dirty="0"/>
              <a:t>-&gt; völlig andere Bahnen nach ≈ 200 Myr</a:t>
            </a:r>
          </a:p>
          <a:p>
            <a:r>
              <a:rPr lang="de-DE" sz="1800" dirty="0"/>
              <a:t>Unvorhersagbare Sterneneinflüsse</a:t>
            </a:r>
          </a:p>
          <a:p>
            <a:r>
              <a:rPr lang="de-DE" sz="1800" dirty="0"/>
              <a:t>Lebenszyklus der Sonne sicher bekannt</a:t>
            </a:r>
          </a:p>
        </p:txBody>
      </p:sp>
      <p:cxnSp>
        <p:nvCxnSpPr>
          <p:cNvPr id="20" name="Gerader Verbinder 19">
            <a:extLst>
              <a:ext uri="{FF2B5EF4-FFF2-40B4-BE49-F238E27FC236}">
                <a16:creationId xmlns:a16="http://schemas.microsoft.com/office/drawing/2014/main" id="{6466F02D-1214-1818-988F-248BA203CC58}"/>
              </a:ext>
            </a:extLst>
          </p:cNvPr>
          <p:cNvCxnSpPr>
            <a:cxnSpLocks/>
          </p:cNvCxnSpPr>
          <p:nvPr/>
        </p:nvCxnSpPr>
        <p:spPr>
          <a:xfrm>
            <a:off x="0" y="1842872"/>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8338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CFD7-B5FE-0D14-54F7-7903793677CB}"/>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E975F829-14F0-7400-50C6-FD9EE9F34ACC}"/>
              </a:ext>
            </a:extLst>
          </p:cNvPr>
          <p:cNvSpPr>
            <a:spLocks noGrp="1"/>
          </p:cNvSpPr>
          <p:nvPr>
            <p:ph idx="1"/>
          </p:nvPr>
        </p:nvSpPr>
        <p:spPr>
          <a:xfrm>
            <a:off x="520699" y="1759355"/>
            <a:ext cx="11150600" cy="4892736"/>
          </a:xfrm>
        </p:spPr>
        <p:txBody>
          <a:bodyPr>
            <a:normAutofit/>
          </a:bodyPr>
          <a:lstStyle/>
          <a:p>
            <a:r>
              <a:rPr lang="de-DE" sz="1200" dirty="0" err="1"/>
              <a:t>Garett</a:t>
            </a:r>
            <a:r>
              <a:rPr lang="de-DE" sz="1200" dirty="0"/>
              <a:t> Brown, Hanno Rein. (2020). A </a:t>
            </a:r>
            <a:r>
              <a:rPr lang="de-DE" sz="1200" dirty="0" err="1"/>
              <a:t>repository</a:t>
            </a:r>
            <a:r>
              <a:rPr lang="de-DE" sz="1200" dirty="0"/>
              <a:t> </a:t>
            </a:r>
            <a:r>
              <a:rPr lang="de-DE" sz="1200" dirty="0" err="1"/>
              <a:t>of</a:t>
            </a:r>
            <a:r>
              <a:rPr lang="de-DE" sz="1200" dirty="0"/>
              <a:t> </a:t>
            </a:r>
            <a:r>
              <a:rPr lang="de-DE" sz="1200" dirty="0" err="1"/>
              <a:t>vanilla</a:t>
            </a:r>
            <a:r>
              <a:rPr lang="de-DE" sz="1200" dirty="0"/>
              <a:t> </a:t>
            </a:r>
            <a:r>
              <a:rPr lang="de-DE" sz="1200" dirty="0" err="1"/>
              <a:t>long</a:t>
            </a:r>
            <a:r>
              <a:rPr lang="de-DE" sz="1200" dirty="0"/>
              <a:t> </a:t>
            </a:r>
            <a:r>
              <a:rPr lang="de-DE" sz="1200" dirty="0" err="1"/>
              <a:t>term</a:t>
            </a:r>
            <a:r>
              <a:rPr lang="de-DE" sz="1200" dirty="0"/>
              <a:t> </a:t>
            </a:r>
            <a:r>
              <a:rPr lang="de-DE" sz="1200" dirty="0" err="1"/>
              <a:t>integrations</a:t>
            </a:r>
            <a:r>
              <a:rPr lang="de-DE" sz="1200" dirty="0"/>
              <a:t> </a:t>
            </a:r>
            <a:r>
              <a:rPr lang="de-DE" sz="1200" dirty="0" err="1"/>
              <a:t>of</a:t>
            </a:r>
            <a:r>
              <a:rPr lang="de-DE" sz="1200" dirty="0"/>
              <a:t> </a:t>
            </a:r>
            <a:r>
              <a:rPr lang="de-DE" sz="1200" dirty="0" err="1"/>
              <a:t>the</a:t>
            </a:r>
            <a:r>
              <a:rPr lang="de-DE" sz="1200" dirty="0"/>
              <a:t> Solar System. </a:t>
            </a:r>
            <a:r>
              <a:rPr lang="de-DE" sz="1200" dirty="0">
                <a:hlinkClick r:id="rId2"/>
              </a:rPr>
              <a:t>https://arxiv.org/abs/2012.05177</a:t>
            </a:r>
            <a:r>
              <a:rPr lang="de-DE" sz="1200" dirty="0"/>
              <a:t>. Letzter Aufruf: 25.05.2025</a:t>
            </a:r>
          </a:p>
          <a:p>
            <a:r>
              <a:rPr lang="de-DE" sz="1200" dirty="0"/>
              <a:t>Jacques Laskar. (2008). </a:t>
            </a:r>
            <a:r>
              <a:rPr lang="de-DE" sz="1200" dirty="0" err="1"/>
              <a:t>Chaotic</a:t>
            </a:r>
            <a:r>
              <a:rPr lang="de-DE" sz="1200" dirty="0"/>
              <a:t> </a:t>
            </a:r>
            <a:r>
              <a:rPr lang="de-DE" sz="1200" dirty="0" err="1"/>
              <a:t>diffusion</a:t>
            </a:r>
            <a:r>
              <a:rPr lang="de-DE" sz="1200" dirty="0"/>
              <a:t> in </a:t>
            </a:r>
            <a:r>
              <a:rPr lang="de-DE" sz="1200" dirty="0" err="1"/>
              <a:t>the</a:t>
            </a:r>
            <a:r>
              <a:rPr lang="de-DE" sz="1200" dirty="0"/>
              <a:t> Solar System. </a:t>
            </a:r>
            <a:r>
              <a:rPr lang="de-DE" sz="1200" dirty="0">
                <a:hlinkClick r:id="rId3"/>
              </a:rPr>
              <a:t>https://arxiv.org/abs/0802.3371</a:t>
            </a:r>
            <a:r>
              <a:rPr lang="de-DE" sz="1200" dirty="0"/>
              <a:t>. Letzter Aufruf: 25.05.2025</a:t>
            </a:r>
          </a:p>
          <a:p>
            <a:r>
              <a:rPr lang="de-DE" sz="1200" dirty="0"/>
              <a:t>Jacques Laskar. (2012). </a:t>
            </a:r>
            <a:r>
              <a:rPr lang="de-DE" sz="1200" dirty="0" err="1"/>
              <a:t>Is</a:t>
            </a:r>
            <a:r>
              <a:rPr lang="de-DE" sz="1200" dirty="0"/>
              <a:t> </a:t>
            </a:r>
            <a:r>
              <a:rPr lang="de-DE" sz="1200" dirty="0" err="1"/>
              <a:t>the</a:t>
            </a:r>
            <a:r>
              <a:rPr lang="de-DE" sz="1200" dirty="0"/>
              <a:t> Solar System </a:t>
            </a:r>
            <a:r>
              <a:rPr lang="de-DE" sz="1200" dirty="0" err="1"/>
              <a:t>Stable</a:t>
            </a:r>
            <a:r>
              <a:rPr lang="de-DE" sz="1200" dirty="0"/>
              <a:t>? </a:t>
            </a:r>
            <a:r>
              <a:rPr lang="de-DE" sz="1200" dirty="0">
                <a:hlinkClick r:id="rId4"/>
              </a:rPr>
              <a:t>https://arxiv.org/abs/1209.5996</a:t>
            </a:r>
            <a:r>
              <a:rPr lang="de-DE" sz="1200" dirty="0"/>
              <a:t>. Letzter Aufruf: 25.05.2025</a:t>
            </a:r>
          </a:p>
          <a:p>
            <a:r>
              <a:rPr lang="de-DE" sz="1200" dirty="0"/>
              <a:t>Hanno Rein, Daniel Tamayo. (2015). </a:t>
            </a:r>
            <a:r>
              <a:rPr lang="de-DE" sz="1200" dirty="0" err="1"/>
              <a:t>WHFast</a:t>
            </a:r>
            <a:r>
              <a:rPr lang="de-DE" sz="1200" dirty="0"/>
              <a:t>: A fast and </a:t>
            </a:r>
            <a:r>
              <a:rPr lang="de-DE" sz="1200" dirty="0" err="1"/>
              <a:t>unbiased</a:t>
            </a:r>
            <a:r>
              <a:rPr lang="de-DE" sz="1200" dirty="0"/>
              <a:t> </a:t>
            </a:r>
            <a:r>
              <a:rPr lang="de-DE" sz="1200" dirty="0" err="1"/>
              <a:t>implementation</a:t>
            </a:r>
            <a:r>
              <a:rPr lang="de-DE" sz="1200" dirty="0"/>
              <a:t> </a:t>
            </a:r>
            <a:r>
              <a:rPr lang="de-DE" sz="1200" dirty="0" err="1"/>
              <a:t>of</a:t>
            </a:r>
            <a:r>
              <a:rPr lang="de-DE" sz="1200" dirty="0"/>
              <a:t> a </a:t>
            </a:r>
            <a:r>
              <a:rPr lang="de-DE" sz="1200" dirty="0" err="1"/>
              <a:t>symplectic</a:t>
            </a:r>
            <a:r>
              <a:rPr lang="de-DE" sz="1200" dirty="0"/>
              <a:t> Wisdom-Holman </a:t>
            </a:r>
            <a:r>
              <a:rPr lang="de-DE" sz="1200" dirty="0" err="1"/>
              <a:t>integrator</a:t>
            </a:r>
            <a:r>
              <a:rPr lang="de-DE" sz="1200" dirty="0"/>
              <a:t> </a:t>
            </a:r>
            <a:r>
              <a:rPr lang="de-DE" sz="1200" dirty="0" err="1"/>
              <a:t>for</a:t>
            </a:r>
            <a:r>
              <a:rPr lang="de-DE" sz="1200" dirty="0"/>
              <a:t> </a:t>
            </a:r>
            <a:r>
              <a:rPr lang="de-DE" sz="1200" dirty="0" err="1"/>
              <a:t>long</a:t>
            </a:r>
            <a:r>
              <a:rPr lang="de-DE" sz="1200" dirty="0"/>
              <a:t> </a:t>
            </a:r>
            <a:r>
              <a:rPr lang="de-DE" sz="1200" dirty="0" err="1"/>
              <a:t>term</a:t>
            </a:r>
            <a:r>
              <a:rPr lang="de-DE" sz="1200" dirty="0"/>
              <a:t> </a:t>
            </a:r>
            <a:r>
              <a:rPr lang="de-DE" sz="1200" dirty="0" err="1"/>
              <a:t>gravitational</a:t>
            </a:r>
            <a:r>
              <a:rPr lang="de-DE" sz="1200" dirty="0"/>
              <a:t> </a:t>
            </a:r>
            <a:r>
              <a:rPr lang="de-DE" sz="1200" dirty="0" err="1"/>
              <a:t>simulations</a:t>
            </a:r>
            <a:r>
              <a:rPr lang="de-DE" sz="1200" dirty="0"/>
              <a:t>. </a:t>
            </a:r>
            <a:r>
              <a:rPr lang="de-DE" sz="1200" dirty="0">
                <a:hlinkClick r:id="rId5"/>
              </a:rPr>
              <a:t>https://arxiv.org/abs/1506.01084</a:t>
            </a:r>
            <a:r>
              <a:rPr lang="de-DE" sz="1200" dirty="0"/>
              <a:t>. Letzter Aufruf: 25.05.2025</a:t>
            </a:r>
          </a:p>
          <a:p>
            <a:r>
              <a:rPr lang="de-DE" sz="1200" dirty="0"/>
              <a:t>Konstantin </a:t>
            </a:r>
            <a:r>
              <a:rPr lang="de-DE" sz="1200" dirty="0" err="1"/>
              <a:t>Batygin</a:t>
            </a:r>
            <a:r>
              <a:rPr lang="de-DE" sz="1200" dirty="0"/>
              <a:t>, Gregory Laughlin. (2008). On </a:t>
            </a:r>
            <a:r>
              <a:rPr lang="de-DE" sz="1200" dirty="0" err="1"/>
              <a:t>the</a:t>
            </a:r>
            <a:r>
              <a:rPr lang="de-DE" sz="1200" dirty="0"/>
              <a:t> </a:t>
            </a:r>
            <a:r>
              <a:rPr lang="de-DE" sz="1200" dirty="0" err="1"/>
              <a:t>Dynamical</a:t>
            </a:r>
            <a:r>
              <a:rPr lang="de-DE" sz="1200" dirty="0"/>
              <a:t> </a:t>
            </a:r>
            <a:r>
              <a:rPr lang="de-DE" sz="1200" dirty="0" err="1"/>
              <a:t>Stability</a:t>
            </a:r>
            <a:r>
              <a:rPr lang="de-DE" sz="1200" dirty="0"/>
              <a:t> </a:t>
            </a:r>
            <a:r>
              <a:rPr lang="de-DE" sz="1200" dirty="0" err="1"/>
              <a:t>of</a:t>
            </a:r>
            <a:r>
              <a:rPr lang="de-DE" sz="1200" dirty="0"/>
              <a:t> </a:t>
            </a:r>
            <a:r>
              <a:rPr lang="de-DE" sz="1200" dirty="0" err="1"/>
              <a:t>the</a:t>
            </a:r>
            <a:r>
              <a:rPr lang="de-DE" sz="1200" dirty="0"/>
              <a:t> Solar System. </a:t>
            </a:r>
            <a:r>
              <a:rPr lang="de-DE" sz="1200" dirty="0">
                <a:hlinkClick r:id="rId6"/>
              </a:rPr>
              <a:t>https://arxiv.org/abs/0804.1946</a:t>
            </a:r>
            <a:r>
              <a:rPr lang="de-DE" sz="1200" dirty="0"/>
              <a:t>. Letzter Aufruf: 25.05.2025</a:t>
            </a:r>
          </a:p>
          <a:p>
            <a:r>
              <a:rPr lang="de-DE" sz="1200" dirty="0" err="1"/>
              <a:t>Garett</a:t>
            </a:r>
            <a:r>
              <a:rPr lang="de-DE" sz="1200" dirty="0"/>
              <a:t> Brown, Hanno Rein. (2020). 96 Long Term Solar System </a:t>
            </a:r>
            <a:r>
              <a:rPr lang="de-DE" sz="1200" dirty="0" err="1"/>
              <a:t>Integrations</a:t>
            </a:r>
            <a:r>
              <a:rPr lang="de-DE" sz="1200" dirty="0"/>
              <a:t>. </a:t>
            </a:r>
            <a:r>
              <a:rPr lang="de-DE" sz="1200" dirty="0">
                <a:hlinkClick r:id="rId7"/>
              </a:rPr>
              <a:t>https://zenodo.org/records/4299102</a:t>
            </a:r>
            <a:r>
              <a:rPr lang="de-DE" sz="1200" dirty="0"/>
              <a:t>. Letzter Aufruf: 25.05.2025</a:t>
            </a:r>
          </a:p>
          <a:p>
            <a:r>
              <a:rPr lang="de-DE" sz="1200" dirty="0"/>
              <a:t>Nam H. Hoang, Federico </a:t>
            </a:r>
            <a:r>
              <a:rPr lang="de-DE" sz="1200" dirty="0" err="1"/>
              <a:t>Mogavero</a:t>
            </a:r>
            <a:r>
              <a:rPr lang="de-DE" sz="1200" dirty="0"/>
              <a:t> and Jacques Laskar. (2021). </a:t>
            </a:r>
            <a:r>
              <a:rPr lang="de-DE" sz="1200" dirty="0" err="1"/>
              <a:t>Chaotic</a:t>
            </a:r>
            <a:r>
              <a:rPr lang="de-DE" sz="1200" dirty="0"/>
              <a:t> </a:t>
            </a:r>
            <a:r>
              <a:rPr lang="de-DE" sz="1200" dirty="0" err="1"/>
              <a:t>diffusion</a:t>
            </a:r>
            <a:r>
              <a:rPr lang="de-DE" sz="1200" dirty="0"/>
              <a:t> </a:t>
            </a:r>
            <a:r>
              <a:rPr lang="de-DE" sz="1200" dirty="0" err="1"/>
              <a:t>of</a:t>
            </a:r>
            <a:r>
              <a:rPr lang="de-DE" sz="1200" dirty="0"/>
              <a:t> </a:t>
            </a:r>
            <a:r>
              <a:rPr lang="de-DE" sz="1200" dirty="0" err="1"/>
              <a:t>the</a:t>
            </a:r>
            <a:r>
              <a:rPr lang="de-DE" sz="1200" dirty="0"/>
              <a:t> fundamental </a:t>
            </a:r>
            <a:r>
              <a:rPr lang="de-DE" sz="1200" dirty="0" err="1"/>
              <a:t>frequencies</a:t>
            </a:r>
            <a:r>
              <a:rPr lang="de-DE" sz="1200" dirty="0"/>
              <a:t> in </a:t>
            </a:r>
            <a:r>
              <a:rPr lang="de-DE" sz="1200" dirty="0" err="1"/>
              <a:t>the</a:t>
            </a:r>
            <a:r>
              <a:rPr lang="de-DE" sz="1200" dirty="0"/>
              <a:t> Solar System. </a:t>
            </a:r>
            <a:r>
              <a:rPr lang="de-DE" sz="1200" dirty="0">
                <a:hlinkClick r:id="rId8"/>
              </a:rPr>
              <a:t>https://doi.org/10.1051/0004-6361/202140989</a:t>
            </a:r>
            <a:r>
              <a:rPr lang="de-DE" sz="1200" dirty="0"/>
              <a:t>. Letzter Aufruf: 25.05.2025</a:t>
            </a:r>
          </a:p>
          <a:p>
            <a:r>
              <a:rPr lang="de-DE" sz="1200" dirty="0"/>
              <a:t>Orbital </a:t>
            </a:r>
            <a:r>
              <a:rPr lang="de-DE" sz="1200" dirty="0" err="1"/>
              <a:t>Mechanics</a:t>
            </a:r>
            <a:r>
              <a:rPr lang="de-DE" sz="1200" dirty="0"/>
              <a:t> &amp; </a:t>
            </a:r>
            <a:r>
              <a:rPr lang="de-DE" sz="1200" dirty="0" err="1"/>
              <a:t>Astrodynamics</a:t>
            </a:r>
            <a:r>
              <a:rPr lang="de-DE" sz="1200" dirty="0"/>
              <a:t>. </a:t>
            </a:r>
            <a:r>
              <a:rPr lang="de-DE" sz="1200" dirty="0">
                <a:hlinkClick r:id="rId9"/>
              </a:rPr>
              <a:t>https://orbital-mechanics.space/</a:t>
            </a:r>
            <a:r>
              <a:rPr lang="de-DE" sz="1200" dirty="0"/>
              <a:t>. By Bryan Weber. Letzter Aufruf: 25.05.2025</a:t>
            </a:r>
          </a:p>
          <a:p>
            <a:r>
              <a:rPr lang="de-DE" sz="1200" dirty="0" err="1"/>
              <a:t>Nasa</a:t>
            </a:r>
            <a:r>
              <a:rPr lang="de-DE" sz="1200" dirty="0"/>
              <a:t>: Eyes on </a:t>
            </a:r>
            <a:r>
              <a:rPr lang="de-DE" sz="1200" dirty="0" err="1"/>
              <a:t>the</a:t>
            </a:r>
            <a:r>
              <a:rPr lang="de-DE" sz="1200" dirty="0"/>
              <a:t> Solar System. </a:t>
            </a:r>
            <a:r>
              <a:rPr lang="de-DE" sz="1200" dirty="0">
                <a:hlinkClick r:id="rId10"/>
              </a:rPr>
              <a:t>https://eyes.nasa.gov/apps/solar-system/</a:t>
            </a:r>
            <a:r>
              <a:rPr lang="de-DE" sz="1200" dirty="0"/>
              <a:t>. Letzter Aufruf: 25.05.2025</a:t>
            </a:r>
          </a:p>
          <a:p>
            <a:r>
              <a:rPr lang="de-DE" sz="1200" dirty="0" err="1"/>
              <a:t>Nasa</a:t>
            </a:r>
            <a:r>
              <a:rPr lang="de-DE" sz="1200" dirty="0"/>
              <a:t>: Solar System Exploration. </a:t>
            </a:r>
            <a:r>
              <a:rPr lang="de-DE" sz="1200" dirty="0">
                <a:hlinkClick r:id="rId11"/>
              </a:rPr>
              <a:t>https://science.nasa.gov/solar-system/</a:t>
            </a:r>
            <a:r>
              <a:rPr lang="de-DE" sz="1200" dirty="0"/>
              <a:t>. Letzter Aufruf: 25.05.2025</a:t>
            </a:r>
          </a:p>
          <a:p>
            <a:r>
              <a:rPr lang="de-DE" sz="1200" dirty="0" err="1"/>
              <a:t>Nasa</a:t>
            </a:r>
            <a:r>
              <a:rPr lang="de-DE" sz="1200" dirty="0"/>
              <a:t>/Jet Propulsion Laboratory: Horizons System. </a:t>
            </a:r>
            <a:r>
              <a:rPr lang="de-DE" sz="1200" dirty="0">
                <a:hlinkClick r:id="rId12"/>
              </a:rPr>
              <a:t>https://ssd.jpl.nasa.gov/horizons/app.html</a:t>
            </a:r>
            <a:r>
              <a:rPr lang="de-DE" sz="1200" dirty="0"/>
              <a:t>. Letzter Aufruf: 25.05.2025</a:t>
            </a:r>
          </a:p>
          <a:p>
            <a:r>
              <a:rPr lang="de-DE" sz="1200" dirty="0"/>
              <a:t>Jet Propulsion Laboratory. (2023).</a:t>
            </a:r>
            <a:r>
              <a:rPr lang="en-US" sz="1200" dirty="0"/>
              <a:t> Caught in the Act: Astronomers Detect a Star Devouring a Planet.</a:t>
            </a:r>
            <a:r>
              <a:rPr lang="de-DE" sz="1200" dirty="0"/>
              <a:t> </a:t>
            </a:r>
            <a:r>
              <a:rPr lang="de-DE" sz="1200" dirty="0">
                <a:hlinkClick r:id="rId13"/>
              </a:rPr>
              <a:t>https://www.nasa.gov/missions/neowise/caught-in-the-act-astronomers-detect-a-star-devouring-a-planet/</a:t>
            </a:r>
            <a:r>
              <a:rPr lang="de-DE" sz="1200" dirty="0"/>
              <a:t>. Letzter Aufruf: 17.05.2025</a:t>
            </a:r>
          </a:p>
        </p:txBody>
      </p:sp>
      <p:sp>
        <p:nvSpPr>
          <p:cNvPr id="4" name="Titel 3">
            <a:extLst>
              <a:ext uri="{FF2B5EF4-FFF2-40B4-BE49-F238E27FC236}">
                <a16:creationId xmlns:a16="http://schemas.microsoft.com/office/drawing/2014/main" id="{84C61B5C-FF96-B5D6-9F62-83052E56BEB8}"/>
              </a:ext>
            </a:extLst>
          </p:cNvPr>
          <p:cNvSpPr>
            <a:spLocks noGrp="1"/>
          </p:cNvSpPr>
          <p:nvPr>
            <p:ph type="title"/>
          </p:nvPr>
        </p:nvSpPr>
        <p:spPr>
          <a:xfrm>
            <a:off x="4845177" y="263785"/>
            <a:ext cx="2501649" cy="1252218"/>
          </a:xfrm>
        </p:spPr>
        <p:txBody>
          <a:bodyPr/>
          <a:lstStyle/>
          <a:p>
            <a:r>
              <a:rPr lang="de-DE" sz="2800" dirty="0"/>
              <a:t>Quellen</a:t>
            </a:r>
            <a:br>
              <a:rPr lang="de-DE" sz="2800" dirty="0"/>
            </a:br>
            <a:r>
              <a:rPr lang="de-DE" sz="1800" dirty="0"/>
              <a:t>Hauptquellen</a:t>
            </a:r>
            <a:endParaRPr lang="de-DE" dirty="0"/>
          </a:p>
        </p:txBody>
      </p:sp>
      <p:sp>
        <p:nvSpPr>
          <p:cNvPr id="23" name="Rechteck 22">
            <a:extLst>
              <a:ext uri="{FF2B5EF4-FFF2-40B4-BE49-F238E27FC236}">
                <a16:creationId xmlns:a16="http://schemas.microsoft.com/office/drawing/2014/main" id="{8515A219-C82A-B6D0-E1AD-8E92B1AB7C86}"/>
              </a:ext>
            </a:extLst>
          </p:cNvPr>
          <p:cNvSpPr/>
          <p:nvPr/>
        </p:nvSpPr>
        <p:spPr>
          <a:xfrm>
            <a:off x="-1" y="6916683"/>
            <a:ext cx="12185471" cy="599682"/>
          </a:xfrm>
          <a:prstGeom prst="rect">
            <a:avLst/>
          </a:prstGeom>
          <a:gradFill flip="none" rotWithShape="1">
            <a:gsLst>
              <a:gs pos="0">
                <a:schemeClr val="accent5">
                  <a:lumMod val="60000"/>
                  <a:lumOff val="40000"/>
                  <a:alpha val="50000"/>
                </a:schemeClr>
              </a:gs>
              <a:gs pos="25000">
                <a:schemeClr val="accent5">
                  <a:lumMod val="20000"/>
                  <a:lumOff val="80000"/>
                  <a:alpha val="50000"/>
                </a:schemeClr>
              </a:gs>
              <a:gs pos="50000">
                <a:schemeClr val="accent1">
                  <a:lumMod val="20000"/>
                  <a:lumOff val="80000"/>
                  <a:alpha val="50000"/>
                </a:schemeClr>
              </a:gs>
              <a:gs pos="100000">
                <a:schemeClr val="accent5">
                  <a:lumMod val="60000"/>
                  <a:lumOff val="40000"/>
                  <a:alpha val="50000"/>
                </a:schemeClr>
              </a:gs>
              <a:gs pos="75000">
                <a:schemeClr val="tx2">
                  <a:lumMod val="50000"/>
                  <a:lumOff val="50000"/>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4" name="Rechteck 23">
            <a:extLst>
              <a:ext uri="{FF2B5EF4-FFF2-40B4-BE49-F238E27FC236}">
                <a16:creationId xmlns:a16="http://schemas.microsoft.com/office/drawing/2014/main" id="{9FB1D2D8-2601-EC51-2AC6-0D260BF03A8B}"/>
              </a:ext>
            </a:extLst>
          </p:cNvPr>
          <p:cNvSpPr/>
          <p:nvPr/>
        </p:nvSpPr>
        <p:spPr>
          <a:xfrm>
            <a:off x="12219433" y="6916686"/>
            <a:ext cx="45719" cy="5996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5" name="Gerader Verbinder 24">
            <a:extLst>
              <a:ext uri="{FF2B5EF4-FFF2-40B4-BE49-F238E27FC236}">
                <a16:creationId xmlns:a16="http://schemas.microsoft.com/office/drawing/2014/main" id="{0497C6C3-6774-D585-E4DD-E51EFE4BBD11}"/>
              </a:ext>
            </a:extLst>
          </p:cNvPr>
          <p:cNvCxnSpPr>
            <a:cxnSpLocks/>
          </p:cNvCxnSpPr>
          <p:nvPr/>
        </p:nvCxnSpPr>
        <p:spPr>
          <a:xfrm>
            <a:off x="0" y="6911315"/>
            <a:ext cx="12192000" cy="0"/>
          </a:xfrm>
          <a:prstGeom prst="line">
            <a:avLst/>
          </a:prstGeom>
          <a:ln w="127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26" name="Rechteck 25">
            <a:extLst>
              <a:ext uri="{FF2B5EF4-FFF2-40B4-BE49-F238E27FC236}">
                <a16:creationId xmlns:a16="http://schemas.microsoft.com/office/drawing/2014/main" id="{AAE3481A-CF79-0066-DAB7-10349739685E}"/>
              </a:ext>
            </a:extLst>
          </p:cNvPr>
          <p:cNvSpPr/>
          <p:nvPr/>
        </p:nvSpPr>
        <p:spPr>
          <a:xfrm>
            <a:off x="4061999"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Simulation</a:t>
            </a:r>
            <a:endParaRPr lang="de-DE" sz="1600" dirty="0">
              <a:solidFill>
                <a:schemeClr val="tx1"/>
              </a:solidFill>
            </a:endParaRPr>
          </a:p>
        </p:txBody>
      </p:sp>
      <p:sp>
        <p:nvSpPr>
          <p:cNvPr id="27" name="Rechteck 26">
            <a:extLst>
              <a:ext uri="{FF2B5EF4-FFF2-40B4-BE49-F238E27FC236}">
                <a16:creationId xmlns:a16="http://schemas.microsoft.com/office/drawing/2014/main" id="{679322F1-ECA6-B038-54DF-7FF862E4198E}"/>
              </a:ext>
            </a:extLst>
          </p:cNvPr>
          <p:cNvSpPr/>
          <p:nvPr/>
        </p:nvSpPr>
        <p:spPr>
          <a:xfrm>
            <a:off x="6095999"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Vorhersagen</a:t>
            </a:r>
            <a:endParaRPr lang="de-DE" sz="1400" dirty="0">
              <a:solidFill>
                <a:schemeClr val="tx1"/>
              </a:solidFill>
            </a:endParaRPr>
          </a:p>
        </p:txBody>
      </p:sp>
      <p:sp>
        <p:nvSpPr>
          <p:cNvPr id="28" name="Rechteck 27">
            <a:extLst>
              <a:ext uri="{FF2B5EF4-FFF2-40B4-BE49-F238E27FC236}">
                <a16:creationId xmlns:a16="http://schemas.microsoft.com/office/drawing/2014/main" id="{53F3FBF5-95D5-C6C5-4256-B8148E521DFA}"/>
              </a:ext>
            </a:extLst>
          </p:cNvPr>
          <p:cNvSpPr/>
          <p:nvPr/>
        </p:nvSpPr>
        <p:spPr>
          <a:xfrm>
            <a:off x="8124000"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Weitere Zukunftsaussichten</a:t>
            </a:r>
          </a:p>
        </p:txBody>
      </p:sp>
      <p:sp>
        <p:nvSpPr>
          <p:cNvPr id="29" name="Rechteck 28">
            <a:extLst>
              <a:ext uri="{FF2B5EF4-FFF2-40B4-BE49-F238E27FC236}">
                <a16:creationId xmlns:a16="http://schemas.microsoft.com/office/drawing/2014/main" id="{20D03966-47BA-7C51-E21B-F0A226389FA3}"/>
              </a:ext>
            </a:extLst>
          </p:cNvPr>
          <p:cNvSpPr/>
          <p:nvPr/>
        </p:nvSpPr>
        <p:spPr>
          <a:xfrm>
            <a:off x="10158000"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Fazit</a:t>
            </a:r>
            <a:endParaRPr lang="de-DE" sz="1600" dirty="0">
              <a:solidFill>
                <a:schemeClr val="tx1"/>
              </a:solidFill>
            </a:endParaRPr>
          </a:p>
        </p:txBody>
      </p:sp>
      <p:sp>
        <p:nvSpPr>
          <p:cNvPr id="30" name="Rechteck 29">
            <a:extLst>
              <a:ext uri="{FF2B5EF4-FFF2-40B4-BE49-F238E27FC236}">
                <a16:creationId xmlns:a16="http://schemas.microsoft.com/office/drawing/2014/main" id="{614725C0-9A0D-3FCF-2F9F-6990EEFC6ECA}"/>
              </a:ext>
            </a:extLst>
          </p:cNvPr>
          <p:cNvSpPr/>
          <p:nvPr/>
        </p:nvSpPr>
        <p:spPr>
          <a:xfrm>
            <a:off x="-1"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Grundlagen</a:t>
            </a:r>
            <a:endParaRPr lang="de-DE" sz="2000" dirty="0">
              <a:solidFill>
                <a:schemeClr val="tx1"/>
              </a:solidFill>
            </a:endParaRPr>
          </a:p>
        </p:txBody>
      </p:sp>
      <p:sp>
        <p:nvSpPr>
          <p:cNvPr id="31" name="Rechteck 30">
            <a:extLst>
              <a:ext uri="{FF2B5EF4-FFF2-40B4-BE49-F238E27FC236}">
                <a16:creationId xmlns:a16="http://schemas.microsoft.com/office/drawing/2014/main" id="{244EE6C8-2684-5BFD-8086-B2886B74BB4F}"/>
              </a:ext>
            </a:extLst>
          </p:cNvPr>
          <p:cNvSpPr/>
          <p:nvPr/>
        </p:nvSpPr>
        <p:spPr>
          <a:xfrm>
            <a:off x="2033999" y="6916683"/>
            <a:ext cx="2034000" cy="5996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Chaos</a:t>
            </a:r>
          </a:p>
        </p:txBody>
      </p:sp>
    </p:spTree>
    <p:extLst>
      <p:ext uri="{BB962C8B-B14F-4D97-AF65-F5344CB8AC3E}">
        <p14:creationId xmlns:p14="http://schemas.microsoft.com/office/powerpoint/2010/main" val="11273253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11BE5C4-EB04-598B-8144-FF258ADC0596}"/>
              </a:ext>
            </a:extLst>
          </p:cNvPr>
          <p:cNvSpPr>
            <a:spLocks noGrp="1"/>
          </p:cNvSpPr>
          <p:nvPr>
            <p:ph type="title"/>
          </p:nvPr>
        </p:nvSpPr>
        <p:spPr>
          <a:xfrm>
            <a:off x="3806762" y="263785"/>
            <a:ext cx="4578482" cy="1252218"/>
          </a:xfrm>
        </p:spPr>
        <p:txBody>
          <a:bodyPr/>
          <a:lstStyle/>
          <a:p>
            <a:r>
              <a:rPr lang="de-DE" sz="2800" dirty="0"/>
              <a:t>Quellen</a:t>
            </a:r>
            <a:br>
              <a:rPr lang="de-DE" sz="2800" dirty="0"/>
            </a:br>
            <a:r>
              <a:rPr lang="de-DE" sz="1800" dirty="0"/>
              <a:t>Begriffsklärung und Einführung</a:t>
            </a:r>
            <a:endParaRPr lang="de-DE" dirty="0"/>
          </a:p>
        </p:txBody>
      </p:sp>
      <p:graphicFrame>
        <p:nvGraphicFramePr>
          <p:cNvPr id="3" name="Tabelle 2">
            <a:extLst>
              <a:ext uri="{FF2B5EF4-FFF2-40B4-BE49-F238E27FC236}">
                <a16:creationId xmlns:a16="http://schemas.microsoft.com/office/drawing/2014/main" id="{A6845AE7-77A0-0CB4-F6DA-8C811ACE6244}"/>
              </a:ext>
            </a:extLst>
          </p:cNvPr>
          <p:cNvGraphicFramePr>
            <a:graphicFrameLocks noGrp="1"/>
          </p:cNvGraphicFramePr>
          <p:nvPr>
            <p:extLst>
              <p:ext uri="{D42A27DB-BD31-4B8C-83A1-F6EECF244321}">
                <p14:modId xmlns:p14="http://schemas.microsoft.com/office/powerpoint/2010/main" val="3900777866"/>
              </p:ext>
            </p:extLst>
          </p:nvPr>
        </p:nvGraphicFramePr>
        <p:xfrm>
          <a:off x="666750" y="2269187"/>
          <a:ext cx="10858500" cy="4203700"/>
        </p:xfrm>
        <a:graphic>
          <a:graphicData uri="http://schemas.openxmlformats.org/drawingml/2006/table">
            <a:tbl>
              <a:tblPr firstRow="1" bandRow="1">
                <a:tableStyleId>{2D5ABB26-0587-4C30-8999-92F81FD0307C}</a:tableStyleId>
              </a:tblPr>
              <a:tblGrid>
                <a:gridCol w="5429250">
                  <a:extLst>
                    <a:ext uri="{9D8B030D-6E8A-4147-A177-3AD203B41FA5}">
                      <a16:colId xmlns:a16="http://schemas.microsoft.com/office/drawing/2014/main" val="3350570142"/>
                    </a:ext>
                  </a:extLst>
                </a:gridCol>
                <a:gridCol w="5429250">
                  <a:extLst>
                    <a:ext uri="{9D8B030D-6E8A-4147-A177-3AD203B41FA5}">
                      <a16:colId xmlns:a16="http://schemas.microsoft.com/office/drawing/2014/main" val="157298215"/>
                    </a:ext>
                  </a:extLst>
                </a:gridCol>
              </a:tblGrid>
              <a:tr h="4203700">
                <a:tc>
                  <a: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de-DE" sz="1100" b="0" dirty="0"/>
                        <a:t>Matt Clement. (2019). </a:t>
                      </a:r>
                      <a:r>
                        <a:rPr kumimoji="0" lang="de-DE" sz="1100" b="0" i="0" u="none" strike="noStrike" kern="1200" cap="none" spc="0" normalizeH="0" baseline="0" noProof="0" dirty="0">
                          <a:ln>
                            <a:noFill/>
                          </a:ln>
                          <a:solidFill>
                            <a:schemeClr val="tx1"/>
                          </a:solidFill>
                          <a:effectLst/>
                          <a:uLnTx/>
                          <a:uFillTx/>
                          <a:latin typeface="+mn-lt"/>
                          <a:ea typeface="+mn-ea"/>
                          <a:cs typeface="+mn-cs"/>
                          <a:hlinkClick r:id="rId2"/>
                        </a:rPr>
                        <a:t>https://www.youtube.com/watch?v=WuuPoNZvThQ</a:t>
                      </a:r>
                      <a:r>
                        <a:rPr lang="de-DE" sz="1100" b="0" dirty="0"/>
                        <a:t>. Letzter Aufruf: 24.05.2025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rPr>
                        <a:t>Florian </a:t>
                      </a:r>
                      <a:r>
                        <a:rPr kumimoji="0" lang="de-DE" sz="1100" b="0" i="0" u="none" strike="noStrike" kern="1200" cap="none" spc="0" normalizeH="0" baseline="0" noProof="0" dirty="0" err="1">
                          <a:ln>
                            <a:noFill/>
                          </a:ln>
                          <a:solidFill>
                            <a:schemeClr val="tx1"/>
                          </a:solidFill>
                          <a:effectLst/>
                          <a:uLnTx/>
                          <a:uFillTx/>
                          <a:latin typeface="+mn-lt"/>
                          <a:ea typeface="+mn-ea"/>
                          <a:cs typeface="+mn-cs"/>
                        </a:rPr>
                        <a:t>Freistetter</a:t>
                      </a:r>
                      <a:r>
                        <a:rPr kumimoji="0" lang="de-DE" sz="1100" b="0" i="0" u="none" strike="noStrike" kern="1200" cap="none" spc="0" normalizeH="0" baseline="0" noProof="0" dirty="0">
                          <a:ln>
                            <a:noFill/>
                          </a:ln>
                          <a:solidFill>
                            <a:schemeClr val="tx1"/>
                          </a:solidFill>
                          <a:effectLst/>
                          <a:uLnTx/>
                          <a:uFillTx/>
                          <a:latin typeface="+mn-lt"/>
                          <a:ea typeface="+mn-ea"/>
                          <a:cs typeface="+mn-cs"/>
                        </a:rPr>
                        <a:t>. (2008). Chaos im Sonnensystem. </a:t>
                      </a:r>
                      <a:r>
                        <a:rPr kumimoji="0" lang="de-DE" sz="1100" b="0" i="0" u="none" strike="noStrike" kern="1200" cap="none" spc="0" normalizeH="0" baseline="0" noProof="0" dirty="0">
                          <a:ln>
                            <a:noFill/>
                          </a:ln>
                          <a:solidFill>
                            <a:schemeClr val="tx1"/>
                          </a:solidFill>
                          <a:effectLst/>
                          <a:uLnTx/>
                          <a:uFillTx/>
                          <a:latin typeface="+mn-lt"/>
                          <a:ea typeface="+mn-ea"/>
                          <a:cs typeface="+mn-cs"/>
                          <a:hlinkClick r:id="rId3"/>
                        </a:rPr>
                        <a:t>https://astrodicticum-simplex.at/2008/04/chaos-im-sonnensystem</a:t>
                      </a:r>
                      <a:r>
                        <a:rPr lang="de-DE" sz="1100" b="0" dirty="0"/>
                        <a:t>. Letzter Aufruf: 14.05.2025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rPr>
                        <a:t>Florian </a:t>
                      </a:r>
                      <a:r>
                        <a:rPr kumimoji="0" lang="de-DE" sz="1100" b="0" i="0" u="none" strike="noStrike" kern="1200" cap="none" spc="0" normalizeH="0" baseline="0" noProof="0" dirty="0" err="1">
                          <a:ln>
                            <a:noFill/>
                          </a:ln>
                          <a:solidFill>
                            <a:schemeClr val="tx1"/>
                          </a:solidFill>
                          <a:effectLst/>
                          <a:uLnTx/>
                          <a:uFillTx/>
                          <a:latin typeface="+mn-lt"/>
                          <a:ea typeface="+mn-ea"/>
                          <a:cs typeface="+mn-cs"/>
                        </a:rPr>
                        <a:t>Freistetter</a:t>
                      </a:r>
                      <a:r>
                        <a:rPr kumimoji="0" lang="de-DE" sz="1100" b="0" i="0" u="none" strike="noStrike" kern="1200" cap="none" spc="0" normalizeH="0" baseline="0" noProof="0" dirty="0">
                          <a:ln>
                            <a:noFill/>
                          </a:ln>
                          <a:solidFill>
                            <a:schemeClr val="tx1"/>
                          </a:solidFill>
                          <a:effectLst/>
                          <a:uLnTx/>
                          <a:uFillTx/>
                          <a:latin typeface="+mn-lt"/>
                          <a:ea typeface="+mn-ea"/>
                          <a:cs typeface="+mn-cs"/>
                        </a:rPr>
                        <a:t>. (2019). Die unberechenbaren Planeten. </a:t>
                      </a:r>
                      <a:r>
                        <a:rPr kumimoji="0" lang="de-DE" sz="1100" b="0" i="0" u="none" strike="noStrike" kern="1200" cap="none" spc="0" normalizeH="0" baseline="0" noProof="0" dirty="0">
                          <a:ln>
                            <a:noFill/>
                          </a:ln>
                          <a:solidFill>
                            <a:schemeClr val="tx1"/>
                          </a:solidFill>
                          <a:effectLst/>
                          <a:uLnTx/>
                          <a:uFillTx/>
                          <a:latin typeface="+mn-lt"/>
                          <a:ea typeface="+mn-ea"/>
                          <a:cs typeface="+mn-cs"/>
                          <a:hlinkClick r:id="rId4"/>
                        </a:rPr>
                        <a:t>https://www.spektrum.de/kolumne/die-unberechenbaren-planeten/1682624</a:t>
                      </a:r>
                      <a:r>
                        <a:rPr lang="de-DE" sz="1100" b="0" dirty="0"/>
                        <a:t>. Letzter Aufruf: 12.05.2025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de-DE" sz="1100" b="0" dirty="0"/>
                        <a:t>Rainer Kayser. (2020). Planeten auf Abwegen. </a:t>
                      </a:r>
                      <a:r>
                        <a:rPr kumimoji="0" lang="de-DE" sz="1100" b="0" i="0" u="none" strike="noStrike" kern="1200" cap="none" spc="0" normalizeH="0" baseline="0" noProof="0" dirty="0">
                          <a:ln>
                            <a:noFill/>
                          </a:ln>
                          <a:solidFill>
                            <a:schemeClr val="tx1"/>
                          </a:solidFill>
                          <a:effectLst/>
                          <a:uLnTx/>
                          <a:uFillTx/>
                          <a:latin typeface="+mn-lt"/>
                          <a:ea typeface="+mn-ea"/>
                          <a:cs typeface="+mn-cs"/>
                          <a:hlinkClick r:id="rId5"/>
                        </a:rPr>
                        <a:t>https://www.weltderphysik.de/gebiet/universum/nachrichten/2020/planeten-auf-abwegen</a:t>
                      </a:r>
                      <a:r>
                        <a:rPr lang="de-DE" sz="1100" b="0" dirty="0"/>
                        <a:t>. Letzter Aufruf: 17.05.2025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de-DE" sz="1100" b="0" dirty="0">
                          <a:hlinkClick r:id="rId6"/>
                        </a:rPr>
                        <a:t>https://rebound.readthedocs.io/en/latest/integrators/#whfast</a:t>
                      </a:r>
                      <a:r>
                        <a:rPr lang="de-DE" sz="1100" b="0" dirty="0"/>
                        <a:t>. Letzter Aufruf: 17.05.2025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7"/>
                        </a:rPr>
                        <a:t>https://en.wikipedia.org/wiki/Two-body_problemhttps://en.wikipedia.org/wiki/Newton%27s_law_of_universal_gravitation</a:t>
                      </a:r>
                      <a:r>
                        <a:rPr lang="de-DE" sz="1100" b="0" dirty="0"/>
                        <a:t>. Letzter Aufruf: 17.05.2025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8"/>
                        </a:rPr>
                        <a:t>https://en.wikipedia.org/wiki/Lyapunov_time</a:t>
                      </a:r>
                      <a:r>
                        <a:rPr lang="de-DE" sz="1100" b="0" dirty="0"/>
                        <a:t>. Letzter Aufruf: 17.05.2025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9"/>
                        </a:rPr>
                        <a:t>https://en.wikipedia.org/wiki/Dormand%E2%80%93Prince_method</a:t>
                      </a:r>
                      <a:r>
                        <a:rPr lang="de-DE" sz="1100" b="0" dirty="0"/>
                        <a:t>. Letzter Aufruf: 12.05.2025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0"/>
                        </a:rPr>
                        <a:t>https://en.wikipedia.org/wiki/Kepler%27s_equation</a:t>
                      </a:r>
                      <a:r>
                        <a:rPr lang="de-DE" sz="1100" b="0" dirty="0"/>
                        <a:t>. Letzter Aufruf: 22.05.2025</a:t>
                      </a:r>
                      <a:endParaRPr kumimoji="0" lang="de-DE" sz="1100" b="0" i="0" u="none" strike="noStrike" kern="1200" cap="none" spc="0" normalizeH="0" baseline="0" noProof="0" dirty="0">
                        <a:ln>
                          <a:noFill/>
                        </a:ln>
                        <a:solidFill>
                          <a:schemeClr val="tx1"/>
                        </a:solidFill>
                        <a:effectLst/>
                        <a:uLnTx/>
                        <a:uFillTx/>
                        <a:latin typeface="+mn-lt"/>
                        <a:ea typeface="+mn-ea"/>
                        <a:cs typeface="+mn-cs"/>
                        <a:hlinkClick r:id="rId11"/>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1"/>
                        </a:rPr>
                        <a:t>https://en.wikipedia.org/wiki/Orbit_equation</a:t>
                      </a:r>
                      <a:r>
                        <a:rPr lang="de-DE" sz="1100" b="0" dirty="0"/>
                        <a:t>. Letzter Aufruf: 22.05.2025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2"/>
                        </a:rPr>
                        <a:t>https://en.wikipedia.org/wiki/Newton%27s_method</a:t>
                      </a:r>
                      <a:r>
                        <a:rPr lang="de-DE" sz="1100" b="0" dirty="0"/>
                        <a:t>. Letzter Aufruf: 23.05.2025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3"/>
                        </a:rPr>
                        <a:t>https://en.wikipedia.org/wiki/Numerical_integration</a:t>
                      </a:r>
                      <a:r>
                        <a:rPr lang="de-DE" sz="1100" b="0" dirty="0"/>
                        <a:t>. Letzter Aufruf: 23.05.2025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4"/>
                        </a:rPr>
                        <a:t>https://en.wikipedia.org/wiki/Periodic_function</a:t>
                      </a:r>
                      <a:r>
                        <a:rPr lang="de-DE" sz="1100" b="0" dirty="0"/>
                        <a:t>. Letzter Aufruf: 12.05.2025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5"/>
                        </a:rPr>
                        <a:t>https://en.wikipedia.org/wiki/Three-body_problem</a:t>
                      </a:r>
                      <a:r>
                        <a:rPr lang="de-DE" sz="1100" b="0" dirty="0"/>
                        <a:t>. Letzter Aufruf: 25.05.2025</a:t>
                      </a:r>
                      <a:endParaRPr kumimoji="0" lang="de-DE" sz="1100" b="0" i="0" u="none" strike="noStrike" kern="1200" cap="none" spc="0" normalizeH="0" baseline="0" noProof="0" dirty="0">
                        <a:ln>
                          <a:noFill/>
                        </a:ln>
                        <a:solidFill>
                          <a:schemeClr val="tx1"/>
                        </a:solidFill>
                        <a:effectLst/>
                        <a:uLnTx/>
                        <a:uFillTx/>
                        <a:latin typeface="+mn-lt"/>
                        <a:ea typeface="+mn-ea"/>
                        <a:cs typeface="+mn-cs"/>
                        <a:hlinkClick r:id="rId16">
                          <a:extLst>
                            <a:ext uri="{A12FA001-AC4F-418D-AE19-62706E023703}">
                              <ahyp:hlinkClr xmlns:ahyp="http://schemas.microsoft.com/office/drawing/2018/hyperlinkcolor" val="tx"/>
                            </a:ext>
                          </a:extLst>
                        </a:hlinkClick>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7"/>
                        </a:rPr>
                        <a:t>https://en.wikipedia.org/wiki/Liouville%E2%80%93Arnold_theorem</a:t>
                      </a:r>
                      <a:r>
                        <a:rPr lang="de-DE" sz="1100" b="0" dirty="0"/>
                        <a:t>. Letzter Aufruf: 15.05.2025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8"/>
                        </a:rPr>
                        <a:t>https://en.wikipedia.org/wiki/Orbital_resonance</a:t>
                      </a:r>
                      <a:r>
                        <a:rPr lang="de-DE" sz="1100" b="0" dirty="0"/>
                        <a:t>. Letzter Aufruf: 14.05.2025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19"/>
                        </a:rPr>
                        <a:t>https://en.wikipedia.org/wiki/Stability_of_the_Solar_System</a:t>
                      </a:r>
                      <a:r>
                        <a:rPr lang="de-DE" sz="1100" b="0" dirty="0"/>
                        <a:t>. Letzter Aufruf: 21.05.2025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de-DE" sz="1100" b="0" i="0" u="none" strike="noStrike" kern="1200" cap="none" spc="0" normalizeH="0" baseline="0" noProof="0" dirty="0">
                          <a:ln>
                            <a:noFill/>
                          </a:ln>
                          <a:solidFill>
                            <a:schemeClr val="tx1"/>
                          </a:solidFill>
                          <a:effectLst/>
                          <a:uLnTx/>
                          <a:uFillTx/>
                          <a:latin typeface="+mn-lt"/>
                          <a:ea typeface="+mn-ea"/>
                          <a:cs typeface="+mn-cs"/>
                          <a:hlinkClick r:id="rId20"/>
                        </a:rPr>
                        <a:t>https://en.wikipedia.org/wiki/Lagrange_point</a:t>
                      </a:r>
                      <a:r>
                        <a:rPr lang="de-DE" sz="1100" b="0" dirty="0"/>
                        <a:t>. Letzter Aufruf: 19.05.2025</a:t>
                      </a:r>
                      <a:endParaRPr kumimoji="0" lang="de-DE" sz="1100" b="0" i="0" u="none" strike="noStrike" kern="1200" cap="none" spc="0" normalizeH="0" baseline="0" noProof="0" dirty="0">
                        <a:ln>
                          <a:noFill/>
                        </a:ln>
                        <a:solidFill>
                          <a:schemeClr val="tx1"/>
                        </a:solidFill>
                        <a:effectLst/>
                        <a:uLnTx/>
                        <a:uFillTx/>
                        <a:latin typeface="+mn-lt"/>
                        <a:ea typeface="+mn-ea"/>
                        <a:cs typeface="+mn-cs"/>
                      </a:endParaRPr>
                    </a:p>
                    <a:p>
                      <a:endParaRPr lang="de-DE" b="0" dirty="0">
                        <a:solidFill>
                          <a:schemeClr val="tx1"/>
                        </a:solidFill>
                      </a:endParaRPr>
                    </a:p>
                  </a:txBody>
                  <a:tcPr>
                    <a:lnL>
                      <a:noFill/>
                    </a:lnL>
                  </a:tcPr>
                </a:tc>
                <a:extLst>
                  <a:ext uri="{0D108BD9-81ED-4DB2-BD59-A6C34878D82A}">
                    <a16:rowId xmlns:a16="http://schemas.microsoft.com/office/drawing/2014/main" val="395530581"/>
                  </a:ext>
                </a:extLst>
              </a:tr>
            </a:tbl>
          </a:graphicData>
        </a:graphic>
      </p:graphicFrame>
    </p:spTree>
    <p:extLst>
      <p:ext uri="{BB962C8B-B14F-4D97-AF65-F5344CB8AC3E}">
        <p14:creationId xmlns:p14="http://schemas.microsoft.com/office/powerpoint/2010/main" val="5113649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2EF6-6148-FF26-4193-EA33464FB1C1}"/>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DA75FC7B-EAE7-48C3-F0F9-D91FDED2F09A}"/>
              </a:ext>
            </a:extLst>
          </p:cNvPr>
          <p:cNvSpPr>
            <a:spLocks noGrp="1"/>
          </p:cNvSpPr>
          <p:nvPr>
            <p:ph idx="1"/>
          </p:nvPr>
        </p:nvSpPr>
        <p:spPr>
          <a:xfrm>
            <a:off x="343382" y="1724628"/>
            <a:ext cx="11505235" cy="4869590"/>
          </a:xfrm>
        </p:spPr>
        <p:txBody>
          <a:bodyPr>
            <a:normAutofit/>
          </a:bodyPr>
          <a:lstStyle/>
          <a:p>
            <a:r>
              <a:rPr lang="de-DE" sz="1200" dirty="0"/>
              <a:t>Abb. 0 stark bearbeitet aber basierend auf: </a:t>
            </a:r>
            <a:r>
              <a:rPr lang="en-US" sz="1200" dirty="0"/>
              <a:t>"Orbiting Solar System" (</a:t>
            </a:r>
            <a:r>
              <a:rPr lang="en-US" sz="1200" dirty="0">
                <a:hlinkClick r:id="rId2"/>
              </a:rPr>
              <a:t>https://skfb.ly/o6rP8</a:t>
            </a:r>
            <a:r>
              <a:rPr lang="en-US" sz="1200" dirty="0"/>
              <a:t>) by </a:t>
            </a:r>
            <a:r>
              <a:rPr lang="en-US" sz="1200" dirty="0" err="1"/>
              <a:t>AllThingsSpace</a:t>
            </a:r>
            <a:r>
              <a:rPr lang="de-DE" sz="1200" dirty="0"/>
              <a:t>. Letzter Aufruf: 25.05.2025</a:t>
            </a:r>
          </a:p>
          <a:p>
            <a:r>
              <a:rPr lang="de-DE" sz="1200" dirty="0"/>
              <a:t>Abb. 1: </a:t>
            </a:r>
            <a:r>
              <a:rPr lang="de-DE" sz="1200" dirty="0">
                <a:hlinkClick r:id="rId3"/>
              </a:rPr>
              <a:t>https://commons.wikimedia.org/wiki/File:Jupiter_%28transparent%29.png</a:t>
            </a:r>
            <a:r>
              <a:rPr lang="de-DE" sz="1200" dirty="0"/>
              <a:t>. Letzter Aufruf: 25.05.2025</a:t>
            </a:r>
          </a:p>
          <a:p>
            <a:r>
              <a:rPr lang="de-DE" sz="1200" dirty="0"/>
              <a:t>Abb. 2: </a:t>
            </a:r>
            <a:r>
              <a:rPr lang="de-DE" sz="1200" dirty="0">
                <a:hlinkClick r:id="rId4"/>
              </a:rPr>
              <a:t>https://static.vecteezy.com/system/resources/thumbnails/017/785/725/small_2x/full-moon-isolated-on-transparent-background-png.png</a:t>
            </a:r>
            <a:r>
              <a:rPr lang="de-DE" sz="1200" dirty="0"/>
              <a:t>. Letzter Aufruf: 25.05.2025</a:t>
            </a:r>
          </a:p>
          <a:p>
            <a:r>
              <a:rPr lang="de-DE" sz="1200" dirty="0"/>
              <a:t>Abb. 3: </a:t>
            </a:r>
            <a:r>
              <a:rPr lang="de-DE" sz="1200" dirty="0">
                <a:hlinkClick r:id="rId5"/>
              </a:rPr>
              <a:t>https://thesolarsystem.fandom.com/wiki/Ceres?file=CeresFrontReal.png</a:t>
            </a:r>
            <a:r>
              <a:rPr lang="de-DE" sz="1200" dirty="0"/>
              <a:t>. Letzter Aufruf: 25.05.2025</a:t>
            </a:r>
          </a:p>
          <a:p>
            <a:r>
              <a:rPr lang="de-DE" sz="1200" dirty="0"/>
              <a:t>Abb. 4: </a:t>
            </a:r>
            <a:r>
              <a:rPr lang="de-DE" sz="1200" dirty="0">
                <a:hlinkClick r:id="rId6"/>
              </a:rPr>
              <a:t>https://static.vecteezy.com/system/resources/previews/023/575/361/non_2x/the-image-features-a-highly-realistic-depiction-of-an-asteroid-floating-against-a-transparent-background-allowing-for-a-clear-view-of-its-rugged-cratered-surface-generative-ai-png.png</a:t>
            </a:r>
            <a:r>
              <a:rPr lang="de-DE" sz="1200" dirty="0"/>
              <a:t>. Letzter Aufruf: 25.05.2025</a:t>
            </a:r>
          </a:p>
          <a:p>
            <a:r>
              <a:rPr lang="de-DE" sz="1200" dirty="0"/>
              <a:t>Abb. 5 mit Auszügen aus: </a:t>
            </a:r>
            <a:r>
              <a:rPr lang="de-DE" sz="1200" dirty="0">
                <a:hlinkClick r:id="rId7"/>
              </a:rPr>
              <a:t>https://arxiv.org/pdf/1209.5996</a:t>
            </a:r>
            <a:r>
              <a:rPr lang="de-DE" sz="1200" dirty="0"/>
              <a:t>. Letzter Aufruf: 25.05.2025</a:t>
            </a:r>
          </a:p>
          <a:p>
            <a:r>
              <a:rPr lang="de-DE" sz="1200" dirty="0"/>
              <a:t>Abb. 7 mit Material aus: </a:t>
            </a:r>
            <a:r>
              <a:rPr lang="de-DE" sz="1200" dirty="0">
                <a:hlinkClick r:id="rId8"/>
              </a:rPr>
              <a:t>https://zenodo.org/records/4299102</a:t>
            </a:r>
            <a:r>
              <a:rPr lang="de-DE" sz="1200" dirty="0"/>
              <a:t>. Letzter Aufruf: 25.05.2025</a:t>
            </a:r>
          </a:p>
          <a:p>
            <a:r>
              <a:rPr lang="de-DE" sz="1200" dirty="0"/>
              <a:t>Abb. 6 mit Auszügen aus: </a:t>
            </a:r>
            <a:r>
              <a:rPr lang="de-DE" sz="1200" dirty="0">
                <a:hlinkClick r:id="rId9"/>
              </a:rPr>
              <a:t>https://arxiv.org/pdf/0802.3371</a:t>
            </a:r>
            <a:r>
              <a:rPr lang="de-DE" sz="1200" dirty="0"/>
              <a:t>. Letzter Aufruf: 25.05.2025</a:t>
            </a:r>
          </a:p>
          <a:p>
            <a:r>
              <a:rPr lang="de-DE" sz="1200" dirty="0"/>
              <a:t>Abb. 8: </a:t>
            </a:r>
            <a:r>
              <a:rPr lang="de-DE" sz="1200" dirty="0">
                <a:hlinkClick r:id="rId10"/>
              </a:rPr>
              <a:t>https://www.studysmarter.de/schule/physik/astronomie/sonne/</a:t>
            </a:r>
            <a:r>
              <a:rPr lang="de-DE" sz="1200" dirty="0"/>
              <a:t>. Letzter Aufruf: 25.05.2025</a:t>
            </a:r>
          </a:p>
          <a:p>
            <a:r>
              <a:rPr lang="de-DE" sz="1200" dirty="0"/>
              <a:t>Abb. 9: </a:t>
            </a:r>
            <a:r>
              <a:rPr lang="de-DE" sz="1200" dirty="0">
                <a:hlinkClick r:id="rId11"/>
              </a:rPr>
              <a:t>https://www.spektrum.de/news/asteroidenguertel-um-sonne-gesteinsbrocken-zwischen-jupiter-und-mars/982787</a:t>
            </a:r>
            <a:r>
              <a:rPr lang="de-DE" sz="1200" dirty="0"/>
              <a:t>. Letzter Aufruf: 25.05.2025</a:t>
            </a:r>
          </a:p>
        </p:txBody>
      </p:sp>
      <p:sp>
        <p:nvSpPr>
          <p:cNvPr id="4" name="Titel 3">
            <a:extLst>
              <a:ext uri="{FF2B5EF4-FFF2-40B4-BE49-F238E27FC236}">
                <a16:creationId xmlns:a16="http://schemas.microsoft.com/office/drawing/2014/main" id="{CC3875A8-C897-7B8F-9E62-E0C28D9301FB}"/>
              </a:ext>
            </a:extLst>
          </p:cNvPr>
          <p:cNvSpPr>
            <a:spLocks noGrp="1"/>
          </p:cNvSpPr>
          <p:nvPr>
            <p:ph type="title"/>
          </p:nvPr>
        </p:nvSpPr>
        <p:spPr>
          <a:xfrm>
            <a:off x="3350810" y="263782"/>
            <a:ext cx="5439068" cy="1252218"/>
          </a:xfrm>
        </p:spPr>
        <p:txBody>
          <a:bodyPr/>
          <a:lstStyle/>
          <a:p>
            <a:r>
              <a:rPr lang="de-DE" sz="2800" dirty="0"/>
              <a:t>Quellen</a:t>
            </a:r>
            <a:br>
              <a:rPr lang="de-DE" sz="2800" dirty="0"/>
            </a:br>
            <a:r>
              <a:rPr lang="de-DE" sz="1800" dirty="0"/>
              <a:t>Bildquellen und Material </a:t>
            </a:r>
            <a:r>
              <a:rPr lang="de-DE" sz="1800"/>
              <a:t>zur Erstellung</a:t>
            </a:r>
            <a:endParaRPr lang="de-DE" dirty="0"/>
          </a:p>
        </p:txBody>
      </p:sp>
      <p:sp>
        <p:nvSpPr>
          <p:cNvPr id="3" name="Textfeld 2">
            <a:extLst>
              <a:ext uri="{FF2B5EF4-FFF2-40B4-BE49-F238E27FC236}">
                <a16:creationId xmlns:a16="http://schemas.microsoft.com/office/drawing/2014/main" id="{68F37F29-663C-26C4-F4FB-8772985F0714}"/>
              </a:ext>
            </a:extLst>
          </p:cNvPr>
          <p:cNvSpPr txBox="1"/>
          <p:nvPr/>
        </p:nvSpPr>
        <p:spPr>
          <a:xfrm>
            <a:off x="-1360805" y="270931"/>
            <a:ext cx="1223412" cy="261610"/>
          </a:xfrm>
          <a:prstGeom prst="rect">
            <a:avLst/>
          </a:prstGeom>
          <a:noFill/>
        </p:spPr>
        <p:txBody>
          <a:bodyPr wrap="none" rtlCol="0">
            <a:spAutoFit/>
          </a:bodyPr>
          <a:lstStyle/>
          <a:p>
            <a:r>
              <a:rPr lang="de-DE" sz="1100" dirty="0">
                <a:solidFill>
                  <a:schemeClr val="bg1">
                    <a:lumMod val="50000"/>
                  </a:schemeClr>
                </a:solidFill>
              </a:rPr>
              <a:t>Abb. 0: Titelbild</a:t>
            </a:r>
          </a:p>
        </p:txBody>
      </p:sp>
    </p:spTree>
    <p:extLst>
      <p:ext uri="{BB962C8B-B14F-4D97-AF65-F5344CB8AC3E}">
        <p14:creationId xmlns:p14="http://schemas.microsoft.com/office/powerpoint/2010/main" val="8904698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0A3C4-85BA-492D-669D-C440C6030AD6}"/>
            </a:ext>
          </a:extLst>
        </p:cNvPr>
        <p:cNvGrpSpPr/>
        <p:nvPr/>
      </p:nvGrpSpPr>
      <p:grpSpPr>
        <a:xfrm>
          <a:off x="0" y="0"/>
          <a:ext cx="0" cy="0"/>
          <a:chOff x="0" y="0"/>
          <a:chExt cx="0" cy="0"/>
        </a:xfrm>
      </p:grpSpPr>
      <p:pic>
        <p:nvPicPr>
          <p:cNvPr id="9" name="Grafik 8" descr="Ein Bild, das Astronomisches Objekt, Himmel, Dunkelheit, Raum enthält.&#10;&#10;KI-generierte Inhalte können fehlerhaft sein.">
            <a:extLst>
              <a:ext uri="{FF2B5EF4-FFF2-40B4-BE49-F238E27FC236}">
                <a16:creationId xmlns:a16="http://schemas.microsoft.com/office/drawing/2014/main" id="{345142AF-2697-3E1B-45BC-BF665D535F97}"/>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3429000"/>
            <a:ext cx="12192000" cy="13716000"/>
          </a:xfrm>
          <a:prstGeom prst="rect">
            <a:avLst/>
          </a:prstGeom>
        </p:spPr>
      </p:pic>
      <p:sp>
        <p:nvSpPr>
          <p:cNvPr id="2" name="Textfeld 1">
            <a:extLst>
              <a:ext uri="{FF2B5EF4-FFF2-40B4-BE49-F238E27FC236}">
                <a16:creationId xmlns:a16="http://schemas.microsoft.com/office/drawing/2014/main" id="{7390BBE3-124D-0FC9-1A7D-517ECA687BB4}"/>
              </a:ext>
            </a:extLst>
          </p:cNvPr>
          <p:cNvSpPr txBox="1"/>
          <p:nvPr/>
        </p:nvSpPr>
        <p:spPr>
          <a:xfrm>
            <a:off x="235764" y="270931"/>
            <a:ext cx="1223412" cy="261610"/>
          </a:xfrm>
          <a:prstGeom prst="rect">
            <a:avLst/>
          </a:prstGeom>
          <a:noFill/>
        </p:spPr>
        <p:txBody>
          <a:bodyPr wrap="none" rtlCol="0">
            <a:spAutoFit/>
          </a:bodyPr>
          <a:lstStyle/>
          <a:p>
            <a:r>
              <a:rPr lang="de-DE" sz="1100" dirty="0">
                <a:solidFill>
                  <a:schemeClr val="bg1">
                    <a:lumMod val="50000"/>
                  </a:schemeClr>
                </a:solidFill>
              </a:rPr>
              <a:t>Abb. 0: Titelbild</a:t>
            </a:r>
          </a:p>
        </p:txBody>
      </p:sp>
      <p:sp>
        <p:nvSpPr>
          <p:cNvPr id="4" name="Inhaltsplatzhalter 1">
            <a:extLst>
              <a:ext uri="{FF2B5EF4-FFF2-40B4-BE49-F238E27FC236}">
                <a16:creationId xmlns:a16="http://schemas.microsoft.com/office/drawing/2014/main" id="{574FD687-13A2-C781-0401-18666C53342A}"/>
              </a:ext>
            </a:extLst>
          </p:cNvPr>
          <p:cNvSpPr>
            <a:spLocks noGrp="1"/>
          </p:cNvSpPr>
          <p:nvPr>
            <p:ph idx="1"/>
          </p:nvPr>
        </p:nvSpPr>
        <p:spPr>
          <a:xfrm>
            <a:off x="838200" y="6963685"/>
            <a:ext cx="10515600" cy="4647263"/>
          </a:xfrm>
        </p:spPr>
        <p:txBody>
          <a:bodyPr>
            <a:normAutofit lnSpcReduction="10000"/>
          </a:bodyPr>
          <a:lstStyle/>
          <a:p>
            <a:r>
              <a:rPr lang="de-DE" sz="1400" dirty="0"/>
              <a:t>Abb. 0 stark bearbeitet aber basiert auf: </a:t>
            </a:r>
            <a:r>
              <a:rPr lang="en-US" sz="1400" dirty="0"/>
              <a:t>"Orbiting Solar System" (</a:t>
            </a:r>
            <a:r>
              <a:rPr lang="en-US" sz="1400" dirty="0">
                <a:hlinkClick r:id="rId3"/>
              </a:rPr>
              <a:t>https://skfb.ly/o6rP8</a:t>
            </a:r>
            <a:r>
              <a:rPr lang="en-US" sz="1400" dirty="0"/>
              <a:t>) by </a:t>
            </a:r>
            <a:r>
              <a:rPr lang="en-US" sz="1400" dirty="0" err="1"/>
              <a:t>AllThingsSpace</a:t>
            </a:r>
            <a:endParaRPr lang="de-DE" sz="1400" dirty="0"/>
          </a:p>
          <a:p>
            <a:r>
              <a:rPr lang="de-DE" sz="1400" dirty="0"/>
              <a:t>Abb. 1: </a:t>
            </a:r>
            <a:r>
              <a:rPr lang="de-DE" sz="1400" dirty="0">
                <a:hlinkClick r:id="rId4"/>
              </a:rPr>
              <a:t>https://commons.wikimedia.org/wiki/File:Jupiter_%28transparent%29.png</a:t>
            </a:r>
            <a:endParaRPr lang="de-DE" sz="1400" dirty="0"/>
          </a:p>
          <a:p>
            <a:r>
              <a:rPr lang="de-DE" sz="1400" dirty="0"/>
              <a:t>Abb. 2: </a:t>
            </a:r>
            <a:r>
              <a:rPr lang="de-DE" sz="1400" dirty="0">
                <a:hlinkClick r:id="rId5"/>
              </a:rPr>
              <a:t>https://static.vecteezy.com/system/resources/thumbnails/017/785/725/small_2x/full-moon-isolated-on-transparent-background-png.png</a:t>
            </a:r>
            <a:endParaRPr lang="de-DE" sz="1400" dirty="0"/>
          </a:p>
          <a:p>
            <a:r>
              <a:rPr lang="de-DE" sz="1400" dirty="0"/>
              <a:t>Abb. 3: </a:t>
            </a:r>
            <a:r>
              <a:rPr lang="de-DE" sz="1400" dirty="0">
                <a:hlinkClick r:id="rId6"/>
              </a:rPr>
              <a:t>https://thesolarsystem.fandom.com/wiki/Ceres?file=CeresFrontReal.png</a:t>
            </a:r>
            <a:endParaRPr lang="de-DE" sz="1400" dirty="0"/>
          </a:p>
          <a:p>
            <a:r>
              <a:rPr lang="de-DE" sz="1400" dirty="0"/>
              <a:t>Abb. 4: </a:t>
            </a:r>
            <a:r>
              <a:rPr lang="de-DE" sz="1400" dirty="0">
                <a:hlinkClick r:id="rId7"/>
              </a:rPr>
              <a:t>https://static.vecteezy.com/system/resources/previews/023/575/361/non_2x/the-image-features-a-highly-realistic-depiction-of-an-asteroid-floating-against-a-transparent-background-allowing-for-a-clear-view-of-its-rugged-cratered-surface-generative-ai-png.png</a:t>
            </a:r>
            <a:endParaRPr lang="de-DE" sz="1400" dirty="0"/>
          </a:p>
          <a:p>
            <a:r>
              <a:rPr lang="de-DE" sz="1400" dirty="0"/>
              <a:t>Abb. 5 mit einem Auszug aus: </a:t>
            </a:r>
            <a:r>
              <a:rPr lang="de-DE" sz="1400" dirty="0">
                <a:hlinkClick r:id="rId8"/>
              </a:rPr>
              <a:t>https://arxiv.org/pdf/1209.5996</a:t>
            </a:r>
            <a:endParaRPr lang="de-DE" sz="1400" dirty="0"/>
          </a:p>
          <a:p>
            <a:r>
              <a:rPr lang="de-DE" sz="1400" dirty="0"/>
              <a:t>Abb. 6, 8 mit Material aus: </a:t>
            </a:r>
            <a:r>
              <a:rPr lang="de-DE" sz="1400" dirty="0">
                <a:hlinkClick r:id="rId9"/>
              </a:rPr>
              <a:t>https://zenodo.org/records/4299102</a:t>
            </a:r>
            <a:endParaRPr lang="de-DE" sz="1400" dirty="0"/>
          </a:p>
          <a:p>
            <a:r>
              <a:rPr lang="de-DE" sz="1400" dirty="0"/>
              <a:t>Abb. 7, 9 mit Auszügen aus: </a:t>
            </a:r>
            <a:r>
              <a:rPr lang="de-DE" sz="1400" dirty="0">
                <a:hlinkClick r:id="rId10"/>
              </a:rPr>
              <a:t>https://arxiv.org/pdf/0802.3371</a:t>
            </a:r>
            <a:endParaRPr lang="de-DE" sz="1400" dirty="0"/>
          </a:p>
          <a:p>
            <a:r>
              <a:rPr lang="de-DE" sz="1400" dirty="0"/>
              <a:t>Abb. 10 mit Material aus: </a:t>
            </a:r>
            <a:r>
              <a:rPr lang="de-DE" sz="1400" dirty="0">
                <a:hlinkClick r:id="rId11"/>
              </a:rPr>
              <a:t>https://de.wikipedia.org/wiki/Jupiter_%28Planet%29#/media/Datei:Jupiter_OPAL_2024_(cropped).png</a:t>
            </a:r>
            <a:r>
              <a:rPr lang="de-DE" sz="1400" dirty="0"/>
              <a:t>, </a:t>
            </a:r>
            <a:r>
              <a:rPr lang="de-DE" sz="1400" dirty="0">
                <a:hlinkClick r:id="rId12"/>
              </a:rPr>
              <a:t>https://www.nationalgeographic.de/photography/2024/12/hoellische-zwillinge-und-eisige-welten-farbenfrohe-aufnahmen-unserer-planeten</a:t>
            </a:r>
            <a:endParaRPr lang="de-DE" sz="1400" dirty="0"/>
          </a:p>
          <a:p>
            <a:r>
              <a:rPr lang="de-DE" sz="1400" dirty="0"/>
              <a:t>Abb. 11: </a:t>
            </a:r>
            <a:r>
              <a:rPr lang="de-DE" sz="1400" dirty="0">
                <a:hlinkClick r:id="rId13"/>
              </a:rPr>
              <a:t>https://www.studysmarter.de/schule/physik/astronomie/sonne/</a:t>
            </a:r>
            <a:endParaRPr lang="de-DE" sz="1400" dirty="0"/>
          </a:p>
          <a:p>
            <a:r>
              <a:rPr lang="de-DE" sz="1400" dirty="0"/>
              <a:t>Abb. 12: </a:t>
            </a:r>
            <a:r>
              <a:rPr lang="de-DE" sz="1400" dirty="0">
                <a:hlinkClick r:id="rId14"/>
              </a:rPr>
              <a:t>https://www.spektrum.de/news/asteroidenguertel-um-sonne-gesteinsbrocken-zwischen-jupiter-und-mars/982787</a:t>
            </a:r>
            <a:endParaRPr lang="de-DE" sz="1400" dirty="0"/>
          </a:p>
        </p:txBody>
      </p:sp>
      <p:sp>
        <p:nvSpPr>
          <p:cNvPr id="5" name="Titel 3">
            <a:extLst>
              <a:ext uri="{FF2B5EF4-FFF2-40B4-BE49-F238E27FC236}">
                <a16:creationId xmlns:a16="http://schemas.microsoft.com/office/drawing/2014/main" id="{6B2ECFF8-F984-94AC-45D0-2170D7E1CA4A}"/>
              </a:ext>
            </a:extLst>
          </p:cNvPr>
          <p:cNvSpPr>
            <a:spLocks noGrp="1"/>
          </p:cNvSpPr>
          <p:nvPr>
            <p:ph type="title"/>
          </p:nvPr>
        </p:nvSpPr>
        <p:spPr>
          <a:xfrm>
            <a:off x="3350810" y="-1405359"/>
            <a:ext cx="5439068" cy="1252218"/>
          </a:xfrm>
        </p:spPr>
        <p:txBody>
          <a:bodyPr/>
          <a:lstStyle/>
          <a:p>
            <a:r>
              <a:rPr lang="de-DE" sz="2800" dirty="0"/>
              <a:t>Quellen</a:t>
            </a:r>
            <a:br>
              <a:rPr lang="de-DE" sz="2800" dirty="0"/>
            </a:br>
            <a:r>
              <a:rPr lang="de-DE" sz="1800" dirty="0"/>
              <a:t>Bildquellen und Material </a:t>
            </a:r>
            <a:r>
              <a:rPr lang="de-DE" sz="1800"/>
              <a:t>zur Erstellung</a:t>
            </a:r>
            <a:endParaRPr lang="de-DE" dirty="0"/>
          </a:p>
        </p:txBody>
      </p:sp>
    </p:spTree>
    <p:extLst>
      <p:ext uri="{BB962C8B-B14F-4D97-AF65-F5344CB8AC3E}">
        <p14:creationId xmlns:p14="http://schemas.microsoft.com/office/powerpoint/2010/main" val="3112353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5000">
        <p159:morph option="byObject"/>
      </p:transition>
    </mc:Choice>
    <mc:Fallback xmlns="">
      <p:transition spd="slow">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eist">
      <a:majorFont>
        <a:latin typeface="Geist"/>
        <a:ea typeface=""/>
        <a:cs typeface=""/>
      </a:majorFont>
      <a:minorFont>
        <a:latin typeface="Gei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3289</Words>
  <Application>Microsoft Office PowerPoint</Application>
  <PresentationFormat>Breitbild</PresentationFormat>
  <Paragraphs>362</Paragraphs>
  <Slides>26</Slides>
  <Notes>12</Notes>
  <HiddenSlides>0</HiddenSlides>
  <MMClips>1</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26</vt:i4>
      </vt:variant>
    </vt:vector>
  </HeadingPairs>
  <TitlesOfParts>
    <vt:vector size="32" baseType="lpstr">
      <vt:lpstr>Aptos</vt:lpstr>
      <vt:lpstr>Cambria Math</vt:lpstr>
      <vt:lpstr>Geist</vt:lpstr>
      <vt:lpstr>Wingdings</vt:lpstr>
      <vt:lpstr>Arial</vt:lpstr>
      <vt:lpstr>Office</vt:lpstr>
      <vt:lpstr>Die Zukunft unseres Sonnensystems</vt:lpstr>
      <vt:lpstr>Gliederung</vt:lpstr>
      <vt:lpstr>Grundlagen Unser Sonnensystem</vt:lpstr>
      <vt:lpstr>Grundlagen n-Körper-Problem</vt:lpstr>
      <vt:lpstr>Chaos</vt:lpstr>
      <vt:lpstr>Chaos</vt:lpstr>
      <vt:lpstr>Chaos In unserem Sonnensystem</vt:lpstr>
      <vt:lpstr>Simulation</vt:lpstr>
      <vt:lpstr>Simulation</vt:lpstr>
      <vt:lpstr>PowerPoint-Präsentation</vt:lpstr>
      <vt:lpstr>Simulation</vt:lpstr>
      <vt:lpstr>Simulation</vt:lpstr>
      <vt:lpstr>PowerPoint-Präsentation</vt:lpstr>
      <vt:lpstr>Vorhersagen</vt:lpstr>
      <vt:lpstr>Vorhersagen Langzeitstudien</vt:lpstr>
      <vt:lpstr>Vorhersagen Innere &amp; Äußere Planeten</vt:lpstr>
      <vt:lpstr>Vorhersagen Merkur</vt:lpstr>
      <vt:lpstr>Vorhersagen Merkur</vt:lpstr>
      <vt:lpstr>Weitere Zukunftsaussichten Tod der Sonne – Sonne als Roter Riese</vt:lpstr>
      <vt:lpstr>Weitere Zukunftsaussichten Asteroiden und Kometen</vt:lpstr>
      <vt:lpstr>Fazit</vt:lpstr>
      <vt:lpstr>Fazit Wo liegen die Grenzen der Vorhersagbarkeit?</vt:lpstr>
      <vt:lpstr>Quellen Hauptquellen</vt:lpstr>
      <vt:lpstr>Quellen Begriffsklärung und Einführung</vt:lpstr>
      <vt:lpstr>Quellen Bildquellen und Material zur Erstellung</vt:lpstr>
      <vt:lpstr>Quellen Bildquellen und Material zur Erstellung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Leander Riefel</dc:creator>
  <cp:lastModifiedBy>Leander Riefel</cp:lastModifiedBy>
  <cp:revision>6</cp:revision>
  <dcterms:created xsi:type="dcterms:W3CDTF">2025-01-19T09:00:36Z</dcterms:created>
  <dcterms:modified xsi:type="dcterms:W3CDTF">2025-05-26T20:14:52Z</dcterms:modified>
</cp:coreProperties>
</file>